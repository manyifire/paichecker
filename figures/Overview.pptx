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4" r:id="rId3"/>
    <p:sldId id="258" r:id="rId4"/>
    <p:sldId id="259" r:id="rId5"/>
    <p:sldId id="266" r:id="rId6"/>
    <p:sldId id="260" r:id="rId7"/>
    <p:sldId id="263" r:id="rId8"/>
    <p:sldId id="261" r:id="rId9"/>
    <p:sldId id="262" r:id="rId10"/>
    <p:sldId id="265" r:id="rId1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600"/>
    <a:srgbClr val="B8EEB1"/>
    <a:srgbClr val="FC8365"/>
    <a:srgbClr val="FF593B"/>
    <a:srgbClr val="F37266"/>
    <a:srgbClr val="C3AFD1"/>
    <a:srgbClr val="8F5EBB"/>
    <a:srgbClr val="B590E3"/>
    <a:srgbClr val="BC9BCD"/>
    <a:srgbClr val="B592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6"/>
    <p:restoredTop sz="94686"/>
  </p:normalViewPr>
  <p:slideViewPr>
    <p:cSldViewPr snapToGrid="0">
      <p:cViewPr varScale="1">
        <p:scale>
          <a:sx n="90" d="100"/>
          <a:sy n="90" d="100"/>
        </p:scale>
        <p:origin x="22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DF26-38B3-AEDD-8290-40E958970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7AF85-DCD2-07E2-0EAA-0F9B8C129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A2061-4CE5-59CF-1DE9-5AECECB6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3D40F-886A-7EBC-188F-0AD56EA6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41F3A-41CD-DE67-611C-DCD0C172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30807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7199-9E8D-D9BB-114F-3B4F56115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47040-C3CC-893D-F6CA-C0A024A79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9F8C-8CA9-6832-5439-F9332348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083AC-F323-E71F-71AA-A5768182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DFB0-B230-EB30-0449-F60617BD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63456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02E29-5B9A-9EF6-DA64-495A87802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ECD90-382C-9CE0-892A-A75BFACE5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5A337-8345-2F74-C95F-0B9A0CC9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DC7D4-B964-EDE0-B7B3-E795A6D57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E9A7D-3A97-382F-976D-CE631565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515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0CE4-875E-F5A7-68FA-3B565026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7A5D5-1CE8-4248-9D71-CEC9DF8D4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B576C-59DD-D494-932B-30CB24B30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DA239-DAA3-F404-AD44-58A9CA3A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7BEDB-5A4D-77E9-FF36-AC4CD8216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0853A-0313-E1D5-6197-C099DD18B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126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C7ED-6FE8-9C35-9A0D-2A04429F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2B46D-3730-16E1-1A72-C02EFA729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551E6-3EB0-2021-9C7D-EB6B00B06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B10D60-E010-5055-480D-7E5218AB4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D28A1-37C2-116A-53CC-125F49960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9D16B8-1936-FA90-FC9B-FB4AD039D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6AA32-F08E-6D20-6839-76B43A73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A48B9-4978-338C-69B7-921B4B70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2930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BC0B-4E6D-0176-9189-72CFD886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594B0-7093-67D7-3A05-022FBF88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1D5DB-7013-35CD-A39E-A67E61D9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87B6E-DB0E-E901-D084-C69BA352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5111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C80A7-37D5-E75E-BBC8-71CF5FE41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40081-69BD-C438-7E68-9A362EE5E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23FC5-F660-DAB0-32CA-BEB3E9F3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46382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9F73-A403-BD6A-3A9B-ED06B7DD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AB88-8B9C-7980-4009-084802AD1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69616-2DBD-034A-A528-0DC33AA87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08999-3EB5-69DE-EC18-F6119AD7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A2A01-6452-45EF-653A-ECC8238B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B3BE6-849A-0BF5-623C-7093E891A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790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C65F-D077-6AC6-3F23-DA4F19A6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AEE6D1-2C44-7665-C669-9EE6D0482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F5995-CCCA-4661-ED8B-CABE548A7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F95A4-C012-D1F5-E366-139EB0ED5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AE871-CC24-66F5-E912-6C9C2149D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15F8B-FD1D-95D4-8E25-78FEC1907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512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FA15-91B3-647C-DB59-FCDD01280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40714-18C9-8B50-37A5-7AC99AB57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BDE3A-E012-CA4D-ABAF-976DD58B8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BE061-5761-9A87-3B00-F35211A7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467C1-3A00-2DB0-587B-0E389DA9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533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717145-F7EB-C6D0-9ABA-693044971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BFA90F-771A-82B3-6FFE-A84272D99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8BF62-005D-E7C9-C55A-99670308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09610-B19F-D546-932D-63B5ED135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E6132-7E83-14B5-4334-2F456F55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39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6908A7-1127-1AC5-A8AA-3BF471CD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9949-0446-103D-425D-F6687E588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3E467-6A2F-4E1F-B4CF-C37DB56BF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AB19D-6221-9844-A9D7-64C016A65FB4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30E64-2F52-DE2B-27A1-E48A293390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42C7F-EF39-B771-4996-2C224E5DD0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DDF47-F0BB-074C-A905-01BDE775374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66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svg"/><Relationship Id="rId3" Type="http://schemas.openxmlformats.org/officeDocument/2006/relationships/image" Target="../media/image12.svg"/><Relationship Id="rId7" Type="http://schemas.openxmlformats.org/officeDocument/2006/relationships/image" Target="../media/image20.svg"/><Relationship Id="rId12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16.svg"/><Relationship Id="rId5" Type="http://schemas.openxmlformats.org/officeDocument/2006/relationships/image" Target="../media/image14.svg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svg"/><Relationship Id="rId7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44EB76-692D-8D1A-7D52-E8323CAD2490}"/>
              </a:ext>
            </a:extLst>
          </p:cNvPr>
          <p:cNvSpPr/>
          <p:nvPr/>
        </p:nvSpPr>
        <p:spPr>
          <a:xfrm>
            <a:off x="2361401" y="656623"/>
            <a:ext cx="3997711" cy="57207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C6F441-FDD9-33F4-EFC1-CD2AE09DE58C}"/>
              </a:ext>
            </a:extLst>
          </p:cNvPr>
          <p:cNvSpPr/>
          <p:nvPr/>
        </p:nvSpPr>
        <p:spPr>
          <a:xfrm>
            <a:off x="6532460" y="652041"/>
            <a:ext cx="3997711" cy="22065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FA74FF-4F54-DFC2-2F85-5E2CE6AFA95A}"/>
              </a:ext>
            </a:extLst>
          </p:cNvPr>
          <p:cNvSpPr/>
          <p:nvPr/>
        </p:nvSpPr>
        <p:spPr>
          <a:xfrm>
            <a:off x="6558898" y="3114163"/>
            <a:ext cx="3971273" cy="3252673"/>
          </a:xfrm>
          <a:prstGeom prst="roundRect">
            <a:avLst/>
          </a:prstGeom>
          <a:solidFill>
            <a:srgbClr val="C3A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26D539-FC48-C4BE-B460-A35DA6432033}"/>
              </a:ext>
            </a:extLst>
          </p:cNvPr>
          <p:cNvSpPr/>
          <p:nvPr/>
        </p:nvSpPr>
        <p:spPr>
          <a:xfrm>
            <a:off x="1968680" y="212415"/>
            <a:ext cx="8854907" cy="6422584"/>
          </a:xfrm>
          <a:prstGeom prst="round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7CF397-B05C-F6D4-42E9-48D22C89D67A}"/>
              </a:ext>
            </a:extLst>
          </p:cNvPr>
          <p:cNvSpPr/>
          <p:nvPr/>
        </p:nvSpPr>
        <p:spPr>
          <a:xfrm>
            <a:off x="2645151" y="329581"/>
            <a:ext cx="2948386" cy="521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Phase I: Specific Misalignment Identification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8FE2A2-843D-9AEB-7D97-09882F575C99}"/>
              </a:ext>
            </a:extLst>
          </p:cNvPr>
          <p:cNvSpPr/>
          <p:nvPr/>
        </p:nvSpPr>
        <p:spPr>
          <a:xfrm>
            <a:off x="6712698" y="329525"/>
            <a:ext cx="2089879" cy="5210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Phase II: Labels Synthesis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97CAF-FD77-4973-1E49-9AA33ABD12AD}"/>
              </a:ext>
            </a:extLst>
          </p:cNvPr>
          <p:cNvSpPr/>
          <p:nvPr/>
        </p:nvSpPr>
        <p:spPr>
          <a:xfrm>
            <a:off x="6667622" y="2901183"/>
            <a:ext cx="2577543" cy="363407"/>
          </a:xfrm>
          <a:prstGeom prst="rect">
            <a:avLst/>
          </a:prstGeom>
          <a:solidFill>
            <a:srgbClr val="8F5E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Phase III: Code Validation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CEDD531-1797-073A-0D22-5EE61B748F3B}"/>
              </a:ext>
            </a:extLst>
          </p:cNvPr>
          <p:cNvGrpSpPr/>
          <p:nvPr/>
        </p:nvGrpSpPr>
        <p:grpSpPr>
          <a:xfrm>
            <a:off x="109265" y="4291036"/>
            <a:ext cx="1773528" cy="1323979"/>
            <a:chOff x="106970" y="4684014"/>
            <a:chExt cx="1773528" cy="1323979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E5033DD1-BDA7-1420-0300-9ED90C95E6E5}"/>
                </a:ext>
              </a:extLst>
            </p:cNvPr>
            <p:cNvSpPr/>
            <p:nvPr/>
          </p:nvSpPr>
          <p:spPr>
            <a:xfrm>
              <a:off x="106970" y="4684014"/>
              <a:ext cx="1470451" cy="1323979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61C08D7B-53B6-FDEC-2AD6-412C572D7DFE}"/>
                </a:ext>
              </a:extLst>
            </p:cNvPr>
            <p:cNvSpPr/>
            <p:nvPr/>
          </p:nvSpPr>
          <p:spPr>
            <a:xfrm>
              <a:off x="240402" y="4746915"/>
              <a:ext cx="1026680" cy="5184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Cross-referenced PRs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A740DD8-9ECC-0C86-077B-9911777206C0}"/>
                </a:ext>
              </a:extLst>
            </p:cNvPr>
            <p:cNvSpPr/>
            <p:nvPr/>
          </p:nvSpPr>
          <p:spPr>
            <a:xfrm rot="5400000">
              <a:off x="1038382" y="5082812"/>
              <a:ext cx="1150586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Cross-referenced Information</a:t>
              </a: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77243B52-8A67-F78A-7E4C-27051E4E0B36}"/>
                </a:ext>
              </a:extLst>
            </p:cNvPr>
            <p:cNvSpPr/>
            <p:nvPr/>
          </p:nvSpPr>
          <p:spPr>
            <a:xfrm>
              <a:off x="249154" y="5328300"/>
              <a:ext cx="1022736" cy="59662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Cross-referenced Issues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BFC29B7-2512-6B1A-FB30-F66997C507E8}"/>
              </a:ext>
            </a:extLst>
          </p:cNvPr>
          <p:cNvGrpSpPr/>
          <p:nvPr/>
        </p:nvGrpSpPr>
        <p:grpSpPr>
          <a:xfrm>
            <a:off x="49681" y="2608958"/>
            <a:ext cx="1800504" cy="1589574"/>
            <a:chOff x="53903" y="2901901"/>
            <a:chExt cx="1800504" cy="1589574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79521BA8-99A6-3E74-2361-515D0C28E8E9}"/>
                </a:ext>
              </a:extLst>
            </p:cNvPr>
            <p:cNvSpPr/>
            <p:nvPr/>
          </p:nvSpPr>
          <p:spPr>
            <a:xfrm>
              <a:off x="53903" y="2901901"/>
              <a:ext cx="1507226" cy="158957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D52D6328-D7EE-28BC-0872-90CA4F1BF2BD}"/>
                </a:ext>
              </a:extLst>
            </p:cNvPr>
            <p:cNvSpPr/>
            <p:nvPr/>
          </p:nvSpPr>
          <p:spPr>
            <a:xfrm>
              <a:off x="173868" y="3008353"/>
              <a:ext cx="1106439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 Description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8D6037B-8A02-B06D-5BE0-2D93BC5FB699}"/>
                </a:ext>
              </a:extLst>
            </p:cNvPr>
            <p:cNvSpPr/>
            <p:nvPr/>
          </p:nvSpPr>
          <p:spPr>
            <a:xfrm rot="5400000">
              <a:off x="885196" y="3443919"/>
              <a:ext cx="1404775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PR-Side Information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6AEB7BF-F24A-8240-43CA-2C6C530824E8}"/>
                </a:ext>
              </a:extLst>
            </p:cNvPr>
            <p:cNvSpPr/>
            <p:nvPr/>
          </p:nvSpPr>
          <p:spPr>
            <a:xfrm>
              <a:off x="175329" y="3494830"/>
              <a:ext cx="1104977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 Discussion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FA574532-C2BA-F48A-1801-4F3FDD415FC7}"/>
                </a:ext>
              </a:extLst>
            </p:cNvPr>
            <p:cNvSpPr/>
            <p:nvPr/>
          </p:nvSpPr>
          <p:spPr>
            <a:xfrm>
              <a:off x="196086" y="3981307"/>
              <a:ext cx="1084219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Code Patch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F1F6468-F4ED-24B6-5A9B-3055DFC14B75}"/>
              </a:ext>
            </a:extLst>
          </p:cNvPr>
          <p:cNvGrpSpPr/>
          <p:nvPr/>
        </p:nvGrpSpPr>
        <p:grpSpPr>
          <a:xfrm>
            <a:off x="58844" y="1165504"/>
            <a:ext cx="1761733" cy="1161930"/>
            <a:chOff x="93162" y="1415597"/>
            <a:chExt cx="1761733" cy="1161930"/>
          </a:xfrm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799A1518-FB6C-B477-4026-39D20B944B40}"/>
                </a:ext>
              </a:extLst>
            </p:cNvPr>
            <p:cNvSpPr/>
            <p:nvPr/>
          </p:nvSpPr>
          <p:spPr>
            <a:xfrm>
              <a:off x="93162" y="1415597"/>
              <a:ext cx="1521080" cy="116193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D26BC553-9C90-817C-E55D-8AD8B9BFD7FB}"/>
                </a:ext>
              </a:extLst>
            </p:cNvPr>
            <p:cNvSpPr/>
            <p:nvPr/>
          </p:nvSpPr>
          <p:spPr>
            <a:xfrm>
              <a:off x="191381" y="1529779"/>
              <a:ext cx="1088923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Problem Statement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20E44AF-D918-2F80-6FC3-C7882049F596}"/>
                </a:ext>
              </a:extLst>
            </p:cNvPr>
            <p:cNvSpPr/>
            <p:nvPr/>
          </p:nvSpPr>
          <p:spPr>
            <a:xfrm rot="5400000">
              <a:off x="1104410" y="1746619"/>
              <a:ext cx="967324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Issue-Side Information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3E32BD97-DBDA-6D41-BF92-E26997205751}"/>
                </a:ext>
              </a:extLst>
            </p:cNvPr>
            <p:cNvSpPr/>
            <p:nvPr/>
          </p:nvSpPr>
          <p:spPr>
            <a:xfrm>
              <a:off x="191381" y="2065282"/>
              <a:ext cx="1088923" cy="4318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Issue Discussion</a:t>
              </a:r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EF95BF4B-59FA-4C0F-1FC8-2109754E62E8}"/>
              </a:ext>
            </a:extLst>
          </p:cNvPr>
          <p:cNvSpPr/>
          <p:nvPr/>
        </p:nvSpPr>
        <p:spPr>
          <a:xfrm>
            <a:off x="537714" y="656623"/>
            <a:ext cx="910233" cy="310163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u="sng" dirty="0"/>
              <a:t>Start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60A2A28-FAD7-4931-90A6-E3C60F006AC4}"/>
              </a:ext>
            </a:extLst>
          </p:cNvPr>
          <p:cNvSpPr/>
          <p:nvPr/>
        </p:nvSpPr>
        <p:spPr>
          <a:xfrm>
            <a:off x="2515964" y="923232"/>
            <a:ext cx="3689076" cy="52644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427ADD7-45A0-4DCA-BC46-74DB4DDB85C5}"/>
              </a:ext>
            </a:extLst>
          </p:cNvPr>
          <p:cNvSpPr/>
          <p:nvPr/>
        </p:nvSpPr>
        <p:spPr>
          <a:xfrm>
            <a:off x="11107386" y="4005052"/>
            <a:ext cx="791348" cy="23072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u="sng" dirty="0"/>
              <a:t>End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C314D97-A505-5289-3379-7BAF01A51A99}"/>
              </a:ext>
            </a:extLst>
          </p:cNvPr>
          <p:cNvGrpSpPr/>
          <p:nvPr/>
        </p:nvGrpSpPr>
        <p:grpSpPr>
          <a:xfrm>
            <a:off x="4652963" y="1218056"/>
            <a:ext cx="1464486" cy="1147283"/>
            <a:chOff x="4270578" y="1494317"/>
            <a:chExt cx="1464486" cy="1147283"/>
          </a:xfrm>
        </p:grpSpPr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A6331BA0-30CC-17D9-86A1-A2A25A466685}"/>
                </a:ext>
              </a:extLst>
            </p:cNvPr>
            <p:cNvSpPr/>
            <p:nvPr/>
          </p:nvSpPr>
          <p:spPr>
            <a:xfrm>
              <a:off x="4270578" y="1494317"/>
              <a:ext cx="1464486" cy="114728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F3FC42EF-04B9-2C2A-6857-EC2C47B4759C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87D05F5B-5DED-B773-697C-CE781C72241E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C0714F4E-1009-ABD1-C319-6175E6535C87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03649D1-77A7-98C2-56D6-EB24507B138A}"/>
              </a:ext>
            </a:extLst>
          </p:cNvPr>
          <p:cNvGrpSpPr/>
          <p:nvPr/>
        </p:nvGrpSpPr>
        <p:grpSpPr>
          <a:xfrm>
            <a:off x="4652963" y="2862849"/>
            <a:ext cx="1464486" cy="1132301"/>
            <a:chOff x="4270578" y="1509299"/>
            <a:chExt cx="1464486" cy="1132301"/>
          </a:xfrm>
        </p:grpSpPr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73904AB8-2CCB-8743-EBB4-EE856EAC19FD}"/>
                </a:ext>
              </a:extLst>
            </p:cNvPr>
            <p:cNvSpPr/>
            <p:nvPr/>
          </p:nvSpPr>
          <p:spPr>
            <a:xfrm>
              <a:off x="4270578" y="1509299"/>
              <a:ext cx="1464486" cy="113230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BE0B3A30-3BC0-06CA-0B2B-6178726636F7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B2A25845-5CFA-6EC2-D5CD-8845FF994DF5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DDFFDD93-AB7E-5414-88AC-E8F3DD454DA4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2CC7A54-99A0-D3CA-3757-4CAE0FFEC4CA}"/>
              </a:ext>
            </a:extLst>
          </p:cNvPr>
          <p:cNvGrpSpPr/>
          <p:nvPr/>
        </p:nvGrpSpPr>
        <p:grpSpPr>
          <a:xfrm>
            <a:off x="4691591" y="4213431"/>
            <a:ext cx="1358575" cy="1147531"/>
            <a:chOff x="4270578" y="1494069"/>
            <a:chExt cx="1464486" cy="1147531"/>
          </a:xfrm>
        </p:grpSpPr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1072EDF9-AE22-911F-085B-CF0F5524079A}"/>
                </a:ext>
              </a:extLst>
            </p:cNvPr>
            <p:cNvSpPr/>
            <p:nvPr/>
          </p:nvSpPr>
          <p:spPr>
            <a:xfrm>
              <a:off x="4270578" y="1494069"/>
              <a:ext cx="1464486" cy="114753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DB08D497-4FDD-0614-B968-9BD7171B20B9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4C096BD0-628A-2951-04DD-DD5ED527B061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243A32D5-AEC0-A62E-E440-A8F58038F229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041B91D-1AD2-030C-A381-45FFC7224CC2}"/>
              </a:ext>
            </a:extLst>
          </p:cNvPr>
          <p:cNvSpPr/>
          <p:nvPr/>
        </p:nvSpPr>
        <p:spPr>
          <a:xfrm>
            <a:off x="6703783" y="918585"/>
            <a:ext cx="3634327" cy="17573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9A7E908-F0BE-7253-8238-C57261F78777}"/>
              </a:ext>
            </a:extLst>
          </p:cNvPr>
          <p:cNvGrpSpPr/>
          <p:nvPr/>
        </p:nvGrpSpPr>
        <p:grpSpPr>
          <a:xfrm>
            <a:off x="8781698" y="1152568"/>
            <a:ext cx="1464486" cy="1117878"/>
            <a:chOff x="4270578" y="1523722"/>
            <a:chExt cx="1464486" cy="1117878"/>
          </a:xfrm>
        </p:grpSpPr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8F74D0DD-65C2-66FF-A95B-65E363DCE63E}"/>
                </a:ext>
              </a:extLst>
            </p:cNvPr>
            <p:cNvSpPr/>
            <p:nvPr/>
          </p:nvSpPr>
          <p:spPr>
            <a:xfrm>
              <a:off x="4270578" y="1523722"/>
              <a:ext cx="1464486" cy="111787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EECF0ADB-E99F-710D-5A9B-8B0D61DEDAED}"/>
                </a:ext>
              </a:extLst>
            </p:cNvPr>
            <p:cNvSpPr/>
            <p:nvPr/>
          </p:nvSpPr>
          <p:spPr>
            <a:xfrm>
              <a:off x="4399084" y="1672853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Reason</a:t>
              </a: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6041B8B0-24A1-E4E5-40F0-854B7D848747}"/>
                </a:ext>
              </a:extLst>
            </p:cNvPr>
            <p:cNvSpPr/>
            <p:nvPr/>
          </p:nvSpPr>
          <p:spPr>
            <a:xfrm>
              <a:off x="4396494" y="2017079"/>
              <a:ext cx="1231561" cy="5129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Preliminary Label</a:t>
              </a:r>
            </a:p>
          </p:txBody>
        </p:sp>
      </p:grp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D1B2951-F5E4-1E65-2475-EEB3A0B78338}"/>
              </a:ext>
            </a:extLst>
          </p:cNvPr>
          <p:cNvSpPr/>
          <p:nvPr/>
        </p:nvSpPr>
        <p:spPr>
          <a:xfrm>
            <a:off x="6656153" y="3358126"/>
            <a:ext cx="3694202" cy="27553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56D45BC-453D-C979-1681-7D0D54D32C49}"/>
              </a:ext>
            </a:extLst>
          </p:cNvPr>
          <p:cNvCxnSpPr>
            <a:cxnSpLocks/>
            <a:stCxn id="51" idx="0"/>
            <a:endCxn id="58" idx="1"/>
          </p:cNvCxnSpPr>
          <p:nvPr/>
        </p:nvCxnSpPr>
        <p:spPr>
          <a:xfrm flipV="1">
            <a:off x="1820578" y="1746469"/>
            <a:ext cx="945899" cy="168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EEEAC33-DB5B-A197-A211-4A3631520FFF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1850185" y="3400971"/>
            <a:ext cx="921848" cy="168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594EDD7-DB65-2EF0-A989-3435618B265C}"/>
              </a:ext>
            </a:extLst>
          </p:cNvPr>
          <p:cNvCxnSpPr>
            <a:cxnSpLocks/>
          </p:cNvCxnSpPr>
          <p:nvPr/>
        </p:nvCxnSpPr>
        <p:spPr>
          <a:xfrm flipV="1">
            <a:off x="1895689" y="4838881"/>
            <a:ext cx="861607" cy="14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86EC448B-FC98-203D-5D81-373F46815439}"/>
              </a:ext>
            </a:extLst>
          </p:cNvPr>
          <p:cNvSpPr/>
          <p:nvPr/>
        </p:nvSpPr>
        <p:spPr>
          <a:xfrm>
            <a:off x="2219453" y="3104003"/>
            <a:ext cx="230000" cy="2440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0C7C0A7-40DD-B30C-9F98-00EEBBA96342}"/>
              </a:ext>
            </a:extLst>
          </p:cNvPr>
          <p:cNvCxnSpPr>
            <a:cxnSpLocks/>
          </p:cNvCxnSpPr>
          <p:nvPr/>
        </p:nvCxnSpPr>
        <p:spPr>
          <a:xfrm>
            <a:off x="4181644" y="4836578"/>
            <a:ext cx="508160" cy="94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9B78FF1-F66E-29C1-3DE1-5FACAE8FB21B}"/>
              </a:ext>
            </a:extLst>
          </p:cNvPr>
          <p:cNvCxnSpPr>
            <a:cxnSpLocks/>
          </p:cNvCxnSpPr>
          <p:nvPr/>
        </p:nvCxnSpPr>
        <p:spPr>
          <a:xfrm flipV="1">
            <a:off x="4039316" y="3414160"/>
            <a:ext cx="308048" cy="1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24229570-2F69-FAD0-49B8-334439161839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4357070" y="1746105"/>
            <a:ext cx="281746" cy="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F463FD3-9F46-8D97-09B1-5F0ED6812F86}"/>
              </a:ext>
            </a:extLst>
          </p:cNvPr>
          <p:cNvCxnSpPr>
            <a:cxnSpLocks/>
          </p:cNvCxnSpPr>
          <p:nvPr/>
        </p:nvCxnSpPr>
        <p:spPr>
          <a:xfrm flipV="1">
            <a:off x="6117449" y="1731906"/>
            <a:ext cx="1004879" cy="17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F5B2966F-1349-830C-3930-76573C05E57A}"/>
              </a:ext>
            </a:extLst>
          </p:cNvPr>
          <p:cNvSpPr/>
          <p:nvPr/>
        </p:nvSpPr>
        <p:spPr>
          <a:xfrm>
            <a:off x="9592543" y="2867660"/>
            <a:ext cx="243109" cy="2314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77" name="Elbow Connector 176">
            <a:extLst>
              <a:ext uri="{FF2B5EF4-FFF2-40B4-BE49-F238E27FC236}">
                <a16:creationId xmlns:a16="http://schemas.microsoft.com/office/drawing/2014/main" id="{F8679A24-FF46-BEC0-53F8-5081D4FBD0D7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6117449" y="1746105"/>
            <a:ext cx="327549" cy="1682895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6D95781B-4B91-CE3F-4EAB-679213247C8F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6050166" y="3414095"/>
            <a:ext cx="394832" cy="1373102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A7C9FB-7D91-CA51-5B98-BD534734BE7C}"/>
              </a:ext>
            </a:extLst>
          </p:cNvPr>
          <p:cNvGrpSpPr/>
          <p:nvPr/>
        </p:nvGrpSpPr>
        <p:grpSpPr>
          <a:xfrm>
            <a:off x="8059088" y="3445857"/>
            <a:ext cx="2101325" cy="1032426"/>
            <a:chOff x="10263160" y="3214479"/>
            <a:chExt cx="2101325" cy="1032426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056DA1A5-F177-E654-5FFC-2F075AD7F224}"/>
                </a:ext>
              </a:extLst>
            </p:cNvPr>
            <p:cNvGrpSpPr/>
            <p:nvPr/>
          </p:nvGrpSpPr>
          <p:grpSpPr>
            <a:xfrm>
              <a:off x="10263160" y="3214479"/>
              <a:ext cx="2101325" cy="1032426"/>
              <a:chOff x="9430926" y="752031"/>
              <a:chExt cx="2475488" cy="1032426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42B7037-F4B6-7039-FBC0-1DFAD9A81FEC}"/>
                  </a:ext>
                </a:extLst>
              </p:cNvPr>
              <p:cNvSpPr/>
              <p:nvPr/>
            </p:nvSpPr>
            <p:spPr>
              <a:xfrm>
                <a:off x="9430926" y="920529"/>
                <a:ext cx="2475488" cy="863928"/>
              </a:xfrm>
              <a:prstGeom prst="roundRect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400" dirty="0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4F9AD269-8F57-C2DB-19DD-A1C51585BE07}"/>
                  </a:ext>
                </a:extLst>
              </p:cNvPr>
              <p:cNvSpPr/>
              <p:nvPr/>
            </p:nvSpPr>
            <p:spPr>
              <a:xfrm>
                <a:off x="10370739" y="752031"/>
                <a:ext cx="1378657" cy="37290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200" dirty="0">
                    <a:solidFill>
                      <a:sysClr val="windowText" lastClr="000000"/>
                    </a:solidFill>
                  </a:rPr>
                  <a:t>PR Code Data</a:t>
                </a:r>
              </a:p>
            </p:txBody>
          </p:sp>
          <p:sp>
            <p:nvSpPr>
              <p:cNvPr id="84" name="Rounded Rectangle 83">
                <a:extLst>
                  <a:ext uri="{FF2B5EF4-FFF2-40B4-BE49-F238E27FC236}">
                    <a16:creationId xmlns:a16="http://schemas.microsoft.com/office/drawing/2014/main" id="{D9135FEB-E3CC-E0D8-F939-E805DBFF36AA}"/>
                  </a:ext>
                </a:extLst>
              </p:cNvPr>
              <p:cNvSpPr/>
              <p:nvPr/>
            </p:nvSpPr>
            <p:spPr>
              <a:xfrm>
                <a:off x="9522081" y="1211395"/>
                <a:ext cx="1008673" cy="43182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200" dirty="0">
                    <a:solidFill>
                      <a:sysClr val="windowText" lastClr="000000"/>
                    </a:solidFill>
                  </a:rPr>
                  <a:t>Code Diffs</a:t>
                </a:r>
              </a:p>
            </p:txBody>
          </p:sp>
        </p:grpSp>
        <p:sp>
          <p:nvSpPr>
            <p:cNvPr id="212" name="Rounded Rectangle 211">
              <a:extLst>
                <a:ext uri="{FF2B5EF4-FFF2-40B4-BE49-F238E27FC236}">
                  <a16:creationId xmlns:a16="http://schemas.microsoft.com/office/drawing/2014/main" id="{957F2880-8300-B734-BF39-3DD6E7528896}"/>
                </a:ext>
              </a:extLst>
            </p:cNvPr>
            <p:cNvSpPr/>
            <p:nvPr/>
          </p:nvSpPr>
          <p:spPr>
            <a:xfrm>
              <a:off x="11334484" y="3673199"/>
              <a:ext cx="969102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 Changed Files</a:t>
              </a:r>
            </a:p>
          </p:txBody>
        </p:sp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10B84BB-53AD-3AD0-21E3-62471C94C2EE}"/>
              </a:ext>
            </a:extLst>
          </p:cNvPr>
          <p:cNvGrpSpPr/>
          <p:nvPr/>
        </p:nvGrpSpPr>
        <p:grpSpPr>
          <a:xfrm>
            <a:off x="10963142" y="4478283"/>
            <a:ext cx="1048036" cy="1117878"/>
            <a:chOff x="4270578" y="1523722"/>
            <a:chExt cx="1464486" cy="1117878"/>
          </a:xfrm>
        </p:grpSpPr>
        <p:sp>
          <p:nvSpPr>
            <p:cNvPr id="226" name="Rounded Rectangle 225">
              <a:extLst>
                <a:ext uri="{FF2B5EF4-FFF2-40B4-BE49-F238E27FC236}">
                  <a16:creationId xmlns:a16="http://schemas.microsoft.com/office/drawing/2014/main" id="{7A529AD1-F13C-45ED-FD22-C1D766D814C6}"/>
                </a:ext>
              </a:extLst>
            </p:cNvPr>
            <p:cNvSpPr/>
            <p:nvPr/>
          </p:nvSpPr>
          <p:spPr>
            <a:xfrm>
              <a:off x="4270578" y="1523722"/>
              <a:ext cx="1464486" cy="111787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227" name="Rounded Rectangle 226">
              <a:extLst>
                <a:ext uri="{FF2B5EF4-FFF2-40B4-BE49-F238E27FC236}">
                  <a16:creationId xmlns:a16="http://schemas.microsoft.com/office/drawing/2014/main" id="{B4510214-B60A-F070-825F-A8AB6803FE55}"/>
                </a:ext>
              </a:extLst>
            </p:cNvPr>
            <p:cNvSpPr/>
            <p:nvPr/>
          </p:nvSpPr>
          <p:spPr>
            <a:xfrm>
              <a:off x="4399084" y="1672853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Reason</a:t>
              </a:r>
            </a:p>
          </p:txBody>
        </p:sp>
        <p:sp>
          <p:nvSpPr>
            <p:cNvPr id="228" name="Rounded Rectangle 227">
              <a:extLst>
                <a:ext uri="{FF2B5EF4-FFF2-40B4-BE49-F238E27FC236}">
                  <a16:creationId xmlns:a16="http://schemas.microsoft.com/office/drawing/2014/main" id="{29E4661D-FD81-0266-9ADB-F31867CD4746}"/>
                </a:ext>
              </a:extLst>
            </p:cNvPr>
            <p:cNvSpPr/>
            <p:nvPr/>
          </p:nvSpPr>
          <p:spPr>
            <a:xfrm>
              <a:off x="4396494" y="2017079"/>
              <a:ext cx="1231561" cy="5129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Final Result</a:t>
              </a:r>
            </a:p>
          </p:txBody>
        </p:sp>
      </p:grpSp>
      <p:pic>
        <p:nvPicPr>
          <p:cNvPr id="230" name="Graphic 229" descr="Badge Tick1 with solid fill">
            <a:extLst>
              <a:ext uri="{FF2B5EF4-FFF2-40B4-BE49-F238E27FC236}">
                <a16:creationId xmlns:a16="http://schemas.microsoft.com/office/drawing/2014/main" id="{E5FB0F33-129F-26BD-5FD7-64FF22CA9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13058" y="4309101"/>
            <a:ext cx="481570" cy="481570"/>
          </a:xfrm>
          <a:prstGeom prst="rect">
            <a:avLst/>
          </a:prstGeom>
        </p:spPr>
      </p:pic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EBA23520-252A-7F22-C720-AEFEB19944FE}"/>
              </a:ext>
            </a:extLst>
          </p:cNvPr>
          <p:cNvCxnSpPr>
            <a:cxnSpLocks/>
          </p:cNvCxnSpPr>
          <p:nvPr/>
        </p:nvCxnSpPr>
        <p:spPr>
          <a:xfrm>
            <a:off x="2161247" y="1762826"/>
            <a:ext cx="3816" cy="16549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52D80864-743C-D7A4-D1F7-FEC190B9208E}"/>
              </a:ext>
            </a:extLst>
          </p:cNvPr>
          <p:cNvGrpSpPr/>
          <p:nvPr/>
        </p:nvGrpSpPr>
        <p:grpSpPr>
          <a:xfrm>
            <a:off x="3848153" y="5367632"/>
            <a:ext cx="1509134" cy="461665"/>
            <a:chOff x="262163" y="6169375"/>
            <a:chExt cx="1576645" cy="461665"/>
          </a:xfrm>
        </p:grpSpPr>
        <p:sp>
          <p:nvSpPr>
            <p:cNvPr id="256" name="Rounded Rectangular Callout 255">
              <a:extLst>
                <a:ext uri="{FF2B5EF4-FFF2-40B4-BE49-F238E27FC236}">
                  <a16:creationId xmlns:a16="http://schemas.microsoft.com/office/drawing/2014/main" id="{9482147A-0A68-CD85-9A5D-CB72B7A06484}"/>
                </a:ext>
              </a:extLst>
            </p:cNvPr>
            <p:cNvSpPr/>
            <p:nvPr/>
          </p:nvSpPr>
          <p:spPr>
            <a:xfrm rot="10800000">
              <a:off x="263871" y="6191235"/>
              <a:ext cx="1574937" cy="398823"/>
            </a:xfrm>
            <a:prstGeom prst="wedgeRoundRectCallout">
              <a:avLst>
                <a:gd name="adj1" fmla="val 32059"/>
                <a:gd name="adj2" fmla="val 95120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1"/>
                </a:solidFill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08C7BED2-4F4F-27AC-D37B-E92682388E13}"/>
                </a:ext>
              </a:extLst>
            </p:cNvPr>
            <p:cNvSpPr txBox="1"/>
            <p:nvPr/>
          </p:nvSpPr>
          <p:spPr>
            <a:xfrm>
              <a:off x="262163" y="6169375"/>
              <a:ext cx="14550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Defective PR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Follow-up PR</a:t>
              </a:r>
            </a:p>
          </p:txBody>
        </p:sp>
      </p:grpSp>
      <p:sp>
        <p:nvSpPr>
          <p:cNvPr id="258" name="Rounded Rectangular Callout 257">
            <a:extLst>
              <a:ext uri="{FF2B5EF4-FFF2-40B4-BE49-F238E27FC236}">
                <a16:creationId xmlns:a16="http://schemas.microsoft.com/office/drawing/2014/main" id="{56643D98-7A5D-04B7-4663-83F749A67237}"/>
              </a:ext>
            </a:extLst>
          </p:cNvPr>
          <p:cNvSpPr/>
          <p:nvPr/>
        </p:nvSpPr>
        <p:spPr>
          <a:xfrm rot="10800000">
            <a:off x="2774252" y="3918694"/>
            <a:ext cx="1570774" cy="445530"/>
          </a:xfrm>
          <a:prstGeom prst="wedgeRoundRectCallout">
            <a:avLst>
              <a:gd name="adj1" fmla="val 32459"/>
              <a:gd name="adj2" fmla="val 8840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316D5BF-552B-EFCF-22CD-BFB5C2FD5B7E}"/>
              </a:ext>
            </a:extLst>
          </p:cNvPr>
          <p:cNvSpPr txBox="1"/>
          <p:nvPr/>
        </p:nvSpPr>
        <p:spPr>
          <a:xfrm>
            <a:off x="2732792" y="3918694"/>
            <a:ext cx="177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PR Scope Creep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Unspecified Literals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B4C0ED-C804-5883-855C-F50D06BB13D0}"/>
              </a:ext>
            </a:extLst>
          </p:cNvPr>
          <p:cNvGrpSpPr/>
          <p:nvPr/>
        </p:nvGrpSpPr>
        <p:grpSpPr>
          <a:xfrm>
            <a:off x="2766477" y="2257984"/>
            <a:ext cx="1775068" cy="471273"/>
            <a:chOff x="2766477" y="2257984"/>
            <a:chExt cx="1775068" cy="471273"/>
          </a:xfrm>
        </p:grpSpPr>
        <p:sp>
          <p:nvSpPr>
            <p:cNvPr id="260" name="Rounded Rectangular Callout 259">
              <a:extLst>
                <a:ext uri="{FF2B5EF4-FFF2-40B4-BE49-F238E27FC236}">
                  <a16:creationId xmlns:a16="http://schemas.microsoft.com/office/drawing/2014/main" id="{AB7003F6-E9B6-1C3C-034A-F9382CB9AC37}"/>
                </a:ext>
              </a:extLst>
            </p:cNvPr>
            <p:cNvSpPr/>
            <p:nvPr/>
          </p:nvSpPr>
          <p:spPr>
            <a:xfrm rot="10800000">
              <a:off x="2779179" y="2257984"/>
              <a:ext cx="1570774" cy="445530"/>
            </a:xfrm>
            <a:prstGeom prst="wedgeRoundRectCallout">
              <a:avLst>
                <a:gd name="adj1" fmla="val 33267"/>
                <a:gd name="adj2" fmla="val 80879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1"/>
                </a:solidFill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94DB7C7F-510E-B2B4-F2C0-4A497F1BD9ED}"/>
                </a:ext>
              </a:extLst>
            </p:cNvPr>
            <p:cNvSpPr txBox="1"/>
            <p:nvPr/>
          </p:nvSpPr>
          <p:spPr>
            <a:xfrm>
              <a:off x="2766477" y="2267592"/>
              <a:ext cx="1775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Incomplete Spec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Issue Evolved</a:t>
              </a:r>
            </a:p>
          </p:txBody>
        </p:sp>
      </p:grpSp>
      <p:sp>
        <p:nvSpPr>
          <p:cNvPr id="269" name="Rounded Rectangular Callout 268">
            <a:extLst>
              <a:ext uri="{FF2B5EF4-FFF2-40B4-BE49-F238E27FC236}">
                <a16:creationId xmlns:a16="http://schemas.microsoft.com/office/drawing/2014/main" id="{76E26239-2FB5-8CBE-AB72-8D52B494E784}"/>
              </a:ext>
            </a:extLst>
          </p:cNvPr>
          <p:cNvSpPr/>
          <p:nvPr/>
        </p:nvSpPr>
        <p:spPr>
          <a:xfrm rot="10800000">
            <a:off x="6856770" y="2191210"/>
            <a:ext cx="1864513" cy="381703"/>
          </a:xfrm>
          <a:prstGeom prst="wedgeRoundRectCallout">
            <a:avLst>
              <a:gd name="adj1" fmla="val -26046"/>
              <a:gd name="adj2" fmla="val 8087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028DF117-006E-2A5B-089E-235CFE8C77C4}"/>
              </a:ext>
            </a:extLst>
          </p:cNvPr>
          <p:cNvSpPr txBox="1"/>
          <p:nvPr/>
        </p:nvSpPr>
        <p:spPr>
          <a:xfrm>
            <a:off x="6804261" y="2180230"/>
            <a:ext cx="2006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CN" sz="1200"/>
              <a:t>Generalizability</a:t>
            </a:r>
            <a:endParaRPr lang="en-CN" sz="12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Text-level Self-correction</a:t>
            </a:r>
          </a:p>
        </p:txBody>
      </p: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2C03D453-9CB7-A769-B343-73693B868E48}"/>
              </a:ext>
            </a:extLst>
          </p:cNvPr>
          <p:cNvGrpSpPr/>
          <p:nvPr/>
        </p:nvGrpSpPr>
        <p:grpSpPr>
          <a:xfrm>
            <a:off x="7018404" y="1263617"/>
            <a:ext cx="1531900" cy="782012"/>
            <a:chOff x="7039106" y="1397717"/>
            <a:chExt cx="1504674" cy="782012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5B45510C-DD51-3261-DE2D-2C4B3F01E499}"/>
                </a:ext>
              </a:extLst>
            </p:cNvPr>
            <p:cNvSpPr/>
            <p:nvPr/>
          </p:nvSpPr>
          <p:spPr>
            <a:xfrm>
              <a:off x="7129398" y="1397717"/>
              <a:ext cx="1386665" cy="782012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b="1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30" name="Graphic 329">
              <a:extLst>
                <a:ext uri="{FF2B5EF4-FFF2-40B4-BE49-F238E27FC236}">
                  <a16:creationId xmlns:a16="http://schemas.microsoft.com/office/drawing/2014/main" id="{261E26BC-8E34-0A00-4AB3-73F89FA2F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9106" y="1510261"/>
              <a:ext cx="623732" cy="623732"/>
            </a:xfrm>
            <a:prstGeom prst="rect">
              <a:avLst/>
            </a:prstGeom>
          </p:spPr>
        </p:pic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B6D5F2D-D1FA-498D-7AFA-8D0B81106138}"/>
                </a:ext>
              </a:extLst>
            </p:cNvPr>
            <p:cNvSpPr txBox="1"/>
            <p:nvPr/>
          </p:nvSpPr>
          <p:spPr>
            <a:xfrm>
              <a:off x="7442404" y="1559858"/>
              <a:ext cx="11013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Coordinator </a:t>
              </a:r>
            </a:p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Agent</a:t>
              </a:r>
            </a:p>
          </p:txBody>
        </p:sp>
      </p:grp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982FA2D8-280E-6FFE-C363-08B656AA8476}"/>
              </a:ext>
            </a:extLst>
          </p:cNvPr>
          <p:cNvCxnSpPr>
            <a:cxnSpLocks/>
            <a:stCxn id="331" idx="3"/>
          </p:cNvCxnSpPr>
          <p:nvPr/>
        </p:nvCxnSpPr>
        <p:spPr>
          <a:xfrm>
            <a:off x="8550304" y="1687368"/>
            <a:ext cx="2232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52400848-19A1-51F6-A2D8-5D930BF6CD2F}"/>
              </a:ext>
            </a:extLst>
          </p:cNvPr>
          <p:cNvGrpSpPr/>
          <p:nvPr/>
        </p:nvGrpSpPr>
        <p:grpSpPr>
          <a:xfrm>
            <a:off x="2769091" y="3030968"/>
            <a:ext cx="1594852" cy="699724"/>
            <a:chOff x="320347" y="5968486"/>
            <a:chExt cx="1274238" cy="699724"/>
          </a:xfrm>
        </p:grpSpPr>
        <p:sp>
          <p:nvSpPr>
            <p:cNvPr id="357" name="Rounded Rectangle 356">
              <a:extLst>
                <a:ext uri="{FF2B5EF4-FFF2-40B4-BE49-F238E27FC236}">
                  <a16:creationId xmlns:a16="http://schemas.microsoft.com/office/drawing/2014/main" id="{B311F47A-F7FC-EE7F-7849-F66AF441EE10}"/>
                </a:ext>
              </a:extLst>
            </p:cNvPr>
            <p:cNvSpPr/>
            <p:nvPr/>
          </p:nvSpPr>
          <p:spPr>
            <a:xfrm>
              <a:off x="320347" y="5968486"/>
              <a:ext cx="1274238" cy="69972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653A8992-D9B5-CDFE-6F50-CEB7CD1F9AA9}"/>
                </a:ext>
              </a:extLst>
            </p:cNvPr>
            <p:cNvSpPr txBox="1"/>
            <p:nvPr/>
          </p:nvSpPr>
          <p:spPr>
            <a:xfrm>
              <a:off x="749585" y="6043892"/>
              <a:ext cx="7218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PR Scope </a:t>
              </a:r>
            </a:p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Analyzer</a:t>
              </a: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AAC8EA1E-3874-5091-2BCD-AF47E33EAC26}"/>
              </a:ext>
            </a:extLst>
          </p:cNvPr>
          <p:cNvGrpSpPr/>
          <p:nvPr/>
        </p:nvGrpSpPr>
        <p:grpSpPr>
          <a:xfrm>
            <a:off x="2716236" y="4494654"/>
            <a:ext cx="1749217" cy="699724"/>
            <a:chOff x="281469" y="5968486"/>
            <a:chExt cx="1749217" cy="699724"/>
          </a:xfrm>
        </p:grpSpPr>
        <p:sp>
          <p:nvSpPr>
            <p:cNvPr id="362" name="Rounded Rectangle 361">
              <a:extLst>
                <a:ext uri="{FF2B5EF4-FFF2-40B4-BE49-F238E27FC236}">
                  <a16:creationId xmlns:a16="http://schemas.microsoft.com/office/drawing/2014/main" id="{193EEAD4-715F-4529-5FDE-2022A3262068}"/>
                </a:ext>
              </a:extLst>
            </p:cNvPr>
            <p:cNvSpPr/>
            <p:nvPr/>
          </p:nvSpPr>
          <p:spPr>
            <a:xfrm>
              <a:off x="320347" y="5968486"/>
              <a:ext cx="1610331" cy="69972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b="1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63" name="Graphic 362">
              <a:extLst>
                <a:ext uri="{FF2B5EF4-FFF2-40B4-BE49-F238E27FC236}">
                  <a16:creationId xmlns:a16="http://schemas.microsoft.com/office/drawing/2014/main" id="{DCE82FA8-F92E-64D0-E101-9397E8118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1469" y="6011812"/>
              <a:ext cx="616181" cy="616181"/>
            </a:xfrm>
            <a:prstGeom prst="rect">
              <a:avLst/>
            </a:prstGeom>
          </p:spPr>
        </p:pic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C25CC9C9-8270-072C-265E-F55A936F0BB0}"/>
                </a:ext>
              </a:extLst>
            </p:cNvPr>
            <p:cNvSpPr txBox="1"/>
            <p:nvPr/>
          </p:nvSpPr>
          <p:spPr>
            <a:xfrm>
              <a:off x="720712" y="6056470"/>
              <a:ext cx="13099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PR Connection </a:t>
              </a:r>
            </a:p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Analyzer</a:t>
              </a:r>
            </a:p>
          </p:txBody>
        </p:sp>
      </p:grpSp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453B0724-6DFE-2E7D-8B68-E8EB227F3747}"/>
              </a:ext>
            </a:extLst>
          </p:cNvPr>
          <p:cNvCxnSpPr>
            <a:cxnSpLocks/>
          </p:cNvCxnSpPr>
          <p:nvPr/>
        </p:nvCxnSpPr>
        <p:spPr>
          <a:xfrm flipV="1">
            <a:off x="4372443" y="3414095"/>
            <a:ext cx="280982" cy="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2" name="Graphic 371">
            <a:extLst>
              <a:ext uri="{FF2B5EF4-FFF2-40B4-BE49-F238E27FC236}">
                <a16:creationId xmlns:a16="http://schemas.microsoft.com/office/drawing/2014/main" id="{CBA1BF15-388F-C221-6C94-C13F60CC9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4401" y="3080172"/>
            <a:ext cx="616181" cy="61618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3224B4-A551-A1AF-B874-3BF4985F16E2}"/>
              </a:ext>
            </a:extLst>
          </p:cNvPr>
          <p:cNvGrpSpPr/>
          <p:nvPr/>
        </p:nvGrpSpPr>
        <p:grpSpPr>
          <a:xfrm>
            <a:off x="2744401" y="1396607"/>
            <a:ext cx="1612669" cy="699724"/>
            <a:chOff x="2744401" y="1396607"/>
            <a:chExt cx="1612669" cy="699724"/>
          </a:xfrm>
        </p:grpSpPr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C644A4D5-06F0-6435-E928-048B6E9EDE73}"/>
                </a:ext>
              </a:extLst>
            </p:cNvPr>
            <p:cNvGrpSpPr/>
            <p:nvPr/>
          </p:nvGrpSpPr>
          <p:grpSpPr>
            <a:xfrm>
              <a:off x="2766478" y="1396607"/>
              <a:ext cx="1590592" cy="699724"/>
              <a:chOff x="2777337" y="1530707"/>
              <a:chExt cx="1274238" cy="699724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CDF7C78A-0947-ACEC-2F59-7A969448839C}"/>
                  </a:ext>
                </a:extLst>
              </p:cNvPr>
              <p:cNvSpPr/>
              <p:nvPr/>
            </p:nvSpPr>
            <p:spPr>
              <a:xfrm>
                <a:off x="2777337" y="1530707"/>
                <a:ext cx="1274238" cy="69972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4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B4F9079E-070F-7034-0234-1F682F20FA88}"/>
                  </a:ext>
                </a:extLst>
              </p:cNvPr>
              <p:cNvSpPr txBox="1"/>
              <p:nvPr/>
            </p:nvSpPr>
            <p:spPr>
              <a:xfrm>
                <a:off x="3218819" y="1606102"/>
                <a:ext cx="6645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1400" b="1" dirty="0">
                    <a:solidFill>
                      <a:sysClr val="windowText" lastClr="000000"/>
                    </a:solidFill>
                  </a:rPr>
                  <a:t>Issue </a:t>
                </a:r>
              </a:p>
              <a:p>
                <a:pPr algn="ctr"/>
                <a:r>
                  <a:rPr lang="en-CN" sz="1400" b="1" dirty="0">
                    <a:solidFill>
                      <a:sysClr val="windowText" lastClr="000000"/>
                    </a:solidFill>
                  </a:rPr>
                  <a:t>Analyzer</a:t>
                </a:r>
              </a:p>
            </p:txBody>
          </p:sp>
        </p:grpSp>
        <p:pic>
          <p:nvPicPr>
            <p:cNvPr id="373" name="Graphic 372">
              <a:extLst>
                <a:ext uri="{FF2B5EF4-FFF2-40B4-BE49-F238E27FC236}">
                  <a16:creationId xmlns:a16="http://schemas.microsoft.com/office/drawing/2014/main" id="{BDFFC2B0-27E8-3426-DCA6-C9B0FBDE0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44401" y="1431487"/>
              <a:ext cx="616181" cy="61618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31BF8E-BF2F-4AFC-9368-34D315CC1579}"/>
              </a:ext>
            </a:extLst>
          </p:cNvPr>
          <p:cNvGrpSpPr/>
          <p:nvPr/>
        </p:nvGrpSpPr>
        <p:grpSpPr>
          <a:xfrm>
            <a:off x="8065423" y="4582258"/>
            <a:ext cx="2392218" cy="1247039"/>
            <a:chOff x="8044023" y="3814941"/>
            <a:chExt cx="2392218" cy="124703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D61CA7-9944-284A-1D8B-527AD0D35AC4}"/>
                </a:ext>
              </a:extLst>
            </p:cNvPr>
            <p:cNvGrpSpPr/>
            <p:nvPr/>
          </p:nvGrpSpPr>
          <p:grpSpPr>
            <a:xfrm>
              <a:off x="8060441" y="3902732"/>
              <a:ext cx="2375800" cy="1159248"/>
              <a:chOff x="8060441" y="3902732"/>
              <a:chExt cx="2375800" cy="1159248"/>
            </a:xfrm>
          </p:grpSpPr>
          <p:sp>
            <p:nvSpPr>
              <p:cNvPr id="93" name="Rounded Rectangle 92">
                <a:extLst>
                  <a:ext uri="{FF2B5EF4-FFF2-40B4-BE49-F238E27FC236}">
                    <a16:creationId xmlns:a16="http://schemas.microsoft.com/office/drawing/2014/main" id="{D133DC50-FE81-6142-7D36-8D3729FB0763}"/>
                  </a:ext>
                </a:extLst>
              </p:cNvPr>
              <p:cNvSpPr/>
              <p:nvPr/>
            </p:nvSpPr>
            <p:spPr>
              <a:xfrm>
                <a:off x="8060441" y="3902732"/>
                <a:ext cx="2068196" cy="69972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400" b="1" dirty="0">
                    <a:solidFill>
                      <a:sysClr val="windowText" lastClr="000000"/>
                    </a:solidFill>
                  </a:rPr>
                  <a:t>                  Code Validator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C6DCC2F9-73BA-5BC6-36A2-AB134A6DBEE4}"/>
                  </a:ext>
                </a:extLst>
              </p:cNvPr>
              <p:cNvGrpSpPr/>
              <p:nvPr/>
            </p:nvGrpSpPr>
            <p:grpSpPr>
              <a:xfrm>
                <a:off x="8209451" y="4775373"/>
                <a:ext cx="2226790" cy="286607"/>
                <a:chOff x="2766477" y="2257984"/>
                <a:chExt cx="2226790" cy="286607"/>
              </a:xfrm>
            </p:grpSpPr>
            <p:sp>
              <p:nvSpPr>
                <p:cNvPr id="18" name="Rounded Rectangular Callout 17">
                  <a:extLst>
                    <a:ext uri="{FF2B5EF4-FFF2-40B4-BE49-F238E27FC236}">
                      <a16:creationId xmlns:a16="http://schemas.microsoft.com/office/drawing/2014/main" id="{585078DC-6194-CC9F-29D2-564297893657}"/>
                    </a:ext>
                  </a:extLst>
                </p:cNvPr>
                <p:cNvSpPr/>
                <p:nvPr/>
              </p:nvSpPr>
              <p:spPr>
                <a:xfrm rot="10800000">
                  <a:off x="2779177" y="2257984"/>
                  <a:ext cx="2041007" cy="262071"/>
                </a:xfrm>
                <a:prstGeom prst="wedgeRoundRectCallout">
                  <a:avLst>
                    <a:gd name="adj1" fmla="val 34604"/>
                    <a:gd name="adj2" fmla="val 96502"/>
                    <a:gd name="adj3" fmla="val 16667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229837F-BB74-A37A-D816-6F70DF73D97B}"/>
                    </a:ext>
                  </a:extLst>
                </p:cNvPr>
                <p:cNvSpPr txBox="1"/>
                <p:nvPr/>
              </p:nvSpPr>
              <p:spPr>
                <a:xfrm>
                  <a:off x="2766477" y="2267592"/>
                  <a:ext cx="222679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Wingdings" pitchFamily="2" charset="2"/>
                    <a:buChar char="ü"/>
                  </a:pPr>
                  <a:r>
                    <a:rPr lang="en-CN" sz="1200" dirty="0"/>
                    <a:t>Code-level Self-correction</a:t>
                  </a:r>
                </a:p>
              </p:txBody>
            </p:sp>
          </p:grpSp>
        </p:grpSp>
        <p:pic>
          <p:nvPicPr>
            <p:cNvPr id="350" name="Graphic 349">
              <a:extLst>
                <a:ext uri="{FF2B5EF4-FFF2-40B4-BE49-F238E27FC236}">
                  <a16:creationId xmlns:a16="http://schemas.microsoft.com/office/drawing/2014/main" id="{B2B005F3-C1EB-77F7-9885-B25F0768E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044023" y="3814941"/>
              <a:ext cx="872641" cy="872641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861C120-9A30-7C2D-E0C4-3CEB8B06B659}"/>
              </a:ext>
            </a:extLst>
          </p:cNvPr>
          <p:cNvGrpSpPr/>
          <p:nvPr/>
        </p:nvGrpSpPr>
        <p:grpSpPr>
          <a:xfrm>
            <a:off x="6831363" y="3531154"/>
            <a:ext cx="1039510" cy="2312592"/>
            <a:chOff x="6790039" y="3366844"/>
            <a:chExt cx="1039510" cy="231259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579BFA-3FC7-F466-0A9A-F43423C8A812}"/>
                </a:ext>
              </a:extLst>
            </p:cNvPr>
            <p:cNvGrpSpPr/>
            <p:nvPr/>
          </p:nvGrpSpPr>
          <p:grpSpPr>
            <a:xfrm>
              <a:off x="6790039" y="3366844"/>
              <a:ext cx="1039510" cy="2312592"/>
              <a:chOff x="6804261" y="3787278"/>
              <a:chExt cx="1039510" cy="2312592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D13E90E6-61AE-CF6A-47EC-43539E890C59}"/>
                  </a:ext>
                </a:extLst>
              </p:cNvPr>
              <p:cNvGrpSpPr/>
              <p:nvPr/>
            </p:nvGrpSpPr>
            <p:grpSpPr>
              <a:xfrm>
                <a:off x="6804261" y="3787278"/>
                <a:ext cx="1039510" cy="2312592"/>
                <a:chOff x="9318925" y="2738674"/>
                <a:chExt cx="908842" cy="978603"/>
              </a:xfrm>
              <a:solidFill>
                <a:schemeClr val="accent2">
                  <a:lumMod val="40000"/>
                  <a:lumOff val="60000"/>
                </a:schemeClr>
              </a:solidFill>
            </p:grpSpPr>
            <p:sp>
              <p:nvSpPr>
                <p:cNvPr id="86" name="Rounded Rectangle 85">
                  <a:extLst>
                    <a:ext uri="{FF2B5EF4-FFF2-40B4-BE49-F238E27FC236}">
                      <a16:creationId xmlns:a16="http://schemas.microsoft.com/office/drawing/2014/main" id="{643CCF63-8B67-1A06-811C-779E7713860A}"/>
                    </a:ext>
                  </a:extLst>
                </p:cNvPr>
                <p:cNvSpPr/>
                <p:nvPr/>
              </p:nvSpPr>
              <p:spPr>
                <a:xfrm>
                  <a:off x="9318925" y="2848798"/>
                  <a:ext cx="908842" cy="868479"/>
                </a:xfrm>
                <a:prstGeom prst="round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8B19DCB6-FBA9-ECA3-9C66-06F1560BC5D0}"/>
                    </a:ext>
                  </a:extLst>
                </p:cNvPr>
                <p:cNvSpPr/>
                <p:nvPr/>
              </p:nvSpPr>
              <p:spPr>
                <a:xfrm>
                  <a:off x="9434765" y="2738674"/>
                  <a:ext cx="614036" cy="170422"/>
                </a:xfrm>
                <a:prstGeom prst="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CN" sz="1200" dirty="0">
                      <a:solidFill>
                        <a:schemeClr val="bg1"/>
                      </a:solidFill>
                    </a:rPr>
                    <a:t>ToolBox</a:t>
                  </a:r>
                </a:p>
              </p:txBody>
            </p:sp>
            <p:sp>
              <p:nvSpPr>
                <p:cNvPr id="96" name="Rounded Rectangle 95">
                  <a:extLst>
                    <a:ext uri="{FF2B5EF4-FFF2-40B4-BE49-F238E27FC236}">
                      <a16:creationId xmlns:a16="http://schemas.microsoft.com/office/drawing/2014/main" id="{EB3B109C-0973-3C63-DE9C-20A3FE283E7D}"/>
                    </a:ext>
                  </a:extLst>
                </p:cNvPr>
                <p:cNvSpPr/>
                <p:nvPr/>
              </p:nvSpPr>
              <p:spPr>
                <a:xfrm>
                  <a:off x="9400436" y="2965620"/>
                  <a:ext cx="723597" cy="48366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N" sz="1200" b="1" dirty="0">
                    <a:solidFill>
                      <a:sysClr val="windowText" lastClr="000000"/>
                    </a:solidFill>
                  </a:endParaRPr>
                </a:p>
                <a:p>
                  <a:pPr algn="ctr"/>
                  <a:endParaRPr lang="en-CN" sz="1200" b="1" dirty="0">
                    <a:solidFill>
                      <a:sysClr val="windowText" lastClr="000000"/>
                    </a:solidFill>
                  </a:endParaRPr>
                </a:p>
                <a:p>
                  <a:pPr algn="ctr"/>
                  <a:endParaRPr lang="en-CN" sz="1200" b="1" dirty="0">
                    <a:solidFill>
                      <a:sysClr val="windowText" lastClr="000000"/>
                    </a:solidFill>
                  </a:endParaRPr>
                </a:p>
                <a:p>
                  <a:pPr algn="ctr"/>
                  <a:endParaRPr lang="en-CN" sz="1200" b="1" dirty="0">
                    <a:solidFill>
                      <a:sysClr val="windowText" lastClr="000000"/>
                    </a:solidFill>
                  </a:endParaRPr>
                </a:p>
                <a:p>
                  <a:pPr algn="ctr"/>
                  <a:endParaRPr lang="en-CN" sz="1200" b="1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F5E64BF1-1FDF-58DD-E6F4-62BA5483A2FE}"/>
                  </a:ext>
                </a:extLst>
              </p:cNvPr>
              <p:cNvSpPr txBox="1"/>
              <p:nvPr/>
            </p:nvSpPr>
            <p:spPr>
              <a:xfrm>
                <a:off x="6883268" y="4942182"/>
                <a:ext cx="9094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1200" b="1" dirty="0">
                    <a:solidFill>
                      <a:sysClr val="windowText" lastClr="000000"/>
                    </a:solidFill>
                  </a:rPr>
                  <a:t>Repository </a:t>
                </a:r>
              </a:p>
              <a:p>
                <a:pPr algn="ctr"/>
                <a:r>
                  <a:rPr lang="en-CN" sz="1200" b="1" dirty="0">
                    <a:solidFill>
                      <a:sysClr val="windowText" lastClr="000000"/>
                    </a:solidFill>
                  </a:rPr>
                  <a:t>Retriver</a:t>
                </a: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E309ED37-A3FA-D46C-6C96-27A90A269115}"/>
                  </a:ext>
                </a:extLst>
              </p:cNvPr>
              <p:cNvSpPr/>
              <p:nvPr/>
            </p:nvSpPr>
            <p:spPr>
              <a:xfrm>
                <a:off x="6911755" y="5549193"/>
                <a:ext cx="827632" cy="40533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CN" sz="1200" b="1" dirty="0">
                    <a:solidFill>
                      <a:sysClr val="windowText" lastClr="000000"/>
                    </a:solidFill>
                  </a:rPr>
                  <a:t>Bash</a:t>
                </a:r>
              </a:p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</p:txBody>
          </p:sp>
        </p:grpSp>
        <p:pic>
          <p:nvPicPr>
            <p:cNvPr id="382" name="Graphic 381">
              <a:extLst>
                <a:ext uri="{FF2B5EF4-FFF2-40B4-BE49-F238E27FC236}">
                  <a16:creationId xmlns:a16="http://schemas.microsoft.com/office/drawing/2014/main" id="{1D3CB237-A408-DC27-EE39-8149FA57A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39846" y="3876906"/>
              <a:ext cx="705859" cy="799158"/>
            </a:xfrm>
            <a:prstGeom prst="rect">
              <a:avLst/>
            </a:prstGeom>
          </p:spPr>
        </p:pic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1074D2-A42F-A50D-C65C-98F92369DF1C}"/>
              </a:ext>
            </a:extLst>
          </p:cNvPr>
          <p:cNvCxnSpPr>
            <a:stCxn id="93" idx="3"/>
            <a:endCxn id="226" idx="1"/>
          </p:cNvCxnSpPr>
          <p:nvPr/>
        </p:nvCxnSpPr>
        <p:spPr>
          <a:xfrm>
            <a:off x="10150037" y="5019911"/>
            <a:ext cx="813105" cy="1731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1C5E1B-D150-E948-551B-4411DC3D57E4}"/>
              </a:ext>
            </a:extLst>
          </p:cNvPr>
          <p:cNvCxnSpPr>
            <a:cxnSpLocks/>
          </p:cNvCxnSpPr>
          <p:nvPr/>
        </p:nvCxnSpPr>
        <p:spPr>
          <a:xfrm>
            <a:off x="7866891" y="5037222"/>
            <a:ext cx="22281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8BDCE93-0E69-B996-EECF-1150BFA27050}"/>
              </a:ext>
            </a:extLst>
          </p:cNvPr>
          <p:cNvCxnSpPr>
            <a:cxnSpLocks/>
          </p:cNvCxnSpPr>
          <p:nvPr/>
        </p:nvCxnSpPr>
        <p:spPr>
          <a:xfrm flipH="1" flipV="1">
            <a:off x="7866891" y="4952542"/>
            <a:ext cx="208774" cy="4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20B2DBE-FDD5-691B-0CDD-13967AA235DD}"/>
              </a:ext>
            </a:extLst>
          </p:cNvPr>
          <p:cNvCxnSpPr>
            <a:cxnSpLocks/>
            <a:stCxn id="8" idx="2"/>
            <a:endCxn id="93" idx="0"/>
          </p:cNvCxnSpPr>
          <p:nvPr/>
        </p:nvCxnSpPr>
        <p:spPr>
          <a:xfrm>
            <a:off x="9109751" y="4478283"/>
            <a:ext cx="6188" cy="1917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4CFD662-7A53-08D6-9B64-EB7931C6AC0A}"/>
              </a:ext>
            </a:extLst>
          </p:cNvPr>
          <p:cNvCxnSpPr>
            <a:cxnSpLocks/>
          </p:cNvCxnSpPr>
          <p:nvPr/>
        </p:nvCxnSpPr>
        <p:spPr>
          <a:xfrm>
            <a:off x="9559586" y="2276482"/>
            <a:ext cx="12612" cy="11613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442F951-AD62-AAA5-BF47-20029C156167}"/>
              </a:ext>
            </a:extLst>
          </p:cNvPr>
          <p:cNvGrpSpPr/>
          <p:nvPr/>
        </p:nvGrpSpPr>
        <p:grpSpPr>
          <a:xfrm>
            <a:off x="2769957" y="5401016"/>
            <a:ext cx="1036749" cy="657813"/>
            <a:chOff x="6905393" y="4879443"/>
            <a:chExt cx="968847" cy="65860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4AB20D1-FB3D-8614-074E-699D6A5C4713}"/>
                </a:ext>
              </a:extLst>
            </p:cNvPr>
            <p:cNvGrpSpPr/>
            <p:nvPr/>
          </p:nvGrpSpPr>
          <p:grpSpPr>
            <a:xfrm>
              <a:off x="6905393" y="4879443"/>
              <a:ext cx="968847" cy="658600"/>
              <a:chOff x="9407351" y="3200837"/>
              <a:chExt cx="847062" cy="278695"/>
            </a:xfrm>
            <a:solidFill>
              <a:schemeClr val="accent2">
                <a:lumMod val="40000"/>
                <a:lumOff val="60000"/>
              </a:schemeClr>
            </a:solidFill>
          </p:grpSpPr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3885BCB6-B7ED-0946-F5E3-FA86656ECBA0}"/>
                  </a:ext>
                </a:extLst>
              </p:cNvPr>
              <p:cNvSpPr/>
              <p:nvPr/>
            </p:nvSpPr>
            <p:spPr>
              <a:xfrm>
                <a:off x="9407351" y="3200837"/>
                <a:ext cx="820416" cy="278695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9031D088-25B4-980B-C131-2331587770A9}"/>
                  </a:ext>
                </a:extLst>
              </p:cNvPr>
              <p:cNvSpPr/>
              <p:nvPr/>
            </p:nvSpPr>
            <p:spPr>
              <a:xfrm rot="5400000">
                <a:off x="10029661" y="3245059"/>
                <a:ext cx="268973" cy="18053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200" dirty="0">
                    <a:solidFill>
                      <a:schemeClr val="bg1"/>
                    </a:solidFill>
                  </a:rPr>
                  <a:t>Tool</a:t>
                </a:r>
              </a:p>
            </p:txBody>
          </p:sp>
          <p:sp>
            <p:nvSpPr>
              <p:cNvPr id="105" name="Rounded Rectangle 104">
                <a:extLst>
                  <a:ext uri="{FF2B5EF4-FFF2-40B4-BE49-F238E27FC236}">
                    <a16:creationId xmlns:a16="http://schemas.microsoft.com/office/drawing/2014/main" id="{2F1AB851-BE70-0D8A-A4CA-24D38FDD1E5E}"/>
                  </a:ext>
                </a:extLst>
              </p:cNvPr>
              <p:cNvSpPr/>
              <p:nvPr/>
            </p:nvSpPr>
            <p:spPr>
              <a:xfrm>
                <a:off x="9462955" y="3258229"/>
                <a:ext cx="588405" cy="189222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4D553C2-E898-4BCF-8CB8-B9152C0A23C9}"/>
                </a:ext>
              </a:extLst>
            </p:cNvPr>
            <p:cNvSpPr txBox="1"/>
            <p:nvPr/>
          </p:nvSpPr>
          <p:spPr>
            <a:xfrm>
              <a:off x="6950051" y="5034362"/>
              <a:ext cx="673000" cy="462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Github Crawler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C309A46E-F8DA-A098-8885-B1BB027D868B}"/>
              </a:ext>
            </a:extLst>
          </p:cNvPr>
          <p:cNvCxnSpPr>
            <a:cxnSpLocks/>
          </p:cNvCxnSpPr>
          <p:nvPr/>
        </p:nvCxnSpPr>
        <p:spPr>
          <a:xfrm>
            <a:off x="3065369" y="5197487"/>
            <a:ext cx="0" cy="203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BC63CD04-93D3-76DD-E17A-2340A82F5474}"/>
              </a:ext>
            </a:extLst>
          </p:cNvPr>
          <p:cNvCxnSpPr>
            <a:cxnSpLocks/>
          </p:cNvCxnSpPr>
          <p:nvPr/>
        </p:nvCxnSpPr>
        <p:spPr>
          <a:xfrm flipV="1">
            <a:off x="3155479" y="5194378"/>
            <a:ext cx="0" cy="2022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499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44EB76-692D-8D1A-7D52-E8323CAD2490}"/>
              </a:ext>
            </a:extLst>
          </p:cNvPr>
          <p:cNvSpPr/>
          <p:nvPr/>
        </p:nvSpPr>
        <p:spPr>
          <a:xfrm>
            <a:off x="2361401" y="656623"/>
            <a:ext cx="3997711" cy="572076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C6F441-FDD9-33F4-EFC1-CD2AE09DE58C}"/>
              </a:ext>
            </a:extLst>
          </p:cNvPr>
          <p:cNvSpPr/>
          <p:nvPr/>
        </p:nvSpPr>
        <p:spPr>
          <a:xfrm>
            <a:off x="6532460" y="652041"/>
            <a:ext cx="3997711" cy="235034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8FA74FF-4F54-DFC2-2F85-5E2CE6AFA95A}"/>
              </a:ext>
            </a:extLst>
          </p:cNvPr>
          <p:cNvSpPr/>
          <p:nvPr/>
        </p:nvSpPr>
        <p:spPr>
          <a:xfrm>
            <a:off x="6558898" y="3428218"/>
            <a:ext cx="3971273" cy="2898367"/>
          </a:xfrm>
          <a:prstGeom prst="roundRect">
            <a:avLst/>
          </a:prstGeom>
          <a:solidFill>
            <a:srgbClr val="C3A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326D539-FC48-C4BE-B460-A35DA6432033}"/>
              </a:ext>
            </a:extLst>
          </p:cNvPr>
          <p:cNvSpPr/>
          <p:nvPr/>
        </p:nvSpPr>
        <p:spPr>
          <a:xfrm>
            <a:off x="1968680" y="212415"/>
            <a:ext cx="8854907" cy="6422584"/>
          </a:xfrm>
          <a:prstGeom prst="round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7CF397-B05C-F6D4-42E9-48D22C89D67A}"/>
              </a:ext>
            </a:extLst>
          </p:cNvPr>
          <p:cNvSpPr/>
          <p:nvPr/>
        </p:nvSpPr>
        <p:spPr>
          <a:xfrm>
            <a:off x="2645151" y="329581"/>
            <a:ext cx="2948386" cy="521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Phase I: Specific Misalignment Identification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8FE2A2-843D-9AEB-7D97-09882F575C99}"/>
              </a:ext>
            </a:extLst>
          </p:cNvPr>
          <p:cNvSpPr/>
          <p:nvPr/>
        </p:nvSpPr>
        <p:spPr>
          <a:xfrm>
            <a:off x="6712698" y="329525"/>
            <a:ext cx="2089879" cy="5210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Phase II: Labels Synthesis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97CAF-FD77-4973-1E49-9AA33ABD12AD}"/>
              </a:ext>
            </a:extLst>
          </p:cNvPr>
          <p:cNvSpPr/>
          <p:nvPr/>
        </p:nvSpPr>
        <p:spPr>
          <a:xfrm>
            <a:off x="6711698" y="3147232"/>
            <a:ext cx="2061856" cy="572236"/>
          </a:xfrm>
          <a:prstGeom prst="rect">
            <a:avLst/>
          </a:prstGeom>
          <a:solidFill>
            <a:srgbClr val="8F5EB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Phase III: Code Validation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CEDD531-1797-073A-0D22-5EE61B748F3B}"/>
              </a:ext>
            </a:extLst>
          </p:cNvPr>
          <p:cNvGrpSpPr/>
          <p:nvPr/>
        </p:nvGrpSpPr>
        <p:grpSpPr>
          <a:xfrm>
            <a:off x="109265" y="4291036"/>
            <a:ext cx="1773528" cy="1323979"/>
            <a:chOff x="106970" y="4684014"/>
            <a:chExt cx="1773528" cy="1323979"/>
          </a:xfrm>
        </p:grpSpPr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E5033DD1-BDA7-1420-0300-9ED90C95E6E5}"/>
                </a:ext>
              </a:extLst>
            </p:cNvPr>
            <p:cNvSpPr/>
            <p:nvPr/>
          </p:nvSpPr>
          <p:spPr>
            <a:xfrm>
              <a:off x="106970" y="4684014"/>
              <a:ext cx="1470451" cy="1323979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61C08D7B-53B6-FDEC-2AD6-412C572D7DFE}"/>
                </a:ext>
              </a:extLst>
            </p:cNvPr>
            <p:cNvSpPr/>
            <p:nvPr/>
          </p:nvSpPr>
          <p:spPr>
            <a:xfrm>
              <a:off x="240402" y="4746915"/>
              <a:ext cx="1026680" cy="5184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Cross-referenced PRs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A740DD8-9ECC-0C86-077B-9911777206C0}"/>
                </a:ext>
              </a:extLst>
            </p:cNvPr>
            <p:cNvSpPr/>
            <p:nvPr/>
          </p:nvSpPr>
          <p:spPr>
            <a:xfrm rot="5400000">
              <a:off x="1038382" y="5082812"/>
              <a:ext cx="1150586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Cross-referenced Information</a:t>
              </a:r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77243B52-8A67-F78A-7E4C-27051E4E0B36}"/>
                </a:ext>
              </a:extLst>
            </p:cNvPr>
            <p:cNvSpPr/>
            <p:nvPr/>
          </p:nvSpPr>
          <p:spPr>
            <a:xfrm>
              <a:off x="249154" y="5328300"/>
              <a:ext cx="1022736" cy="59662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Cross-referenced Issues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FBFC29B7-2512-6B1A-FB30-F66997C507E8}"/>
              </a:ext>
            </a:extLst>
          </p:cNvPr>
          <p:cNvGrpSpPr/>
          <p:nvPr/>
        </p:nvGrpSpPr>
        <p:grpSpPr>
          <a:xfrm>
            <a:off x="49681" y="2608958"/>
            <a:ext cx="1800504" cy="1589574"/>
            <a:chOff x="53903" y="2901901"/>
            <a:chExt cx="1800504" cy="1589574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79521BA8-99A6-3E74-2361-515D0C28E8E9}"/>
                </a:ext>
              </a:extLst>
            </p:cNvPr>
            <p:cNvSpPr/>
            <p:nvPr/>
          </p:nvSpPr>
          <p:spPr>
            <a:xfrm>
              <a:off x="53903" y="2901901"/>
              <a:ext cx="1507226" cy="158957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D52D6328-D7EE-28BC-0872-90CA4F1BF2BD}"/>
                </a:ext>
              </a:extLst>
            </p:cNvPr>
            <p:cNvSpPr/>
            <p:nvPr/>
          </p:nvSpPr>
          <p:spPr>
            <a:xfrm>
              <a:off x="173868" y="3008353"/>
              <a:ext cx="1106439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 Description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8D6037B-8A02-B06D-5BE0-2D93BC5FB699}"/>
                </a:ext>
              </a:extLst>
            </p:cNvPr>
            <p:cNvSpPr/>
            <p:nvPr/>
          </p:nvSpPr>
          <p:spPr>
            <a:xfrm rot="5400000">
              <a:off x="885196" y="3443919"/>
              <a:ext cx="1404775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PR-Side Information</a:t>
              </a:r>
            </a:p>
          </p:txBody>
        </p:sp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C6AEB7BF-F24A-8240-43CA-2C6C530824E8}"/>
                </a:ext>
              </a:extLst>
            </p:cNvPr>
            <p:cNvSpPr/>
            <p:nvPr/>
          </p:nvSpPr>
          <p:spPr>
            <a:xfrm>
              <a:off x="175329" y="3494830"/>
              <a:ext cx="1104977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 Discussion</a:t>
              </a: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FA574532-C2BA-F48A-1801-4F3FDD415FC7}"/>
                </a:ext>
              </a:extLst>
            </p:cNvPr>
            <p:cNvSpPr/>
            <p:nvPr/>
          </p:nvSpPr>
          <p:spPr>
            <a:xfrm>
              <a:off x="196086" y="3981307"/>
              <a:ext cx="1084219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Code Patch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F1F6468-F4ED-24B6-5A9B-3055DFC14B75}"/>
              </a:ext>
            </a:extLst>
          </p:cNvPr>
          <p:cNvGrpSpPr/>
          <p:nvPr/>
        </p:nvGrpSpPr>
        <p:grpSpPr>
          <a:xfrm>
            <a:off x="58844" y="1165504"/>
            <a:ext cx="1761733" cy="1161930"/>
            <a:chOff x="93162" y="1415597"/>
            <a:chExt cx="1761733" cy="1161930"/>
          </a:xfrm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799A1518-FB6C-B477-4026-39D20B944B40}"/>
                </a:ext>
              </a:extLst>
            </p:cNvPr>
            <p:cNvSpPr/>
            <p:nvPr/>
          </p:nvSpPr>
          <p:spPr>
            <a:xfrm>
              <a:off x="93162" y="1415597"/>
              <a:ext cx="1521080" cy="116193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D26BC553-9C90-817C-E55D-8AD8B9BFD7FB}"/>
                </a:ext>
              </a:extLst>
            </p:cNvPr>
            <p:cNvSpPr/>
            <p:nvPr/>
          </p:nvSpPr>
          <p:spPr>
            <a:xfrm>
              <a:off x="191381" y="1529779"/>
              <a:ext cx="1088923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Problem Statement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20E44AF-D918-2F80-6FC3-C7882049F596}"/>
                </a:ext>
              </a:extLst>
            </p:cNvPr>
            <p:cNvSpPr/>
            <p:nvPr/>
          </p:nvSpPr>
          <p:spPr>
            <a:xfrm rot="5400000">
              <a:off x="1104410" y="1746619"/>
              <a:ext cx="967324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Issue-Side Information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3E32BD97-DBDA-6D41-BF92-E26997205751}"/>
                </a:ext>
              </a:extLst>
            </p:cNvPr>
            <p:cNvSpPr/>
            <p:nvPr/>
          </p:nvSpPr>
          <p:spPr>
            <a:xfrm>
              <a:off x="191381" y="2065282"/>
              <a:ext cx="1088923" cy="4318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Issue Discussion</a:t>
              </a:r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EF95BF4B-59FA-4C0F-1FC8-2109754E62E8}"/>
              </a:ext>
            </a:extLst>
          </p:cNvPr>
          <p:cNvSpPr/>
          <p:nvPr/>
        </p:nvSpPr>
        <p:spPr>
          <a:xfrm>
            <a:off x="537714" y="656623"/>
            <a:ext cx="910233" cy="310163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u="sng" dirty="0"/>
              <a:t>Start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F60A2A28-FAD7-4931-90A6-E3C60F006AC4}"/>
              </a:ext>
            </a:extLst>
          </p:cNvPr>
          <p:cNvSpPr/>
          <p:nvPr/>
        </p:nvSpPr>
        <p:spPr>
          <a:xfrm>
            <a:off x="2515964" y="923232"/>
            <a:ext cx="3689076" cy="52644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427ADD7-45A0-4DCA-BC46-74DB4DDB85C5}"/>
              </a:ext>
            </a:extLst>
          </p:cNvPr>
          <p:cNvSpPr/>
          <p:nvPr/>
        </p:nvSpPr>
        <p:spPr>
          <a:xfrm>
            <a:off x="11120627" y="4623209"/>
            <a:ext cx="791348" cy="23072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u="sng" dirty="0"/>
              <a:t>End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C314D97-A505-5289-3379-7BAF01A51A99}"/>
              </a:ext>
            </a:extLst>
          </p:cNvPr>
          <p:cNvGrpSpPr/>
          <p:nvPr/>
        </p:nvGrpSpPr>
        <p:grpSpPr>
          <a:xfrm>
            <a:off x="4652963" y="1218056"/>
            <a:ext cx="1464486" cy="1147283"/>
            <a:chOff x="4270578" y="1494317"/>
            <a:chExt cx="1464486" cy="1147283"/>
          </a:xfrm>
        </p:grpSpPr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A6331BA0-30CC-17D9-86A1-A2A25A466685}"/>
                </a:ext>
              </a:extLst>
            </p:cNvPr>
            <p:cNvSpPr/>
            <p:nvPr/>
          </p:nvSpPr>
          <p:spPr>
            <a:xfrm>
              <a:off x="4270578" y="1494317"/>
              <a:ext cx="1464486" cy="114728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F3FC42EF-04B9-2C2A-6857-EC2C47B4759C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87D05F5B-5DED-B773-697C-CE781C72241E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C0714F4E-1009-ABD1-C319-6175E6535C87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03649D1-77A7-98C2-56D6-EB24507B138A}"/>
              </a:ext>
            </a:extLst>
          </p:cNvPr>
          <p:cNvGrpSpPr/>
          <p:nvPr/>
        </p:nvGrpSpPr>
        <p:grpSpPr>
          <a:xfrm>
            <a:off x="4652963" y="2862849"/>
            <a:ext cx="1464486" cy="1132301"/>
            <a:chOff x="4270578" y="1509299"/>
            <a:chExt cx="1464486" cy="1132301"/>
          </a:xfrm>
        </p:grpSpPr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73904AB8-2CCB-8743-EBB4-EE856EAC19FD}"/>
                </a:ext>
              </a:extLst>
            </p:cNvPr>
            <p:cNvSpPr/>
            <p:nvPr/>
          </p:nvSpPr>
          <p:spPr>
            <a:xfrm>
              <a:off x="4270578" y="1509299"/>
              <a:ext cx="1464486" cy="113230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71" name="Rounded Rectangle 70">
              <a:extLst>
                <a:ext uri="{FF2B5EF4-FFF2-40B4-BE49-F238E27FC236}">
                  <a16:creationId xmlns:a16="http://schemas.microsoft.com/office/drawing/2014/main" id="{BE0B3A30-3BC0-06CA-0B2B-6178726636F7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B2A25845-5CFA-6EC2-D5CD-8845FF994DF5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DDFFDD93-AB7E-5414-88AC-E8F3DD454DA4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2CC7A54-99A0-D3CA-3757-4CAE0FFEC4CA}"/>
              </a:ext>
            </a:extLst>
          </p:cNvPr>
          <p:cNvGrpSpPr/>
          <p:nvPr/>
        </p:nvGrpSpPr>
        <p:grpSpPr>
          <a:xfrm>
            <a:off x="4643890" y="4401662"/>
            <a:ext cx="1358575" cy="1147531"/>
            <a:chOff x="4270578" y="1494069"/>
            <a:chExt cx="1464486" cy="1147531"/>
          </a:xfrm>
        </p:grpSpPr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1072EDF9-AE22-911F-085B-CF0F5524079A}"/>
                </a:ext>
              </a:extLst>
            </p:cNvPr>
            <p:cNvSpPr/>
            <p:nvPr/>
          </p:nvSpPr>
          <p:spPr>
            <a:xfrm>
              <a:off x="4270578" y="1494069"/>
              <a:ext cx="1464486" cy="114753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DB08D497-4FDD-0614-B968-9BD7171B20B9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4C096BD0-628A-2951-04DD-DD5ED527B061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79" name="Rounded Rectangle 78">
              <a:extLst>
                <a:ext uri="{FF2B5EF4-FFF2-40B4-BE49-F238E27FC236}">
                  <a16:creationId xmlns:a16="http://schemas.microsoft.com/office/drawing/2014/main" id="{243A32D5-AEC0-A62E-E440-A8F58038F229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041B91D-1AD2-030C-A381-45FFC7224CC2}"/>
              </a:ext>
            </a:extLst>
          </p:cNvPr>
          <p:cNvSpPr/>
          <p:nvPr/>
        </p:nvSpPr>
        <p:spPr>
          <a:xfrm>
            <a:off x="6703783" y="918585"/>
            <a:ext cx="3634327" cy="17573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9A7E908-F0BE-7253-8238-C57261F78777}"/>
              </a:ext>
            </a:extLst>
          </p:cNvPr>
          <p:cNvGrpSpPr/>
          <p:nvPr/>
        </p:nvGrpSpPr>
        <p:grpSpPr>
          <a:xfrm>
            <a:off x="8781698" y="1152568"/>
            <a:ext cx="1464486" cy="1117878"/>
            <a:chOff x="4270578" y="1523722"/>
            <a:chExt cx="1464486" cy="1117878"/>
          </a:xfrm>
        </p:grpSpPr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8F74D0DD-65C2-66FF-A95B-65E363DCE63E}"/>
                </a:ext>
              </a:extLst>
            </p:cNvPr>
            <p:cNvSpPr/>
            <p:nvPr/>
          </p:nvSpPr>
          <p:spPr>
            <a:xfrm>
              <a:off x="4270578" y="1523722"/>
              <a:ext cx="1464486" cy="111787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EECF0ADB-E99F-710D-5A9B-8B0D61DEDAED}"/>
                </a:ext>
              </a:extLst>
            </p:cNvPr>
            <p:cNvSpPr/>
            <p:nvPr/>
          </p:nvSpPr>
          <p:spPr>
            <a:xfrm>
              <a:off x="4399084" y="1672853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Reason</a:t>
              </a:r>
            </a:p>
          </p:txBody>
        </p:sp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6041B8B0-24A1-E4E5-40F0-854B7D848747}"/>
                </a:ext>
              </a:extLst>
            </p:cNvPr>
            <p:cNvSpPr/>
            <p:nvPr/>
          </p:nvSpPr>
          <p:spPr>
            <a:xfrm>
              <a:off x="4396494" y="2017079"/>
              <a:ext cx="1231561" cy="5129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Preliminary Label</a:t>
              </a:r>
            </a:p>
          </p:txBody>
        </p:sp>
      </p:grp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FD1B2951-F5E4-1E65-2475-EEB3A0B78338}"/>
              </a:ext>
            </a:extLst>
          </p:cNvPr>
          <p:cNvSpPr/>
          <p:nvPr/>
        </p:nvSpPr>
        <p:spPr>
          <a:xfrm>
            <a:off x="7954015" y="3792551"/>
            <a:ext cx="2396339" cy="23209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400" dirty="0"/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D133DC50-FE81-6142-7D36-8D3729FB0763}"/>
              </a:ext>
            </a:extLst>
          </p:cNvPr>
          <p:cNvSpPr/>
          <p:nvPr/>
        </p:nvSpPr>
        <p:spPr>
          <a:xfrm>
            <a:off x="8170316" y="5238035"/>
            <a:ext cx="2068196" cy="69972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b="1" dirty="0">
                <a:solidFill>
                  <a:sysClr val="windowText" lastClr="000000"/>
                </a:solidFill>
              </a:rPr>
              <a:t>                  Code Validator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3E90E6-61AE-CF6A-47EC-43539E890C59}"/>
              </a:ext>
            </a:extLst>
          </p:cNvPr>
          <p:cNvGrpSpPr/>
          <p:nvPr/>
        </p:nvGrpSpPr>
        <p:grpSpPr>
          <a:xfrm>
            <a:off x="6764979" y="4014471"/>
            <a:ext cx="926892" cy="1893971"/>
            <a:chOff x="9333885" y="2812825"/>
            <a:chExt cx="810380" cy="801458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643CCF63-8B67-1A06-811C-779E7713860A}"/>
                </a:ext>
              </a:extLst>
            </p:cNvPr>
            <p:cNvSpPr/>
            <p:nvPr/>
          </p:nvSpPr>
          <p:spPr>
            <a:xfrm>
              <a:off x="9333885" y="2878710"/>
              <a:ext cx="810380" cy="73557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>
                <a:solidFill>
                  <a:schemeClr val="tx1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B19DCB6-FBA9-ECA3-9C66-06F1560BC5D0}"/>
                </a:ext>
              </a:extLst>
            </p:cNvPr>
            <p:cNvSpPr/>
            <p:nvPr/>
          </p:nvSpPr>
          <p:spPr>
            <a:xfrm>
              <a:off x="9502159" y="2812825"/>
              <a:ext cx="473830" cy="13754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chemeClr val="bg1"/>
                  </a:solidFill>
                </a:rPr>
                <a:t>Tool</a:t>
              </a:r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EB3B109C-0973-3C63-DE9C-20A3FE283E7D}"/>
                </a:ext>
              </a:extLst>
            </p:cNvPr>
            <p:cNvSpPr/>
            <p:nvPr/>
          </p:nvSpPr>
          <p:spPr>
            <a:xfrm>
              <a:off x="9421354" y="3012697"/>
              <a:ext cx="649945" cy="54034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56DA1A5-F177-E654-5FFC-2F075AD7F224}"/>
              </a:ext>
            </a:extLst>
          </p:cNvPr>
          <p:cNvGrpSpPr/>
          <p:nvPr/>
        </p:nvGrpSpPr>
        <p:grpSpPr>
          <a:xfrm>
            <a:off x="8137187" y="3924376"/>
            <a:ext cx="2101325" cy="1032426"/>
            <a:chOff x="9430926" y="752031"/>
            <a:chExt cx="2475488" cy="1032426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42B7037-F4B6-7039-FBC0-1DFAD9A81FEC}"/>
                </a:ext>
              </a:extLst>
            </p:cNvPr>
            <p:cNvSpPr/>
            <p:nvPr/>
          </p:nvSpPr>
          <p:spPr>
            <a:xfrm>
              <a:off x="9430926" y="920529"/>
              <a:ext cx="2475488" cy="863928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F9AD269-8F57-C2DB-19DD-A1C51585BE07}"/>
                </a:ext>
              </a:extLst>
            </p:cNvPr>
            <p:cNvSpPr/>
            <p:nvPr/>
          </p:nvSpPr>
          <p:spPr>
            <a:xfrm>
              <a:off x="10370739" y="752031"/>
              <a:ext cx="1378657" cy="37290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 Code Data</a:t>
              </a:r>
            </a:p>
          </p:txBody>
        </p:sp>
        <p:sp>
          <p:nvSpPr>
            <p:cNvPr id="84" name="Rounded Rectangle 83">
              <a:extLst>
                <a:ext uri="{FF2B5EF4-FFF2-40B4-BE49-F238E27FC236}">
                  <a16:creationId xmlns:a16="http://schemas.microsoft.com/office/drawing/2014/main" id="{D9135FEB-E3CC-E0D8-F939-E805DBFF36AA}"/>
                </a:ext>
              </a:extLst>
            </p:cNvPr>
            <p:cNvSpPr/>
            <p:nvPr/>
          </p:nvSpPr>
          <p:spPr>
            <a:xfrm>
              <a:off x="9522081" y="1211395"/>
              <a:ext cx="1008673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Code Diffs</a:t>
              </a:r>
            </a:p>
          </p:txBody>
        </p:sp>
      </p:grp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56D45BC-453D-C979-1681-7D0D54D32C49}"/>
              </a:ext>
            </a:extLst>
          </p:cNvPr>
          <p:cNvCxnSpPr>
            <a:cxnSpLocks/>
            <a:stCxn id="51" idx="0"/>
            <a:endCxn id="58" idx="1"/>
          </p:cNvCxnSpPr>
          <p:nvPr/>
        </p:nvCxnSpPr>
        <p:spPr>
          <a:xfrm flipV="1">
            <a:off x="1820578" y="1746469"/>
            <a:ext cx="945899" cy="168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EEEAC33-DB5B-A197-A211-4A3631520FFF}"/>
              </a:ext>
            </a:extLst>
          </p:cNvPr>
          <p:cNvCxnSpPr>
            <a:cxnSpLocks/>
            <a:stCxn id="42" idx="0"/>
          </p:cNvCxnSpPr>
          <p:nvPr/>
        </p:nvCxnSpPr>
        <p:spPr>
          <a:xfrm flipV="1">
            <a:off x="1850185" y="3400971"/>
            <a:ext cx="921848" cy="168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594EDD7-DB65-2EF0-A989-3435618B265C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1882794" y="4955165"/>
            <a:ext cx="861607" cy="14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86EC448B-FC98-203D-5D81-373F46815439}"/>
              </a:ext>
            </a:extLst>
          </p:cNvPr>
          <p:cNvSpPr/>
          <p:nvPr/>
        </p:nvSpPr>
        <p:spPr>
          <a:xfrm>
            <a:off x="2219453" y="3104003"/>
            <a:ext cx="230000" cy="24407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0C7C0A7-40DD-B30C-9F98-00EEBBA96342}"/>
              </a:ext>
            </a:extLst>
          </p:cNvPr>
          <p:cNvCxnSpPr>
            <a:cxnSpLocks/>
            <a:endCxn id="76" idx="1"/>
          </p:cNvCxnSpPr>
          <p:nvPr/>
        </p:nvCxnSpPr>
        <p:spPr>
          <a:xfrm>
            <a:off x="4135730" y="4965936"/>
            <a:ext cx="508160" cy="94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9B78FF1-F66E-29C1-3DE1-5FACAE8FB21B}"/>
              </a:ext>
            </a:extLst>
          </p:cNvPr>
          <p:cNvCxnSpPr>
            <a:cxnSpLocks/>
          </p:cNvCxnSpPr>
          <p:nvPr/>
        </p:nvCxnSpPr>
        <p:spPr>
          <a:xfrm flipV="1">
            <a:off x="4039316" y="3414160"/>
            <a:ext cx="308048" cy="1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24229570-2F69-FAD0-49B8-334439161839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4357070" y="1746105"/>
            <a:ext cx="281746" cy="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F463FD3-9F46-8D97-09B1-5F0ED6812F86}"/>
              </a:ext>
            </a:extLst>
          </p:cNvPr>
          <p:cNvCxnSpPr>
            <a:cxnSpLocks/>
          </p:cNvCxnSpPr>
          <p:nvPr/>
        </p:nvCxnSpPr>
        <p:spPr>
          <a:xfrm flipV="1">
            <a:off x="6117449" y="1731906"/>
            <a:ext cx="1004879" cy="17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F5B2966F-1349-830C-3930-76573C05E57A}"/>
              </a:ext>
            </a:extLst>
          </p:cNvPr>
          <p:cNvSpPr/>
          <p:nvPr/>
        </p:nvSpPr>
        <p:spPr>
          <a:xfrm>
            <a:off x="9580503" y="3031522"/>
            <a:ext cx="243109" cy="2314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</a:rPr>
              <a:t>+</a:t>
            </a:r>
          </a:p>
        </p:txBody>
      </p:sp>
      <p:cxnSp>
        <p:nvCxnSpPr>
          <p:cNvPr id="177" name="Elbow Connector 176">
            <a:extLst>
              <a:ext uri="{FF2B5EF4-FFF2-40B4-BE49-F238E27FC236}">
                <a16:creationId xmlns:a16="http://schemas.microsoft.com/office/drawing/2014/main" id="{F8679A24-FF46-BEC0-53F8-5081D4FBD0D7}"/>
              </a:ext>
            </a:extLst>
          </p:cNvPr>
          <p:cNvCxnSpPr>
            <a:cxnSpLocks/>
            <a:stCxn id="70" idx="3"/>
          </p:cNvCxnSpPr>
          <p:nvPr/>
        </p:nvCxnSpPr>
        <p:spPr>
          <a:xfrm flipV="1">
            <a:off x="6117449" y="1746105"/>
            <a:ext cx="327549" cy="1682895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Elbow Connector 179">
            <a:extLst>
              <a:ext uri="{FF2B5EF4-FFF2-40B4-BE49-F238E27FC236}">
                <a16:creationId xmlns:a16="http://schemas.microsoft.com/office/drawing/2014/main" id="{6D95781B-4B91-CE3F-4EAB-679213247C8F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6002465" y="3415409"/>
            <a:ext cx="440127" cy="1560019"/>
          </a:xfrm>
          <a:prstGeom prst="bentConnector2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957F2880-8300-B734-BF39-3DD6E7528896}"/>
              </a:ext>
            </a:extLst>
          </p:cNvPr>
          <p:cNvSpPr/>
          <p:nvPr/>
        </p:nvSpPr>
        <p:spPr>
          <a:xfrm>
            <a:off x="9140737" y="4377580"/>
            <a:ext cx="969102" cy="431821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>
                <a:solidFill>
                  <a:sysClr val="windowText" lastClr="000000"/>
                </a:solidFill>
              </a:rPr>
              <a:t>PR Changed Files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110B84BB-53AD-3AD0-21E3-62471C94C2EE}"/>
              </a:ext>
            </a:extLst>
          </p:cNvPr>
          <p:cNvGrpSpPr/>
          <p:nvPr/>
        </p:nvGrpSpPr>
        <p:grpSpPr>
          <a:xfrm>
            <a:off x="10990224" y="5038846"/>
            <a:ext cx="1048036" cy="1117878"/>
            <a:chOff x="4270578" y="1523722"/>
            <a:chExt cx="1464486" cy="1117878"/>
          </a:xfrm>
        </p:grpSpPr>
        <p:sp>
          <p:nvSpPr>
            <p:cNvPr id="226" name="Rounded Rectangle 225">
              <a:extLst>
                <a:ext uri="{FF2B5EF4-FFF2-40B4-BE49-F238E27FC236}">
                  <a16:creationId xmlns:a16="http://schemas.microsoft.com/office/drawing/2014/main" id="{7A529AD1-F13C-45ED-FD22-C1D766D814C6}"/>
                </a:ext>
              </a:extLst>
            </p:cNvPr>
            <p:cNvSpPr/>
            <p:nvPr/>
          </p:nvSpPr>
          <p:spPr>
            <a:xfrm>
              <a:off x="4270578" y="1523722"/>
              <a:ext cx="1464486" cy="1117878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/>
            </a:p>
          </p:txBody>
        </p:sp>
        <p:sp>
          <p:nvSpPr>
            <p:cNvPr id="227" name="Rounded Rectangle 226">
              <a:extLst>
                <a:ext uri="{FF2B5EF4-FFF2-40B4-BE49-F238E27FC236}">
                  <a16:creationId xmlns:a16="http://schemas.microsoft.com/office/drawing/2014/main" id="{B4510214-B60A-F070-825F-A8AB6803FE55}"/>
                </a:ext>
              </a:extLst>
            </p:cNvPr>
            <p:cNvSpPr/>
            <p:nvPr/>
          </p:nvSpPr>
          <p:spPr>
            <a:xfrm>
              <a:off x="4399084" y="1672853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Reason</a:t>
              </a:r>
            </a:p>
          </p:txBody>
        </p:sp>
        <p:sp>
          <p:nvSpPr>
            <p:cNvPr id="228" name="Rounded Rectangle 227">
              <a:extLst>
                <a:ext uri="{FF2B5EF4-FFF2-40B4-BE49-F238E27FC236}">
                  <a16:creationId xmlns:a16="http://schemas.microsoft.com/office/drawing/2014/main" id="{29E4661D-FD81-0266-9ADB-F31867CD4746}"/>
                </a:ext>
              </a:extLst>
            </p:cNvPr>
            <p:cNvSpPr/>
            <p:nvPr/>
          </p:nvSpPr>
          <p:spPr>
            <a:xfrm>
              <a:off x="4396494" y="2017079"/>
              <a:ext cx="1231561" cy="51293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Final Result</a:t>
              </a:r>
            </a:p>
          </p:txBody>
        </p:sp>
      </p:grpSp>
      <p:pic>
        <p:nvPicPr>
          <p:cNvPr id="230" name="Graphic 229" descr="Badge Tick1 with solid fill">
            <a:extLst>
              <a:ext uri="{FF2B5EF4-FFF2-40B4-BE49-F238E27FC236}">
                <a16:creationId xmlns:a16="http://schemas.microsoft.com/office/drawing/2014/main" id="{E5FB0F33-129F-26BD-5FD7-64FF22CA9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10430" y="4801125"/>
            <a:ext cx="481570" cy="481570"/>
          </a:xfrm>
          <a:prstGeom prst="rect">
            <a:avLst/>
          </a:prstGeom>
        </p:spPr>
      </p:pic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40AD813D-4629-5F15-E7E3-26E1967BF018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9204414" y="4964657"/>
            <a:ext cx="0" cy="2733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EBA23520-252A-7F22-C720-AEFEB19944FE}"/>
              </a:ext>
            </a:extLst>
          </p:cNvPr>
          <p:cNvCxnSpPr>
            <a:cxnSpLocks/>
          </p:cNvCxnSpPr>
          <p:nvPr/>
        </p:nvCxnSpPr>
        <p:spPr>
          <a:xfrm>
            <a:off x="2161247" y="1762826"/>
            <a:ext cx="3816" cy="165497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52D80864-743C-D7A4-D1F7-FEC190B9208E}"/>
              </a:ext>
            </a:extLst>
          </p:cNvPr>
          <p:cNvGrpSpPr/>
          <p:nvPr/>
        </p:nvGrpSpPr>
        <p:grpSpPr>
          <a:xfrm>
            <a:off x="2766477" y="5498716"/>
            <a:ext cx="1576645" cy="461665"/>
            <a:chOff x="262163" y="6169375"/>
            <a:chExt cx="1576645" cy="461665"/>
          </a:xfrm>
        </p:grpSpPr>
        <p:sp>
          <p:nvSpPr>
            <p:cNvPr id="256" name="Rounded Rectangular Callout 255">
              <a:extLst>
                <a:ext uri="{FF2B5EF4-FFF2-40B4-BE49-F238E27FC236}">
                  <a16:creationId xmlns:a16="http://schemas.microsoft.com/office/drawing/2014/main" id="{9482147A-0A68-CD85-9A5D-CB72B7A06484}"/>
                </a:ext>
              </a:extLst>
            </p:cNvPr>
            <p:cNvSpPr/>
            <p:nvPr/>
          </p:nvSpPr>
          <p:spPr>
            <a:xfrm rot="10800000">
              <a:off x="263871" y="6191235"/>
              <a:ext cx="1574937" cy="398823"/>
            </a:xfrm>
            <a:prstGeom prst="wedgeRoundRectCallout">
              <a:avLst>
                <a:gd name="adj1" fmla="val 32059"/>
                <a:gd name="adj2" fmla="val 95120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1"/>
                </a:solidFill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08C7BED2-4F4F-27AC-D37B-E92682388E13}"/>
                </a:ext>
              </a:extLst>
            </p:cNvPr>
            <p:cNvSpPr txBox="1"/>
            <p:nvPr/>
          </p:nvSpPr>
          <p:spPr>
            <a:xfrm>
              <a:off x="262163" y="6169375"/>
              <a:ext cx="14550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Defective PR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Follow-up PR</a:t>
              </a:r>
            </a:p>
          </p:txBody>
        </p:sp>
      </p:grpSp>
      <p:sp>
        <p:nvSpPr>
          <p:cNvPr id="258" name="Rounded Rectangular Callout 257">
            <a:extLst>
              <a:ext uri="{FF2B5EF4-FFF2-40B4-BE49-F238E27FC236}">
                <a16:creationId xmlns:a16="http://schemas.microsoft.com/office/drawing/2014/main" id="{56643D98-7A5D-04B7-4663-83F749A67237}"/>
              </a:ext>
            </a:extLst>
          </p:cNvPr>
          <p:cNvSpPr/>
          <p:nvPr/>
        </p:nvSpPr>
        <p:spPr>
          <a:xfrm rot="10800000">
            <a:off x="2774252" y="3918694"/>
            <a:ext cx="1570774" cy="445530"/>
          </a:xfrm>
          <a:prstGeom prst="wedgeRoundRectCallout">
            <a:avLst>
              <a:gd name="adj1" fmla="val 32459"/>
              <a:gd name="adj2" fmla="val 8840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316D5BF-552B-EFCF-22CD-BFB5C2FD5B7E}"/>
              </a:ext>
            </a:extLst>
          </p:cNvPr>
          <p:cNvSpPr txBox="1"/>
          <p:nvPr/>
        </p:nvSpPr>
        <p:spPr>
          <a:xfrm>
            <a:off x="2732792" y="3918694"/>
            <a:ext cx="177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PR Scope Creep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Unspecified Literals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B4C0ED-C804-5883-855C-F50D06BB13D0}"/>
              </a:ext>
            </a:extLst>
          </p:cNvPr>
          <p:cNvGrpSpPr/>
          <p:nvPr/>
        </p:nvGrpSpPr>
        <p:grpSpPr>
          <a:xfrm>
            <a:off x="2766477" y="2257984"/>
            <a:ext cx="1775068" cy="471273"/>
            <a:chOff x="2766477" y="2257984"/>
            <a:chExt cx="1775068" cy="471273"/>
          </a:xfrm>
        </p:grpSpPr>
        <p:sp>
          <p:nvSpPr>
            <p:cNvPr id="260" name="Rounded Rectangular Callout 259">
              <a:extLst>
                <a:ext uri="{FF2B5EF4-FFF2-40B4-BE49-F238E27FC236}">
                  <a16:creationId xmlns:a16="http://schemas.microsoft.com/office/drawing/2014/main" id="{AB7003F6-E9B6-1C3C-034A-F9382CB9AC37}"/>
                </a:ext>
              </a:extLst>
            </p:cNvPr>
            <p:cNvSpPr/>
            <p:nvPr/>
          </p:nvSpPr>
          <p:spPr>
            <a:xfrm rot="10800000">
              <a:off x="2779179" y="2257984"/>
              <a:ext cx="1570774" cy="445530"/>
            </a:xfrm>
            <a:prstGeom prst="wedgeRoundRectCallout">
              <a:avLst>
                <a:gd name="adj1" fmla="val 33267"/>
                <a:gd name="adj2" fmla="val 80879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1"/>
                </a:solidFill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94DB7C7F-510E-B2B4-F2C0-4A497F1BD9ED}"/>
                </a:ext>
              </a:extLst>
            </p:cNvPr>
            <p:cNvSpPr txBox="1"/>
            <p:nvPr/>
          </p:nvSpPr>
          <p:spPr>
            <a:xfrm>
              <a:off x="2766477" y="2267592"/>
              <a:ext cx="1775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Incomplete Spec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Issue Evolved</a:t>
              </a:r>
            </a:p>
          </p:txBody>
        </p:sp>
      </p:grpSp>
      <p:sp>
        <p:nvSpPr>
          <p:cNvPr id="269" name="Rounded Rectangular Callout 268">
            <a:extLst>
              <a:ext uri="{FF2B5EF4-FFF2-40B4-BE49-F238E27FC236}">
                <a16:creationId xmlns:a16="http://schemas.microsoft.com/office/drawing/2014/main" id="{76E26239-2FB5-8CBE-AB72-8D52B494E784}"/>
              </a:ext>
            </a:extLst>
          </p:cNvPr>
          <p:cNvSpPr/>
          <p:nvPr/>
        </p:nvSpPr>
        <p:spPr>
          <a:xfrm rot="10800000">
            <a:off x="7046353" y="2191211"/>
            <a:ext cx="1484827" cy="381703"/>
          </a:xfrm>
          <a:prstGeom prst="wedgeRoundRectCallout">
            <a:avLst>
              <a:gd name="adj1" fmla="val -26046"/>
              <a:gd name="adj2" fmla="val 8087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028DF117-006E-2A5B-089E-235CFE8C77C4}"/>
              </a:ext>
            </a:extLst>
          </p:cNvPr>
          <p:cNvSpPr txBox="1"/>
          <p:nvPr/>
        </p:nvSpPr>
        <p:spPr>
          <a:xfrm>
            <a:off x="7008794" y="2164658"/>
            <a:ext cx="177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Others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No Misalignment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B872303-90CD-7AA7-A97B-78119E723CE2}"/>
              </a:ext>
            </a:extLst>
          </p:cNvPr>
          <p:cNvCxnSpPr>
            <a:cxnSpLocks/>
            <a:stCxn id="93" idx="3"/>
            <a:endCxn id="226" idx="1"/>
          </p:cNvCxnSpPr>
          <p:nvPr/>
        </p:nvCxnSpPr>
        <p:spPr>
          <a:xfrm>
            <a:off x="10238512" y="5587897"/>
            <a:ext cx="751712" cy="98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Elbow Connector 312">
            <a:extLst>
              <a:ext uri="{FF2B5EF4-FFF2-40B4-BE49-F238E27FC236}">
                <a16:creationId xmlns:a16="http://schemas.microsoft.com/office/drawing/2014/main" id="{EFAC1253-77DB-517D-0CB6-BAD098AEF42A}"/>
              </a:ext>
            </a:extLst>
          </p:cNvPr>
          <p:cNvCxnSpPr>
            <a:cxnSpLocks/>
          </p:cNvCxnSpPr>
          <p:nvPr/>
        </p:nvCxnSpPr>
        <p:spPr>
          <a:xfrm>
            <a:off x="4317914" y="5117186"/>
            <a:ext cx="2463654" cy="504587"/>
          </a:xfrm>
          <a:prstGeom prst="bentConnector3">
            <a:avLst>
              <a:gd name="adj1" fmla="val 9225"/>
            </a:avLst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Elbow Connector 315">
            <a:extLst>
              <a:ext uri="{FF2B5EF4-FFF2-40B4-BE49-F238E27FC236}">
                <a16:creationId xmlns:a16="http://schemas.microsoft.com/office/drawing/2014/main" id="{4BFD2242-8C2A-2380-6EAB-F83FF39AC732}"/>
              </a:ext>
            </a:extLst>
          </p:cNvPr>
          <p:cNvCxnSpPr>
            <a:cxnSpLocks/>
            <a:stCxn id="96" idx="3"/>
            <a:endCxn id="93" idx="1"/>
          </p:cNvCxnSpPr>
          <p:nvPr/>
        </p:nvCxnSpPr>
        <p:spPr>
          <a:xfrm>
            <a:off x="7608415" y="5125260"/>
            <a:ext cx="561901" cy="462637"/>
          </a:xfrm>
          <a:prstGeom prst="bentConnector3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2C03D453-9CB7-A769-B343-73693B868E48}"/>
              </a:ext>
            </a:extLst>
          </p:cNvPr>
          <p:cNvGrpSpPr/>
          <p:nvPr/>
        </p:nvGrpSpPr>
        <p:grpSpPr>
          <a:xfrm>
            <a:off x="7018404" y="1263617"/>
            <a:ext cx="1531900" cy="782012"/>
            <a:chOff x="7039106" y="1397717"/>
            <a:chExt cx="1504674" cy="782012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5B45510C-DD51-3261-DE2D-2C4B3F01E499}"/>
                </a:ext>
              </a:extLst>
            </p:cNvPr>
            <p:cNvSpPr/>
            <p:nvPr/>
          </p:nvSpPr>
          <p:spPr>
            <a:xfrm>
              <a:off x="7129398" y="1397717"/>
              <a:ext cx="1386665" cy="782012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b="1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30" name="Graphic 329">
              <a:extLst>
                <a:ext uri="{FF2B5EF4-FFF2-40B4-BE49-F238E27FC236}">
                  <a16:creationId xmlns:a16="http://schemas.microsoft.com/office/drawing/2014/main" id="{261E26BC-8E34-0A00-4AB3-73F89FA2F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9106" y="1510261"/>
              <a:ext cx="623732" cy="623732"/>
            </a:xfrm>
            <a:prstGeom prst="rect">
              <a:avLst/>
            </a:prstGeom>
          </p:spPr>
        </p:pic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8B6D5F2D-D1FA-498D-7AFA-8D0B81106138}"/>
                </a:ext>
              </a:extLst>
            </p:cNvPr>
            <p:cNvSpPr txBox="1"/>
            <p:nvPr/>
          </p:nvSpPr>
          <p:spPr>
            <a:xfrm>
              <a:off x="7442404" y="1559858"/>
              <a:ext cx="11013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Coordinator </a:t>
              </a:r>
            </a:p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Agent</a:t>
              </a:r>
            </a:p>
          </p:txBody>
        </p:sp>
      </p:grp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982FA2D8-280E-6FFE-C363-08B656AA8476}"/>
              </a:ext>
            </a:extLst>
          </p:cNvPr>
          <p:cNvCxnSpPr>
            <a:cxnSpLocks/>
            <a:stCxn id="331" idx="3"/>
          </p:cNvCxnSpPr>
          <p:nvPr/>
        </p:nvCxnSpPr>
        <p:spPr>
          <a:xfrm>
            <a:off x="8550304" y="1687368"/>
            <a:ext cx="2232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0" name="Graphic 349">
            <a:extLst>
              <a:ext uri="{FF2B5EF4-FFF2-40B4-BE49-F238E27FC236}">
                <a16:creationId xmlns:a16="http://schemas.microsoft.com/office/drawing/2014/main" id="{B2B005F3-C1EB-77F7-9885-B25F0768E7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9398" y="5151576"/>
            <a:ext cx="872641" cy="872641"/>
          </a:xfrm>
          <a:prstGeom prst="rect">
            <a:avLst/>
          </a:prstGeom>
        </p:spPr>
      </p:pic>
      <p:grpSp>
        <p:nvGrpSpPr>
          <p:cNvPr id="360" name="Group 359">
            <a:extLst>
              <a:ext uri="{FF2B5EF4-FFF2-40B4-BE49-F238E27FC236}">
                <a16:creationId xmlns:a16="http://schemas.microsoft.com/office/drawing/2014/main" id="{52400848-19A1-51F6-A2D8-5D930BF6CD2F}"/>
              </a:ext>
            </a:extLst>
          </p:cNvPr>
          <p:cNvGrpSpPr/>
          <p:nvPr/>
        </p:nvGrpSpPr>
        <p:grpSpPr>
          <a:xfrm>
            <a:off x="2769091" y="3030968"/>
            <a:ext cx="1594852" cy="699724"/>
            <a:chOff x="320347" y="5968486"/>
            <a:chExt cx="1274238" cy="699724"/>
          </a:xfrm>
        </p:grpSpPr>
        <p:sp>
          <p:nvSpPr>
            <p:cNvPr id="357" name="Rounded Rectangle 356">
              <a:extLst>
                <a:ext uri="{FF2B5EF4-FFF2-40B4-BE49-F238E27FC236}">
                  <a16:creationId xmlns:a16="http://schemas.microsoft.com/office/drawing/2014/main" id="{B311F47A-F7FC-EE7F-7849-F66AF441EE10}"/>
                </a:ext>
              </a:extLst>
            </p:cNvPr>
            <p:cNvSpPr/>
            <p:nvPr/>
          </p:nvSpPr>
          <p:spPr>
            <a:xfrm>
              <a:off x="320347" y="5968486"/>
              <a:ext cx="1274238" cy="69972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653A8992-D9B5-CDFE-6F50-CEB7CD1F9AA9}"/>
                </a:ext>
              </a:extLst>
            </p:cNvPr>
            <p:cNvSpPr txBox="1"/>
            <p:nvPr/>
          </p:nvSpPr>
          <p:spPr>
            <a:xfrm>
              <a:off x="749585" y="6043892"/>
              <a:ext cx="72188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PR Scope </a:t>
              </a:r>
            </a:p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Analyzer</a:t>
              </a: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AAC8EA1E-3874-5091-2BCD-AF47E33EAC26}"/>
              </a:ext>
            </a:extLst>
          </p:cNvPr>
          <p:cNvGrpSpPr/>
          <p:nvPr/>
        </p:nvGrpSpPr>
        <p:grpSpPr>
          <a:xfrm>
            <a:off x="2693914" y="4625834"/>
            <a:ext cx="1749217" cy="699724"/>
            <a:chOff x="281469" y="5968486"/>
            <a:chExt cx="1749217" cy="699724"/>
          </a:xfrm>
        </p:grpSpPr>
        <p:sp>
          <p:nvSpPr>
            <p:cNvPr id="362" name="Rounded Rectangle 361">
              <a:extLst>
                <a:ext uri="{FF2B5EF4-FFF2-40B4-BE49-F238E27FC236}">
                  <a16:creationId xmlns:a16="http://schemas.microsoft.com/office/drawing/2014/main" id="{193EEAD4-715F-4529-5FDE-2022A3262068}"/>
                </a:ext>
              </a:extLst>
            </p:cNvPr>
            <p:cNvSpPr/>
            <p:nvPr/>
          </p:nvSpPr>
          <p:spPr>
            <a:xfrm>
              <a:off x="320347" y="5968486"/>
              <a:ext cx="1610331" cy="69972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b="1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63" name="Graphic 362">
              <a:extLst>
                <a:ext uri="{FF2B5EF4-FFF2-40B4-BE49-F238E27FC236}">
                  <a16:creationId xmlns:a16="http://schemas.microsoft.com/office/drawing/2014/main" id="{DCE82FA8-F92E-64D0-E101-9397E8118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1469" y="6011812"/>
              <a:ext cx="616181" cy="616181"/>
            </a:xfrm>
            <a:prstGeom prst="rect">
              <a:avLst/>
            </a:prstGeom>
          </p:spPr>
        </p:pic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C25CC9C9-8270-072C-265E-F55A936F0BB0}"/>
                </a:ext>
              </a:extLst>
            </p:cNvPr>
            <p:cNvSpPr txBox="1"/>
            <p:nvPr/>
          </p:nvSpPr>
          <p:spPr>
            <a:xfrm>
              <a:off x="720712" y="6056470"/>
              <a:ext cx="13099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PR Connection </a:t>
              </a:r>
            </a:p>
            <a:p>
              <a:pPr algn="ctr"/>
              <a:r>
                <a:rPr lang="en-CN" sz="1400" b="1" dirty="0">
                  <a:solidFill>
                    <a:sysClr val="windowText" lastClr="000000"/>
                  </a:solidFill>
                </a:rPr>
                <a:t>Analyzer</a:t>
              </a:r>
            </a:p>
          </p:txBody>
        </p:sp>
      </p:grpSp>
      <p:cxnSp>
        <p:nvCxnSpPr>
          <p:cNvPr id="366" name="Straight Arrow Connector 365">
            <a:extLst>
              <a:ext uri="{FF2B5EF4-FFF2-40B4-BE49-F238E27FC236}">
                <a16:creationId xmlns:a16="http://schemas.microsoft.com/office/drawing/2014/main" id="{453B0724-6DFE-2E7D-8B68-E8EB227F3747}"/>
              </a:ext>
            </a:extLst>
          </p:cNvPr>
          <p:cNvCxnSpPr>
            <a:cxnSpLocks/>
          </p:cNvCxnSpPr>
          <p:nvPr/>
        </p:nvCxnSpPr>
        <p:spPr>
          <a:xfrm flipV="1">
            <a:off x="4372443" y="3414095"/>
            <a:ext cx="280982" cy="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2" name="Graphic 371">
            <a:extLst>
              <a:ext uri="{FF2B5EF4-FFF2-40B4-BE49-F238E27FC236}">
                <a16:creationId xmlns:a16="http://schemas.microsoft.com/office/drawing/2014/main" id="{CBA1BF15-388F-C221-6C94-C13F60CC93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4401" y="3080172"/>
            <a:ext cx="616181" cy="61618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3224B4-A551-A1AF-B874-3BF4985F16E2}"/>
              </a:ext>
            </a:extLst>
          </p:cNvPr>
          <p:cNvGrpSpPr/>
          <p:nvPr/>
        </p:nvGrpSpPr>
        <p:grpSpPr>
          <a:xfrm>
            <a:off x="2744401" y="1396607"/>
            <a:ext cx="1612669" cy="699724"/>
            <a:chOff x="2744401" y="1396607"/>
            <a:chExt cx="1612669" cy="699724"/>
          </a:xfrm>
        </p:grpSpPr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C644A4D5-06F0-6435-E928-048B6E9EDE73}"/>
                </a:ext>
              </a:extLst>
            </p:cNvPr>
            <p:cNvGrpSpPr/>
            <p:nvPr/>
          </p:nvGrpSpPr>
          <p:grpSpPr>
            <a:xfrm>
              <a:off x="2766478" y="1396607"/>
              <a:ext cx="1590592" cy="699724"/>
              <a:chOff x="2777337" y="1530707"/>
              <a:chExt cx="1274238" cy="699724"/>
            </a:xfrm>
          </p:grpSpPr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CDF7C78A-0947-ACEC-2F59-7A969448839C}"/>
                  </a:ext>
                </a:extLst>
              </p:cNvPr>
              <p:cNvSpPr/>
              <p:nvPr/>
            </p:nvSpPr>
            <p:spPr>
              <a:xfrm>
                <a:off x="2777337" y="1530707"/>
                <a:ext cx="1274238" cy="69972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4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B4F9079E-070F-7034-0234-1F682F20FA88}"/>
                  </a:ext>
                </a:extLst>
              </p:cNvPr>
              <p:cNvSpPr txBox="1"/>
              <p:nvPr/>
            </p:nvSpPr>
            <p:spPr>
              <a:xfrm>
                <a:off x="3218819" y="1606102"/>
                <a:ext cx="6645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1400" b="1" dirty="0">
                    <a:solidFill>
                      <a:sysClr val="windowText" lastClr="000000"/>
                    </a:solidFill>
                  </a:rPr>
                  <a:t>Issue </a:t>
                </a:r>
              </a:p>
              <a:p>
                <a:pPr algn="ctr"/>
                <a:r>
                  <a:rPr lang="en-CN" sz="1400" b="1" dirty="0">
                    <a:solidFill>
                      <a:sysClr val="windowText" lastClr="000000"/>
                    </a:solidFill>
                  </a:rPr>
                  <a:t>Analyzer</a:t>
                </a:r>
              </a:p>
            </p:txBody>
          </p:sp>
        </p:grpSp>
        <p:pic>
          <p:nvPicPr>
            <p:cNvPr id="373" name="Graphic 372">
              <a:extLst>
                <a:ext uri="{FF2B5EF4-FFF2-40B4-BE49-F238E27FC236}">
                  <a16:creationId xmlns:a16="http://schemas.microsoft.com/office/drawing/2014/main" id="{BDFFC2B0-27E8-3426-DCA6-C9B0FBDE0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44401" y="1431487"/>
              <a:ext cx="616181" cy="616181"/>
            </a:xfrm>
            <a:prstGeom prst="rect">
              <a:avLst/>
            </a:prstGeom>
          </p:spPr>
        </p:pic>
      </p:grp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5B0D7F2F-9899-7923-B6A1-A4ABB8F5E010}"/>
              </a:ext>
            </a:extLst>
          </p:cNvPr>
          <p:cNvCxnSpPr>
            <a:stCxn id="88" idx="2"/>
            <a:endCxn id="83" idx="0"/>
          </p:cNvCxnSpPr>
          <p:nvPr/>
        </p:nvCxnSpPr>
        <p:spPr>
          <a:xfrm>
            <a:off x="9513941" y="2270446"/>
            <a:ext cx="6148" cy="1653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2" name="Graphic 381">
            <a:extLst>
              <a:ext uri="{FF2B5EF4-FFF2-40B4-BE49-F238E27FC236}">
                <a16:creationId xmlns:a16="http://schemas.microsoft.com/office/drawing/2014/main" id="{1D3CB237-A408-DC27-EE39-8149FA57A9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79778" y="4393913"/>
            <a:ext cx="724026" cy="819726"/>
          </a:xfrm>
          <a:prstGeom prst="rect">
            <a:avLst/>
          </a:prstGeom>
        </p:spPr>
      </p:pic>
      <p:sp>
        <p:nvSpPr>
          <p:cNvPr id="405" name="TextBox 404">
            <a:extLst>
              <a:ext uri="{FF2B5EF4-FFF2-40B4-BE49-F238E27FC236}">
                <a16:creationId xmlns:a16="http://schemas.microsoft.com/office/drawing/2014/main" id="{F5E64BF1-1FDF-58DD-E6F4-62BA5483A2FE}"/>
              </a:ext>
            </a:extLst>
          </p:cNvPr>
          <p:cNvSpPr txBox="1"/>
          <p:nvPr/>
        </p:nvSpPr>
        <p:spPr>
          <a:xfrm>
            <a:off x="6866973" y="5141119"/>
            <a:ext cx="757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 b="1" dirty="0">
                <a:solidFill>
                  <a:sysClr val="windowText" lastClr="000000"/>
                </a:solidFill>
              </a:rPr>
              <a:t>Github </a:t>
            </a:r>
          </a:p>
          <a:p>
            <a:pPr algn="ctr"/>
            <a:r>
              <a:rPr lang="en-CN" sz="1400" b="1" dirty="0">
                <a:solidFill>
                  <a:sysClr val="windowText" lastClr="000000"/>
                </a:solidFill>
              </a:rPr>
              <a:t>Crawler</a:t>
            </a:r>
          </a:p>
        </p:txBody>
      </p:sp>
    </p:spTree>
    <p:extLst>
      <p:ext uri="{BB962C8B-B14F-4D97-AF65-F5344CB8AC3E}">
        <p14:creationId xmlns:p14="http://schemas.microsoft.com/office/powerpoint/2010/main" val="707398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Rounded Rectangle 392">
            <a:extLst>
              <a:ext uri="{FF2B5EF4-FFF2-40B4-BE49-F238E27FC236}">
                <a16:creationId xmlns:a16="http://schemas.microsoft.com/office/drawing/2014/main" id="{718CBB7B-AC6C-6481-12B6-D6082D43E2FB}"/>
              </a:ext>
            </a:extLst>
          </p:cNvPr>
          <p:cNvSpPr/>
          <p:nvPr/>
        </p:nvSpPr>
        <p:spPr>
          <a:xfrm>
            <a:off x="7843467" y="441960"/>
            <a:ext cx="2089879" cy="61124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DD684C86-9A06-AC6E-4D37-5C2342B56ABB}"/>
              </a:ext>
            </a:extLst>
          </p:cNvPr>
          <p:cNvGrpSpPr/>
          <p:nvPr/>
        </p:nvGrpSpPr>
        <p:grpSpPr>
          <a:xfrm>
            <a:off x="-3441" y="768701"/>
            <a:ext cx="1761733" cy="1161930"/>
            <a:chOff x="93162" y="1415597"/>
            <a:chExt cx="1761733" cy="1161930"/>
          </a:xfrm>
        </p:grpSpPr>
        <p:sp>
          <p:nvSpPr>
            <p:cNvPr id="263" name="Rounded Rectangle 262">
              <a:extLst>
                <a:ext uri="{FF2B5EF4-FFF2-40B4-BE49-F238E27FC236}">
                  <a16:creationId xmlns:a16="http://schemas.microsoft.com/office/drawing/2014/main" id="{F7D22B4D-1551-E764-16B6-7A885E173CA6}"/>
                </a:ext>
              </a:extLst>
            </p:cNvPr>
            <p:cNvSpPr/>
            <p:nvPr/>
          </p:nvSpPr>
          <p:spPr>
            <a:xfrm>
              <a:off x="93162" y="1415597"/>
              <a:ext cx="1521080" cy="116193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264" name="Rounded Rectangle 263">
              <a:extLst>
                <a:ext uri="{FF2B5EF4-FFF2-40B4-BE49-F238E27FC236}">
                  <a16:creationId xmlns:a16="http://schemas.microsoft.com/office/drawing/2014/main" id="{F18E077E-DDDC-95F6-0F41-A4622AA8E648}"/>
                </a:ext>
              </a:extLst>
            </p:cNvPr>
            <p:cNvSpPr/>
            <p:nvPr/>
          </p:nvSpPr>
          <p:spPr>
            <a:xfrm>
              <a:off x="191381" y="1529779"/>
              <a:ext cx="1088923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Problem Statement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AA38B523-9D8B-1EBB-880B-B8019FBF7515}"/>
                </a:ext>
              </a:extLst>
            </p:cNvPr>
            <p:cNvSpPr/>
            <p:nvPr/>
          </p:nvSpPr>
          <p:spPr>
            <a:xfrm rot="5400000">
              <a:off x="1104410" y="1746619"/>
              <a:ext cx="967324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Issue-Side Information</a:t>
              </a:r>
            </a:p>
          </p:txBody>
        </p:sp>
        <p:sp>
          <p:nvSpPr>
            <p:cNvPr id="266" name="Rounded Rectangle 265">
              <a:extLst>
                <a:ext uri="{FF2B5EF4-FFF2-40B4-BE49-F238E27FC236}">
                  <a16:creationId xmlns:a16="http://schemas.microsoft.com/office/drawing/2014/main" id="{7587F9C8-313F-E718-1646-684CA7D6DC04}"/>
                </a:ext>
              </a:extLst>
            </p:cNvPr>
            <p:cNvSpPr/>
            <p:nvPr/>
          </p:nvSpPr>
          <p:spPr>
            <a:xfrm>
              <a:off x="191381" y="2065282"/>
              <a:ext cx="1088923" cy="4318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Issue Discussion</a:t>
              </a:r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1534C96F-C471-8ECC-2A70-9374D399A8B7}"/>
              </a:ext>
            </a:extLst>
          </p:cNvPr>
          <p:cNvGrpSpPr/>
          <p:nvPr/>
        </p:nvGrpSpPr>
        <p:grpSpPr>
          <a:xfrm>
            <a:off x="-15237" y="2278546"/>
            <a:ext cx="1840752" cy="2516908"/>
            <a:chOff x="-28078" y="2609885"/>
            <a:chExt cx="1840752" cy="2516908"/>
          </a:xfrm>
        </p:grpSpPr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8C9A2ED7-4B79-0E36-4036-D129C1C4B8D8}"/>
                </a:ext>
              </a:extLst>
            </p:cNvPr>
            <p:cNvGrpSpPr/>
            <p:nvPr/>
          </p:nvGrpSpPr>
          <p:grpSpPr>
            <a:xfrm>
              <a:off x="-28078" y="2609885"/>
              <a:ext cx="1840752" cy="2516908"/>
              <a:chOff x="53903" y="2901900"/>
              <a:chExt cx="1840752" cy="2516908"/>
            </a:xfrm>
          </p:grpSpPr>
          <p:sp>
            <p:nvSpPr>
              <p:cNvPr id="268" name="Rounded Rectangle 267">
                <a:extLst>
                  <a:ext uri="{FF2B5EF4-FFF2-40B4-BE49-F238E27FC236}">
                    <a16:creationId xmlns:a16="http://schemas.microsoft.com/office/drawing/2014/main" id="{42D751E8-CDA9-F28C-5C3E-55AEB5B81CE5}"/>
                  </a:ext>
                </a:extLst>
              </p:cNvPr>
              <p:cNvSpPr/>
              <p:nvPr/>
            </p:nvSpPr>
            <p:spPr>
              <a:xfrm>
                <a:off x="53903" y="2901900"/>
                <a:ext cx="1507226" cy="2516908"/>
              </a:xfrm>
              <a:prstGeom prst="round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dirty="0"/>
              </a:p>
            </p:txBody>
          </p:sp>
          <p:sp>
            <p:nvSpPr>
              <p:cNvPr id="269" name="Rounded Rectangle 268">
                <a:extLst>
                  <a:ext uri="{FF2B5EF4-FFF2-40B4-BE49-F238E27FC236}">
                    <a16:creationId xmlns:a16="http://schemas.microsoft.com/office/drawing/2014/main" id="{59EA393F-B5B6-33AA-E56C-D4CB5122FAAE}"/>
                  </a:ext>
                </a:extLst>
              </p:cNvPr>
              <p:cNvSpPr/>
              <p:nvPr/>
            </p:nvSpPr>
            <p:spPr>
              <a:xfrm>
                <a:off x="173868" y="3008353"/>
                <a:ext cx="1106439" cy="43182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200" dirty="0">
                    <a:solidFill>
                      <a:sysClr val="windowText" lastClr="000000"/>
                    </a:solidFill>
                  </a:rPr>
                  <a:t>PR Description</a:t>
                </a: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0B78E315-86B8-320D-6D0A-6DA7E3847BE1}"/>
                  </a:ext>
                </a:extLst>
              </p:cNvPr>
              <p:cNvSpPr/>
              <p:nvPr/>
            </p:nvSpPr>
            <p:spPr>
              <a:xfrm rot="5400000">
                <a:off x="925444" y="3930396"/>
                <a:ext cx="1404775" cy="53364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200" b="1" dirty="0">
                    <a:solidFill>
                      <a:sysClr val="windowText" lastClr="000000"/>
                    </a:solidFill>
                  </a:rPr>
                  <a:t>PR-Side Information</a:t>
                </a:r>
              </a:p>
            </p:txBody>
          </p:sp>
          <p:sp>
            <p:nvSpPr>
              <p:cNvPr id="271" name="Rounded Rectangle 270">
                <a:extLst>
                  <a:ext uri="{FF2B5EF4-FFF2-40B4-BE49-F238E27FC236}">
                    <a16:creationId xmlns:a16="http://schemas.microsoft.com/office/drawing/2014/main" id="{655E691D-8930-7B84-B6C1-3EFDF89C9477}"/>
                  </a:ext>
                </a:extLst>
              </p:cNvPr>
              <p:cNvSpPr/>
              <p:nvPr/>
            </p:nvSpPr>
            <p:spPr>
              <a:xfrm>
                <a:off x="175329" y="3494830"/>
                <a:ext cx="1104977" cy="43182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200" dirty="0">
                    <a:solidFill>
                      <a:sysClr val="windowText" lastClr="000000"/>
                    </a:solidFill>
                  </a:rPr>
                  <a:t>PR Discussion</a:t>
                </a:r>
              </a:p>
            </p:txBody>
          </p:sp>
          <p:sp>
            <p:nvSpPr>
              <p:cNvPr id="272" name="Rounded Rectangle 271">
                <a:extLst>
                  <a:ext uri="{FF2B5EF4-FFF2-40B4-BE49-F238E27FC236}">
                    <a16:creationId xmlns:a16="http://schemas.microsoft.com/office/drawing/2014/main" id="{A9D024C8-D024-D170-5846-0224BAFBD565}"/>
                  </a:ext>
                </a:extLst>
              </p:cNvPr>
              <p:cNvSpPr/>
              <p:nvPr/>
            </p:nvSpPr>
            <p:spPr>
              <a:xfrm>
                <a:off x="173865" y="4952568"/>
                <a:ext cx="1084219" cy="431821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N" sz="1200" dirty="0">
                    <a:solidFill>
                      <a:sysClr val="windowText" lastClr="000000"/>
                    </a:solidFill>
                  </a:rPr>
                  <a:t>Code Diff</a:t>
                </a:r>
              </a:p>
            </p:txBody>
          </p:sp>
        </p:grpSp>
        <p:sp>
          <p:nvSpPr>
            <p:cNvPr id="273" name="Rounded Rectangle 272">
              <a:extLst>
                <a:ext uri="{FF2B5EF4-FFF2-40B4-BE49-F238E27FC236}">
                  <a16:creationId xmlns:a16="http://schemas.microsoft.com/office/drawing/2014/main" id="{48ADB28D-1F65-6F92-5FE0-29FE6C447E80}"/>
                </a:ext>
              </a:extLst>
            </p:cNvPr>
            <p:cNvSpPr/>
            <p:nvPr/>
          </p:nvSpPr>
          <p:spPr>
            <a:xfrm>
              <a:off x="119965" y="3713621"/>
              <a:ext cx="1084219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Code Review</a:t>
              </a:r>
            </a:p>
          </p:txBody>
        </p:sp>
        <p:sp>
          <p:nvSpPr>
            <p:cNvPr id="274" name="Rounded Rectangle 273">
              <a:extLst>
                <a:ext uri="{FF2B5EF4-FFF2-40B4-BE49-F238E27FC236}">
                  <a16:creationId xmlns:a16="http://schemas.microsoft.com/office/drawing/2014/main" id="{E607F49D-8DBC-6467-679E-E288A278C985}"/>
                </a:ext>
              </a:extLst>
            </p:cNvPr>
            <p:cNvSpPr/>
            <p:nvPr/>
          </p:nvSpPr>
          <p:spPr>
            <a:xfrm>
              <a:off x="119963" y="4200098"/>
              <a:ext cx="1084219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Commits</a:t>
              </a:r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C3DE974-5CBF-7764-D51B-93012FE5DE12}"/>
              </a:ext>
            </a:extLst>
          </p:cNvPr>
          <p:cNvGrpSpPr/>
          <p:nvPr/>
        </p:nvGrpSpPr>
        <p:grpSpPr>
          <a:xfrm>
            <a:off x="9015" y="5124962"/>
            <a:ext cx="1773528" cy="1323979"/>
            <a:chOff x="106970" y="4684014"/>
            <a:chExt cx="1773528" cy="1323979"/>
          </a:xfrm>
        </p:grpSpPr>
        <p:sp>
          <p:nvSpPr>
            <p:cNvPr id="276" name="Rounded Rectangle 275">
              <a:extLst>
                <a:ext uri="{FF2B5EF4-FFF2-40B4-BE49-F238E27FC236}">
                  <a16:creationId xmlns:a16="http://schemas.microsoft.com/office/drawing/2014/main" id="{A49F2BF6-FECB-FF23-0DB0-CD1219FB5FF0}"/>
                </a:ext>
              </a:extLst>
            </p:cNvPr>
            <p:cNvSpPr/>
            <p:nvPr/>
          </p:nvSpPr>
          <p:spPr>
            <a:xfrm>
              <a:off x="106970" y="4684014"/>
              <a:ext cx="1470451" cy="1323979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277" name="Rounded Rectangle 276">
              <a:extLst>
                <a:ext uri="{FF2B5EF4-FFF2-40B4-BE49-F238E27FC236}">
                  <a16:creationId xmlns:a16="http://schemas.microsoft.com/office/drawing/2014/main" id="{39EAF1EB-3FE0-5AF7-C500-0A118B4FC975}"/>
                </a:ext>
              </a:extLst>
            </p:cNvPr>
            <p:cNvSpPr/>
            <p:nvPr/>
          </p:nvSpPr>
          <p:spPr>
            <a:xfrm>
              <a:off x="240402" y="4746915"/>
              <a:ext cx="1026680" cy="5184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Cross-referenced PRs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3BE4DE2C-BAD7-3173-FC18-AF6A3648B2BD}"/>
                </a:ext>
              </a:extLst>
            </p:cNvPr>
            <p:cNvSpPr/>
            <p:nvPr/>
          </p:nvSpPr>
          <p:spPr>
            <a:xfrm rot="5400000">
              <a:off x="1038382" y="5082812"/>
              <a:ext cx="1150586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Cross-referenced Information</a:t>
              </a:r>
            </a:p>
          </p:txBody>
        </p:sp>
        <p:sp>
          <p:nvSpPr>
            <p:cNvPr id="279" name="Rounded Rectangle 278">
              <a:extLst>
                <a:ext uri="{FF2B5EF4-FFF2-40B4-BE49-F238E27FC236}">
                  <a16:creationId xmlns:a16="http://schemas.microsoft.com/office/drawing/2014/main" id="{49D50A40-0DC6-8809-348A-23C1EC647CB7}"/>
                </a:ext>
              </a:extLst>
            </p:cNvPr>
            <p:cNvSpPr/>
            <p:nvPr/>
          </p:nvSpPr>
          <p:spPr>
            <a:xfrm>
              <a:off x="249154" y="5328300"/>
              <a:ext cx="1022736" cy="59662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Cross-referenced Issues</a:t>
              </a:r>
            </a:p>
          </p:txBody>
        </p:sp>
      </p:grpSp>
      <p:sp>
        <p:nvSpPr>
          <p:cNvPr id="299" name="Rounded Rectangle 298">
            <a:extLst>
              <a:ext uri="{FF2B5EF4-FFF2-40B4-BE49-F238E27FC236}">
                <a16:creationId xmlns:a16="http://schemas.microsoft.com/office/drawing/2014/main" id="{94DEAE1D-F7AD-DA0D-5D05-FCA3F2BF882D}"/>
              </a:ext>
            </a:extLst>
          </p:cNvPr>
          <p:cNvSpPr/>
          <p:nvPr/>
        </p:nvSpPr>
        <p:spPr>
          <a:xfrm>
            <a:off x="2024424" y="303607"/>
            <a:ext cx="5752317" cy="62980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53B410E3-B4D8-82E5-2337-380307735378}"/>
              </a:ext>
            </a:extLst>
          </p:cNvPr>
          <p:cNvSpPr/>
          <p:nvPr/>
        </p:nvSpPr>
        <p:spPr>
          <a:xfrm>
            <a:off x="2252602" y="288397"/>
            <a:ext cx="2948386" cy="521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Phase I: Specific Misalignment Identification</a:t>
            </a:r>
          </a:p>
        </p:txBody>
      </p:sp>
      <p:sp>
        <p:nvSpPr>
          <p:cNvPr id="301" name="Rounded Rectangle 300">
            <a:extLst>
              <a:ext uri="{FF2B5EF4-FFF2-40B4-BE49-F238E27FC236}">
                <a16:creationId xmlns:a16="http://schemas.microsoft.com/office/drawing/2014/main" id="{231E837C-E2EF-6A22-4410-FDAA08D3415A}"/>
              </a:ext>
            </a:extLst>
          </p:cNvPr>
          <p:cNvSpPr/>
          <p:nvPr/>
        </p:nvSpPr>
        <p:spPr>
          <a:xfrm>
            <a:off x="2213678" y="896730"/>
            <a:ext cx="3385591" cy="52644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DCA9D86-C96C-F3EA-7C16-01285065A01A}"/>
              </a:ext>
            </a:extLst>
          </p:cNvPr>
          <p:cNvGrpSpPr/>
          <p:nvPr/>
        </p:nvGrpSpPr>
        <p:grpSpPr>
          <a:xfrm>
            <a:off x="3985046" y="1207911"/>
            <a:ext cx="1464486" cy="1147283"/>
            <a:chOff x="4270578" y="1494317"/>
            <a:chExt cx="1464486" cy="1147283"/>
          </a:xfrm>
        </p:grpSpPr>
        <p:sp>
          <p:nvSpPr>
            <p:cNvPr id="303" name="Rounded Rectangle 302">
              <a:extLst>
                <a:ext uri="{FF2B5EF4-FFF2-40B4-BE49-F238E27FC236}">
                  <a16:creationId xmlns:a16="http://schemas.microsoft.com/office/drawing/2014/main" id="{84F0127D-7416-027F-2585-6083597B270B}"/>
                </a:ext>
              </a:extLst>
            </p:cNvPr>
            <p:cNvSpPr/>
            <p:nvPr/>
          </p:nvSpPr>
          <p:spPr>
            <a:xfrm>
              <a:off x="4270578" y="1494317"/>
              <a:ext cx="1464486" cy="114728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304" name="Rounded Rectangle 303">
              <a:extLst>
                <a:ext uri="{FF2B5EF4-FFF2-40B4-BE49-F238E27FC236}">
                  <a16:creationId xmlns:a16="http://schemas.microsoft.com/office/drawing/2014/main" id="{DA63874D-B4CE-AF5C-00C1-F4C160F20250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305" name="Rounded Rectangle 304">
              <a:extLst>
                <a:ext uri="{FF2B5EF4-FFF2-40B4-BE49-F238E27FC236}">
                  <a16:creationId xmlns:a16="http://schemas.microsoft.com/office/drawing/2014/main" id="{44B085C1-F83F-022F-C616-23EB2AC1DDF1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306" name="Rounded Rectangle 305">
              <a:extLst>
                <a:ext uri="{FF2B5EF4-FFF2-40B4-BE49-F238E27FC236}">
                  <a16:creationId xmlns:a16="http://schemas.microsoft.com/office/drawing/2014/main" id="{A8B834F7-863A-6B80-BEB0-23CE616C5D2B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15B60D57-18E5-608C-8960-88AA9769FF2A}"/>
              </a:ext>
            </a:extLst>
          </p:cNvPr>
          <p:cNvGrpSpPr/>
          <p:nvPr/>
        </p:nvGrpSpPr>
        <p:grpSpPr>
          <a:xfrm>
            <a:off x="3995124" y="2851173"/>
            <a:ext cx="1464486" cy="1132301"/>
            <a:chOff x="4270578" y="1509299"/>
            <a:chExt cx="1464486" cy="1132301"/>
          </a:xfrm>
        </p:grpSpPr>
        <p:sp>
          <p:nvSpPr>
            <p:cNvPr id="308" name="Rounded Rectangle 307">
              <a:extLst>
                <a:ext uri="{FF2B5EF4-FFF2-40B4-BE49-F238E27FC236}">
                  <a16:creationId xmlns:a16="http://schemas.microsoft.com/office/drawing/2014/main" id="{EF9CB534-5636-8A0D-183B-1A04F141A190}"/>
                </a:ext>
              </a:extLst>
            </p:cNvPr>
            <p:cNvSpPr/>
            <p:nvPr/>
          </p:nvSpPr>
          <p:spPr>
            <a:xfrm>
              <a:off x="4270578" y="1509299"/>
              <a:ext cx="1464486" cy="113230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309" name="Rounded Rectangle 308">
              <a:extLst>
                <a:ext uri="{FF2B5EF4-FFF2-40B4-BE49-F238E27FC236}">
                  <a16:creationId xmlns:a16="http://schemas.microsoft.com/office/drawing/2014/main" id="{73E87737-EB91-8048-29C6-2784FFE5B93F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310" name="Rounded Rectangle 309">
              <a:extLst>
                <a:ext uri="{FF2B5EF4-FFF2-40B4-BE49-F238E27FC236}">
                  <a16:creationId xmlns:a16="http://schemas.microsoft.com/office/drawing/2014/main" id="{50FB773C-805F-5B81-3DEF-559349CECD74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311" name="Rounded Rectangle 310">
              <a:extLst>
                <a:ext uri="{FF2B5EF4-FFF2-40B4-BE49-F238E27FC236}">
                  <a16:creationId xmlns:a16="http://schemas.microsoft.com/office/drawing/2014/main" id="{EACB55BF-94A5-B601-1B00-EE57CA6DA55D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1218C5B-C873-92CC-40B3-4150220A6FF0}"/>
              </a:ext>
            </a:extLst>
          </p:cNvPr>
          <p:cNvGrpSpPr/>
          <p:nvPr/>
        </p:nvGrpSpPr>
        <p:grpSpPr>
          <a:xfrm>
            <a:off x="4006582" y="4389159"/>
            <a:ext cx="1358575" cy="1147531"/>
            <a:chOff x="4270578" y="1494069"/>
            <a:chExt cx="1464486" cy="1147531"/>
          </a:xfrm>
        </p:grpSpPr>
        <p:sp>
          <p:nvSpPr>
            <p:cNvPr id="313" name="Rounded Rectangle 312">
              <a:extLst>
                <a:ext uri="{FF2B5EF4-FFF2-40B4-BE49-F238E27FC236}">
                  <a16:creationId xmlns:a16="http://schemas.microsoft.com/office/drawing/2014/main" id="{359126F3-1C91-17D9-DD67-4AB54732A406}"/>
                </a:ext>
              </a:extLst>
            </p:cNvPr>
            <p:cNvSpPr/>
            <p:nvPr/>
          </p:nvSpPr>
          <p:spPr>
            <a:xfrm>
              <a:off x="4270578" y="1494069"/>
              <a:ext cx="1464486" cy="1147531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314" name="Rounded Rectangle 313">
              <a:extLst>
                <a:ext uri="{FF2B5EF4-FFF2-40B4-BE49-F238E27FC236}">
                  <a16:creationId xmlns:a16="http://schemas.microsoft.com/office/drawing/2014/main" id="{1D2B8259-3A2D-40AD-27D9-227F6FF44804}"/>
                </a:ext>
              </a:extLst>
            </p:cNvPr>
            <p:cNvSpPr/>
            <p:nvPr/>
          </p:nvSpPr>
          <p:spPr>
            <a:xfrm>
              <a:off x="4387041" y="1639229"/>
              <a:ext cx="1231559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Evidence</a:t>
              </a:r>
            </a:p>
          </p:txBody>
        </p:sp>
        <p:sp>
          <p:nvSpPr>
            <p:cNvPr id="315" name="Rounded Rectangle 314">
              <a:extLst>
                <a:ext uri="{FF2B5EF4-FFF2-40B4-BE49-F238E27FC236}">
                  <a16:creationId xmlns:a16="http://schemas.microsoft.com/office/drawing/2014/main" id="{3415F817-A159-E363-5891-2AC45FCBC97F}"/>
                </a:ext>
              </a:extLst>
            </p:cNvPr>
            <p:cNvSpPr/>
            <p:nvPr/>
          </p:nvSpPr>
          <p:spPr>
            <a:xfrm>
              <a:off x="4396495" y="1962932"/>
              <a:ext cx="1231561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Classfication</a:t>
              </a:r>
            </a:p>
          </p:txBody>
        </p:sp>
        <p:sp>
          <p:nvSpPr>
            <p:cNvPr id="316" name="Rounded Rectangle 315">
              <a:extLst>
                <a:ext uri="{FF2B5EF4-FFF2-40B4-BE49-F238E27FC236}">
                  <a16:creationId xmlns:a16="http://schemas.microsoft.com/office/drawing/2014/main" id="{89E4A951-753F-3C56-E249-26526DDA8D65}"/>
                </a:ext>
              </a:extLst>
            </p:cNvPr>
            <p:cNvSpPr/>
            <p:nvPr/>
          </p:nvSpPr>
          <p:spPr>
            <a:xfrm>
              <a:off x="4387041" y="2273533"/>
              <a:ext cx="1231560" cy="24276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Other Clues</a:t>
              </a:r>
            </a:p>
          </p:txBody>
        </p:sp>
      </p:grp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E2B9C8AD-BCBE-FACA-0C9C-683ABF5C15D1}"/>
              </a:ext>
            </a:extLst>
          </p:cNvPr>
          <p:cNvCxnSpPr>
            <a:cxnSpLocks/>
            <a:endCxn id="313" idx="1"/>
          </p:cNvCxnSpPr>
          <p:nvPr/>
        </p:nvCxnSpPr>
        <p:spPr>
          <a:xfrm>
            <a:off x="3498422" y="4953433"/>
            <a:ext cx="508160" cy="94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584BBB13-71DD-495E-8EDD-44ACD2DB1532}"/>
              </a:ext>
            </a:extLst>
          </p:cNvPr>
          <p:cNvCxnSpPr>
            <a:cxnSpLocks/>
          </p:cNvCxnSpPr>
          <p:nvPr/>
        </p:nvCxnSpPr>
        <p:spPr>
          <a:xfrm flipV="1">
            <a:off x="3598004" y="3387658"/>
            <a:ext cx="308048" cy="1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0585F26D-DDAD-2B34-C2C7-096B557A64B7}"/>
              </a:ext>
            </a:extLst>
          </p:cNvPr>
          <p:cNvCxnSpPr>
            <a:cxnSpLocks/>
            <a:stCxn id="343" idx="3"/>
          </p:cNvCxnSpPr>
          <p:nvPr/>
        </p:nvCxnSpPr>
        <p:spPr>
          <a:xfrm>
            <a:off x="3654639" y="1666674"/>
            <a:ext cx="542865" cy="529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9D75FB2-BB83-A7A6-5F07-B5807C632744}"/>
              </a:ext>
            </a:extLst>
          </p:cNvPr>
          <p:cNvGrpSpPr/>
          <p:nvPr/>
        </p:nvGrpSpPr>
        <p:grpSpPr>
          <a:xfrm>
            <a:off x="2325165" y="5472214"/>
            <a:ext cx="1576645" cy="461665"/>
            <a:chOff x="262163" y="6169375"/>
            <a:chExt cx="1576645" cy="461665"/>
          </a:xfrm>
        </p:grpSpPr>
        <p:sp>
          <p:nvSpPr>
            <p:cNvPr id="324" name="Rounded Rectangular Callout 323">
              <a:extLst>
                <a:ext uri="{FF2B5EF4-FFF2-40B4-BE49-F238E27FC236}">
                  <a16:creationId xmlns:a16="http://schemas.microsoft.com/office/drawing/2014/main" id="{6A127317-1740-CF6D-FC16-7F336DDF686C}"/>
                </a:ext>
              </a:extLst>
            </p:cNvPr>
            <p:cNvSpPr/>
            <p:nvPr/>
          </p:nvSpPr>
          <p:spPr>
            <a:xfrm rot="10800000">
              <a:off x="263871" y="6191235"/>
              <a:ext cx="1574937" cy="398823"/>
            </a:xfrm>
            <a:prstGeom prst="wedgeRoundRectCallout">
              <a:avLst>
                <a:gd name="adj1" fmla="val 32059"/>
                <a:gd name="adj2" fmla="val 95120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1"/>
                </a:solidFill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DA655DC1-CF1F-77AB-AA60-F03055D4211B}"/>
                </a:ext>
              </a:extLst>
            </p:cNvPr>
            <p:cNvSpPr txBox="1"/>
            <p:nvPr/>
          </p:nvSpPr>
          <p:spPr>
            <a:xfrm>
              <a:off x="262163" y="6169375"/>
              <a:ext cx="14550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Defective PR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Follow-up PR</a:t>
              </a:r>
            </a:p>
          </p:txBody>
        </p:sp>
      </p:grpSp>
      <p:sp>
        <p:nvSpPr>
          <p:cNvPr id="326" name="Rounded Rectangular Callout 325">
            <a:extLst>
              <a:ext uri="{FF2B5EF4-FFF2-40B4-BE49-F238E27FC236}">
                <a16:creationId xmlns:a16="http://schemas.microsoft.com/office/drawing/2014/main" id="{0404C809-3C8E-94E5-EDF1-E383F21C74D1}"/>
              </a:ext>
            </a:extLst>
          </p:cNvPr>
          <p:cNvSpPr/>
          <p:nvPr/>
        </p:nvSpPr>
        <p:spPr>
          <a:xfrm rot="10800000">
            <a:off x="2332940" y="3892192"/>
            <a:ext cx="1570774" cy="445530"/>
          </a:xfrm>
          <a:prstGeom prst="wedgeRoundRectCallout">
            <a:avLst>
              <a:gd name="adj1" fmla="val 32459"/>
              <a:gd name="adj2" fmla="val 8840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>
              <a:solidFill>
                <a:schemeClr val="tx1"/>
              </a:solidFill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8B8833B1-D880-7BD6-8D92-B928719304C0}"/>
              </a:ext>
            </a:extLst>
          </p:cNvPr>
          <p:cNvSpPr txBox="1"/>
          <p:nvPr/>
        </p:nvSpPr>
        <p:spPr>
          <a:xfrm>
            <a:off x="2291480" y="3892192"/>
            <a:ext cx="1775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PR Scope Creep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CN" sz="1200" dirty="0"/>
              <a:t>Unspecified Literals</a:t>
            </a: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38871FD3-0A5B-7F8B-8787-F9DB92C9EB8A}"/>
              </a:ext>
            </a:extLst>
          </p:cNvPr>
          <p:cNvGrpSpPr/>
          <p:nvPr/>
        </p:nvGrpSpPr>
        <p:grpSpPr>
          <a:xfrm>
            <a:off x="2325165" y="2231482"/>
            <a:ext cx="1775068" cy="471273"/>
            <a:chOff x="2766477" y="2257984"/>
            <a:chExt cx="1775068" cy="471273"/>
          </a:xfrm>
        </p:grpSpPr>
        <p:sp>
          <p:nvSpPr>
            <p:cNvPr id="329" name="Rounded Rectangular Callout 328">
              <a:extLst>
                <a:ext uri="{FF2B5EF4-FFF2-40B4-BE49-F238E27FC236}">
                  <a16:creationId xmlns:a16="http://schemas.microsoft.com/office/drawing/2014/main" id="{865C4CE8-3EC4-C25C-DCAA-C04596EFECF7}"/>
                </a:ext>
              </a:extLst>
            </p:cNvPr>
            <p:cNvSpPr/>
            <p:nvPr/>
          </p:nvSpPr>
          <p:spPr>
            <a:xfrm rot="10800000">
              <a:off x="2779179" y="2257984"/>
              <a:ext cx="1570774" cy="445530"/>
            </a:xfrm>
            <a:prstGeom prst="wedgeRoundRectCallout">
              <a:avLst>
                <a:gd name="adj1" fmla="val 33267"/>
                <a:gd name="adj2" fmla="val 80879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1"/>
                </a:solidFill>
              </a:endParaRPr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B05924DA-C92A-344F-829E-5EC88F800552}"/>
                </a:ext>
              </a:extLst>
            </p:cNvPr>
            <p:cNvSpPr txBox="1"/>
            <p:nvPr/>
          </p:nvSpPr>
          <p:spPr>
            <a:xfrm>
              <a:off x="2766477" y="2267592"/>
              <a:ext cx="1775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Incomplete Spec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Issue Evolved</a:t>
              </a:r>
            </a:p>
          </p:txBody>
        </p: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9D58C2B1-831C-ADF6-C461-057E11694341}"/>
              </a:ext>
            </a:extLst>
          </p:cNvPr>
          <p:cNvGrpSpPr/>
          <p:nvPr/>
        </p:nvGrpSpPr>
        <p:grpSpPr>
          <a:xfrm>
            <a:off x="2327779" y="3004466"/>
            <a:ext cx="1390326" cy="568177"/>
            <a:chOff x="320347" y="5968486"/>
            <a:chExt cx="1110828" cy="568177"/>
          </a:xfrm>
        </p:grpSpPr>
        <p:sp>
          <p:nvSpPr>
            <p:cNvPr id="332" name="Rounded Rectangle 331">
              <a:extLst>
                <a:ext uri="{FF2B5EF4-FFF2-40B4-BE49-F238E27FC236}">
                  <a16:creationId xmlns:a16="http://schemas.microsoft.com/office/drawing/2014/main" id="{C3260907-AA77-9D76-E9A1-F7CC51DF4D5B}"/>
                </a:ext>
              </a:extLst>
            </p:cNvPr>
            <p:cNvSpPr/>
            <p:nvPr/>
          </p:nvSpPr>
          <p:spPr>
            <a:xfrm>
              <a:off x="320347" y="5968486"/>
              <a:ext cx="1110828" cy="56817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D0952FEB-BF8A-0BF2-AF93-999C7B4745E5}"/>
                </a:ext>
              </a:extLst>
            </p:cNvPr>
            <p:cNvSpPr txBox="1"/>
            <p:nvPr/>
          </p:nvSpPr>
          <p:spPr>
            <a:xfrm>
              <a:off x="789877" y="6043892"/>
              <a:ext cx="6412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PR Scope </a:t>
              </a:r>
            </a:p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Analyzer</a:t>
              </a:r>
            </a:p>
          </p:txBody>
        </p:sp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583C6294-391B-178C-0F1F-72E9E3B65B99}"/>
              </a:ext>
            </a:extLst>
          </p:cNvPr>
          <p:cNvGrpSpPr/>
          <p:nvPr/>
        </p:nvGrpSpPr>
        <p:grpSpPr>
          <a:xfrm>
            <a:off x="2252602" y="4599332"/>
            <a:ext cx="1671471" cy="659507"/>
            <a:chOff x="281469" y="5968486"/>
            <a:chExt cx="1671471" cy="659507"/>
          </a:xfrm>
        </p:grpSpPr>
        <p:sp>
          <p:nvSpPr>
            <p:cNvPr id="335" name="Rounded Rectangle 334">
              <a:extLst>
                <a:ext uri="{FF2B5EF4-FFF2-40B4-BE49-F238E27FC236}">
                  <a16:creationId xmlns:a16="http://schemas.microsoft.com/office/drawing/2014/main" id="{6326369B-E108-A728-F2BE-1C9A17B3547F}"/>
                </a:ext>
              </a:extLst>
            </p:cNvPr>
            <p:cNvSpPr/>
            <p:nvPr/>
          </p:nvSpPr>
          <p:spPr>
            <a:xfrm>
              <a:off x="320347" y="5968486"/>
              <a:ext cx="1488709" cy="54323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36" name="Graphic 335">
              <a:extLst>
                <a:ext uri="{FF2B5EF4-FFF2-40B4-BE49-F238E27FC236}">
                  <a16:creationId xmlns:a16="http://schemas.microsoft.com/office/drawing/2014/main" id="{F6D14694-9A50-EE52-574E-7DBB48901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1469" y="6011812"/>
              <a:ext cx="616181" cy="616181"/>
            </a:xfrm>
            <a:prstGeom prst="rect">
              <a:avLst/>
            </a:prstGeom>
          </p:spPr>
        </p:pic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15108A55-BFA2-EEB8-19BD-AB3733C32DB6}"/>
                </a:ext>
              </a:extLst>
            </p:cNvPr>
            <p:cNvSpPr txBox="1"/>
            <p:nvPr/>
          </p:nvSpPr>
          <p:spPr>
            <a:xfrm>
              <a:off x="798457" y="6056470"/>
              <a:ext cx="11544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PR Connection </a:t>
              </a:r>
            </a:p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Analyzer</a:t>
              </a:r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A5463443-52FD-B5CB-51C5-E2890B2E046D}"/>
              </a:ext>
            </a:extLst>
          </p:cNvPr>
          <p:cNvCxnSpPr>
            <a:cxnSpLocks/>
          </p:cNvCxnSpPr>
          <p:nvPr/>
        </p:nvCxnSpPr>
        <p:spPr>
          <a:xfrm flipV="1">
            <a:off x="3931131" y="3387593"/>
            <a:ext cx="280982" cy="3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9" name="Graphic 338">
            <a:extLst>
              <a:ext uri="{FF2B5EF4-FFF2-40B4-BE49-F238E27FC236}">
                <a16:creationId xmlns:a16="http://schemas.microsoft.com/office/drawing/2014/main" id="{236E4AAB-F6FE-D0A3-07C1-F2DF0F924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3089" y="3053670"/>
            <a:ext cx="616181" cy="616181"/>
          </a:xfrm>
          <a:prstGeom prst="rect">
            <a:avLst/>
          </a:prstGeom>
        </p:spPr>
      </p:pic>
      <p:grpSp>
        <p:nvGrpSpPr>
          <p:cNvPr id="340" name="Group 339">
            <a:extLst>
              <a:ext uri="{FF2B5EF4-FFF2-40B4-BE49-F238E27FC236}">
                <a16:creationId xmlns:a16="http://schemas.microsoft.com/office/drawing/2014/main" id="{2A5C1C59-EEAE-5E36-0E7D-7ABCD0E0B7F5}"/>
              </a:ext>
            </a:extLst>
          </p:cNvPr>
          <p:cNvGrpSpPr/>
          <p:nvPr/>
        </p:nvGrpSpPr>
        <p:grpSpPr>
          <a:xfrm>
            <a:off x="2303089" y="1370105"/>
            <a:ext cx="1355688" cy="651061"/>
            <a:chOff x="2744401" y="1396607"/>
            <a:chExt cx="1355688" cy="651061"/>
          </a:xfrm>
        </p:grpSpPr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EFB87E78-52B3-7F0F-F704-1D386EA1F910}"/>
                </a:ext>
              </a:extLst>
            </p:cNvPr>
            <p:cNvGrpSpPr/>
            <p:nvPr/>
          </p:nvGrpSpPr>
          <p:grpSpPr>
            <a:xfrm>
              <a:off x="2766479" y="1396607"/>
              <a:ext cx="1333610" cy="593138"/>
              <a:chOff x="2777337" y="1530707"/>
              <a:chExt cx="1068367" cy="593138"/>
            </a:xfrm>
          </p:grpSpPr>
          <p:sp>
            <p:nvSpPr>
              <p:cNvPr id="343" name="Rounded Rectangle 342">
                <a:extLst>
                  <a:ext uri="{FF2B5EF4-FFF2-40B4-BE49-F238E27FC236}">
                    <a16:creationId xmlns:a16="http://schemas.microsoft.com/office/drawing/2014/main" id="{BC734DBC-53BF-59A1-0E78-4262200FB3E2}"/>
                  </a:ext>
                </a:extLst>
              </p:cNvPr>
              <p:cNvSpPr/>
              <p:nvPr/>
            </p:nvSpPr>
            <p:spPr>
              <a:xfrm>
                <a:off x="2777337" y="1530707"/>
                <a:ext cx="1065052" cy="59313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A0D2833-30D4-F4DB-0545-3E0C5D8DAD6E}"/>
                  </a:ext>
                </a:extLst>
              </p:cNvPr>
              <p:cNvSpPr txBox="1"/>
              <p:nvPr/>
            </p:nvSpPr>
            <p:spPr>
              <a:xfrm>
                <a:off x="3256471" y="1606102"/>
                <a:ext cx="5892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1200" b="1" dirty="0">
                    <a:solidFill>
                      <a:sysClr val="windowText" lastClr="000000"/>
                    </a:solidFill>
                  </a:rPr>
                  <a:t>Issue </a:t>
                </a:r>
              </a:p>
              <a:p>
                <a:pPr algn="ctr"/>
                <a:r>
                  <a:rPr lang="en-CN" sz="1200" b="1" dirty="0">
                    <a:solidFill>
                      <a:sysClr val="windowText" lastClr="000000"/>
                    </a:solidFill>
                  </a:rPr>
                  <a:t>Analyzer</a:t>
                </a:r>
              </a:p>
            </p:txBody>
          </p:sp>
        </p:grpSp>
        <p:pic>
          <p:nvPicPr>
            <p:cNvPr id="342" name="Graphic 341">
              <a:extLst>
                <a:ext uri="{FF2B5EF4-FFF2-40B4-BE49-F238E27FC236}">
                  <a16:creationId xmlns:a16="http://schemas.microsoft.com/office/drawing/2014/main" id="{1D55F657-9C61-2BEA-47FC-62FFCD96E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44401" y="1431487"/>
              <a:ext cx="616181" cy="616181"/>
            </a:xfrm>
            <a:prstGeom prst="rect">
              <a:avLst/>
            </a:prstGeom>
          </p:spPr>
        </p:pic>
      </p:grpSp>
      <p:sp>
        <p:nvSpPr>
          <p:cNvPr id="346" name="Rectangle 345">
            <a:extLst>
              <a:ext uri="{FF2B5EF4-FFF2-40B4-BE49-F238E27FC236}">
                <a16:creationId xmlns:a16="http://schemas.microsoft.com/office/drawing/2014/main" id="{4C68BA23-836E-367B-D2AA-F40A0EF713E7}"/>
              </a:ext>
            </a:extLst>
          </p:cNvPr>
          <p:cNvSpPr/>
          <p:nvPr/>
        </p:nvSpPr>
        <p:spPr>
          <a:xfrm>
            <a:off x="5595476" y="306325"/>
            <a:ext cx="2088595" cy="52107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Phase I: Specific Misalignment Identification</a:t>
            </a:r>
          </a:p>
        </p:txBody>
      </p:sp>
      <p:sp>
        <p:nvSpPr>
          <p:cNvPr id="347" name="Rounded Rectangle 346">
            <a:extLst>
              <a:ext uri="{FF2B5EF4-FFF2-40B4-BE49-F238E27FC236}">
                <a16:creationId xmlns:a16="http://schemas.microsoft.com/office/drawing/2014/main" id="{CA218389-E8C6-A6B8-57B1-245BE0008408}"/>
              </a:ext>
            </a:extLst>
          </p:cNvPr>
          <p:cNvSpPr/>
          <p:nvPr/>
        </p:nvSpPr>
        <p:spPr>
          <a:xfrm>
            <a:off x="5698436" y="896730"/>
            <a:ext cx="1898722" cy="52644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C0D6E2E1-47A0-737E-E5A8-00D5DDBA10A3}"/>
              </a:ext>
            </a:extLst>
          </p:cNvPr>
          <p:cNvGrpSpPr/>
          <p:nvPr/>
        </p:nvGrpSpPr>
        <p:grpSpPr>
          <a:xfrm>
            <a:off x="5822089" y="2158947"/>
            <a:ext cx="1775068" cy="471273"/>
            <a:chOff x="2766477" y="2257984"/>
            <a:chExt cx="1775068" cy="471273"/>
          </a:xfrm>
        </p:grpSpPr>
        <p:sp>
          <p:nvSpPr>
            <p:cNvPr id="375" name="Rounded Rectangular Callout 374">
              <a:extLst>
                <a:ext uri="{FF2B5EF4-FFF2-40B4-BE49-F238E27FC236}">
                  <a16:creationId xmlns:a16="http://schemas.microsoft.com/office/drawing/2014/main" id="{B43F2E26-2C08-4C3E-5942-F1EFDF81BF7B}"/>
                </a:ext>
              </a:extLst>
            </p:cNvPr>
            <p:cNvSpPr/>
            <p:nvPr/>
          </p:nvSpPr>
          <p:spPr>
            <a:xfrm rot="10800000">
              <a:off x="2779179" y="2257984"/>
              <a:ext cx="1570774" cy="445530"/>
            </a:xfrm>
            <a:prstGeom prst="wedgeRoundRectCallout">
              <a:avLst>
                <a:gd name="adj1" fmla="val 33267"/>
                <a:gd name="adj2" fmla="val 80879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>
                <a:solidFill>
                  <a:schemeClr val="tx1"/>
                </a:solidFill>
              </a:endParaRPr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B113D104-622D-C4EE-E219-C689E3CAAFA4}"/>
                </a:ext>
              </a:extLst>
            </p:cNvPr>
            <p:cNvSpPr txBox="1"/>
            <p:nvPr/>
          </p:nvSpPr>
          <p:spPr>
            <a:xfrm>
              <a:off x="2766477" y="2267592"/>
              <a:ext cx="1775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Incomplete Spec</a:t>
              </a:r>
            </a:p>
            <a:p>
              <a:pPr marL="285750" indent="-285750">
                <a:buFont typeface="Wingdings" pitchFamily="2" charset="2"/>
                <a:buChar char="ü"/>
              </a:pPr>
              <a:r>
                <a:rPr lang="en-CN" sz="1200" dirty="0"/>
                <a:t>Issue Evolved</a:t>
              </a:r>
            </a:p>
          </p:txBody>
        </p:sp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835E88FF-30BA-C7C0-6404-060B63695408}"/>
              </a:ext>
            </a:extLst>
          </p:cNvPr>
          <p:cNvGrpSpPr/>
          <p:nvPr/>
        </p:nvGrpSpPr>
        <p:grpSpPr>
          <a:xfrm>
            <a:off x="5824574" y="1402618"/>
            <a:ext cx="1382049" cy="651061"/>
            <a:chOff x="2744401" y="1396607"/>
            <a:chExt cx="1382049" cy="651061"/>
          </a:xfrm>
        </p:grpSpPr>
        <p:grpSp>
          <p:nvGrpSpPr>
            <p:cNvPr id="387" name="Group 386">
              <a:extLst>
                <a:ext uri="{FF2B5EF4-FFF2-40B4-BE49-F238E27FC236}">
                  <a16:creationId xmlns:a16="http://schemas.microsoft.com/office/drawing/2014/main" id="{45B0B203-26C4-F9E2-C10B-2283A81E8CCE}"/>
                </a:ext>
              </a:extLst>
            </p:cNvPr>
            <p:cNvGrpSpPr/>
            <p:nvPr/>
          </p:nvGrpSpPr>
          <p:grpSpPr>
            <a:xfrm>
              <a:off x="2766479" y="1396607"/>
              <a:ext cx="1359971" cy="584509"/>
              <a:chOff x="2777337" y="1530707"/>
              <a:chExt cx="1089485" cy="584509"/>
            </a:xfrm>
          </p:grpSpPr>
          <p:sp>
            <p:nvSpPr>
              <p:cNvPr id="389" name="Rounded Rectangle 388">
                <a:extLst>
                  <a:ext uri="{FF2B5EF4-FFF2-40B4-BE49-F238E27FC236}">
                    <a16:creationId xmlns:a16="http://schemas.microsoft.com/office/drawing/2014/main" id="{EEA2747C-CAF1-4712-32CA-71222133C972}"/>
                  </a:ext>
                </a:extLst>
              </p:cNvPr>
              <p:cNvSpPr/>
              <p:nvPr/>
            </p:nvSpPr>
            <p:spPr>
              <a:xfrm>
                <a:off x="2777337" y="1530707"/>
                <a:ext cx="1089485" cy="584509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b="1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52EC0CB7-ECE9-93CC-F342-4B01DF0273DC}"/>
                  </a:ext>
                </a:extLst>
              </p:cNvPr>
              <p:cNvSpPr txBox="1"/>
              <p:nvPr/>
            </p:nvSpPr>
            <p:spPr>
              <a:xfrm>
                <a:off x="3256471" y="1606102"/>
                <a:ext cx="5892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N" sz="1200" b="1" dirty="0">
                    <a:solidFill>
                      <a:sysClr val="windowText" lastClr="000000"/>
                    </a:solidFill>
                  </a:rPr>
                  <a:t>Issue </a:t>
                </a:r>
              </a:p>
              <a:p>
                <a:pPr algn="ctr"/>
                <a:r>
                  <a:rPr lang="en-CN" sz="1200" b="1" dirty="0">
                    <a:solidFill>
                      <a:sysClr val="windowText" lastClr="000000"/>
                    </a:solidFill>
                  </a:rPr>
                  <a:t>Analyzer</a:t>
                </a:r>
              </a:p>
            </p:txBody>
          </p:sp>
        </p:grpSp>
        <p:pic>
          <p:nvPicPr>
            <p:cNvPr id="388" name="Graphic 387">
              <a:extLst>
                <a:ext uri="{FF2B5EF4-FFF2-40B4-BE49-F238E27FC236}">
                  <a16:creationId xmlns:a16="http://schemas.microsoft.com/office/drawing/2014/main" id="{5A07F79A-3631-4AF6-B2DB-1E4DAFCD8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44401" y="1431487"/>
              <a:ext cx="616181" cy="616181"/>
            </a:xfrm>
            <a:prstGeom prst="rect">
              <a:avLst/>
            </a:prstGeom>
          </p:spPr>
        </p:pic>
      </p:grpSp>
      <p:sp>
        <p:nvSpPr>
          <p:cNvPr id="394" name="Rectangle 393">
            <a:extLst>
              <a:ext uri="{FF2B5EF4-FFF2-40B4-BE49-F238E27FC236}">
                <a16:creationId xmlns:a16="http://schemas.microsoft.com/office/drawing/2014/main" id="{05539779-C707-E7BE-AA5C-5AC030B7E917}"/>
              </a:ext>
            </a:extLst>
          </p:cNvPr>
          <p:cNvSpPr/>
          <p:nvPr/>
        </p:nvSpPr>
        <p:spPr>
          <a:xfrm>
            <a:off x="7980969" y="303607"/>
            <a:ext cx="2089879" cy="5210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200" dirty="0"/>
              <a:t>Phase II: Labels Synthesis</a:t>
            </a:r>
          </a:p>
        </p:txBody>
      </p: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2DE69CCC-FE1C-C0D8-501F-1B2D5AE4FEF1}"/>
              </a:ext>
            </a:extLst>
          </p:cNvPr>
          <p:cNvGrpSpPr/>
          <p:nvPr/>
        </p:nvGrpSpPr>
        <p:grpSpPr>
          <a:xfrm>
            <a:off x="10410654" y="1095561"/>
            <a:ext cx="1795161" cy="1161930"/>
            <a:chOff x="-180919" y="1415597"/>
            <a:chExt cx="1795161" cy="1161930"/>
          </a:xfrm>
        </p:grpSpPr>
        <p:sp>
          <p:nvSpPr>
            <p:cNvPr id="397" name="Rounded Rectangle 396">
              <a:extLst>
                <a:ext uri="{FF2B5EF4-FFF2-40B4-BE49-F238E27FC236}">
                  <a16:creationId xmlns:a16="http://schemas.microsoft.com/office/drawing/2014/main" id="{12C34F48-FF44-4435-CB94-5A7F2E2AA2E0}"/>
                </a:ext>
              </a:extLst>
            </p:cNvPr>
            <p:cNvSpPr/>
            <p:nvPr/>
          </p:nvSpPr>
          <p:spPr>
            <a:xfrm>
              <a:off x="93162" y="1415597"/>
              <a:ext cx="1521080" cy="116193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398" name="Rounded Rectangle 397">
              <a:extLst>
                <a:ext uri="{FF2B5EF4-FFF2-40B4-BE49-F238E27FC236}">
                  <a16:creationId xmlns:a16="http://schemas.microsoft.com/office/drawing/2014/main" id="{D204079A-385B-F912-E25F-3FFA2E08FCE7}"/>
                </a:ext>
              </a:extLst>
            </p:cNvPr>
            <p:cNvSpPr/>
            <p:nvPr/>
          </p:nvSpPr>
          <p:spPr>
            <a:xfrm>
              <a:off x="433879" y="1537097"/>
              <a:ext cx="1088923" cy="4318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Problem Statement</a:t>
              </a:r>
            </a:p>
          </p:txBody>
        </p:sp>
        <p:sp>
          <p:nvSpPr>
            <p:cNvPr id="399" name="Rectangle 398">
              <a:extLst>
                <a:ext uri="{FF2B5EF4-FFF2-40B4-BE49-F238E27FC236}">
                  <a16:creationId xmlns:a16="http://schemas.microsoft.com/office/drawing/2014/main" id="{299BCC05-D7A0-E33E-E72C-B00F539AB2AE}"/>
                </a:ext>
              </a:extLst>
            </p:cNvPr>
            <p:cNvSpPr/>
            <p:nvPr/>
          </p:nvSpPr>
          <p:spPr>
            <a:xfrm rot="5400000">
              <a:off x="-397757" y="1805997"/>
              <a:ext cx="967324" cy="53364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b="1" dirty="0">
                  <a:solidFill>
                    <a:sysClr val="windowText" lastClr="000000"/>
                  </a:solidFill>
                </a:rPr>
                <a:t>Issue-Side Information</a:t>
              </a:r>
            </a:p>
          </p:txBody>
        </p:sp>
        <p:sp>
          <p:nvSpPr>
            <p:cNvPr id="400" name="Rounded Rectangle 399">
              <a:extLst>
                <a:ext uri="{FF2B5EF4-FFF2-40B4-BE49-F238E27FC236}">
                  <a16:creationId xmlns:a16="http://schemas.microsoft.com/office/drawing/2014/main" id="{6FD70695-B466-A29B-27FA-AE0E7EEC2B67}"/>
                </a:ext>
              </a:extLst>
            </p:cNvPr>
            <p:cNvSpPr/>
            <p:nvPr/>
          </p:nvSpPr>
          <p:spPr>
            <a:xfrm>
              <a:off x="464359" y="2051015"/>
              <a:ext cx="1088923" cy="4318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ysClr val="windowText" lastClr="000000"/>
                  </a:solidFill>
                </a:rPr>
                <a:t>Issue Discussion</a:t>
              </a:r>
            </a:p>
          </p:txBody>
        </p:sp>
      </p:grpSp>
      <p:sp>
        <p:nvSpPr>
          <p:cNvPr id="404" name="TextBox 403">
            <a:extLst>
              <a:ext uri="{FF2B5EF4-FFF2-40B4-BE49-F238E27FC236}">
                <a16:creationId xmlns:a16="http://schemas.microsoft.com/office/drawing/2014/main" id="{7B575658-9A3F-A08A-3370-4DFA6E5FCC6C}"/>
              </a:ext>
            </a:extLst>
          </p:cNvPr>
          <p:cNvSpPr txBox="1"/>
          <p:nvPr/>
        </p:nvSpPr>
        <p:spPr>
          <a:xfrm>
            <a:off x="4281714" y="6233314"/>
            <a:ext cx="1222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CN" dirty="0"/>
              <a:t>ext-driven</a:t>
            </a:r>
          </a:p>
        </p:txBody>
      </p:sp>
      <p:sp>
        <p:nvSpPr>
          <p:cNvPr id="408" name="Rounded Rectangle 407">
            <a:extLst>
              <a:ext uri="{FF2B5EF4-FFF2-40B4-BE49-F238E27FC236}">
                <a16:creationId xmlns:a16="http://schemas.microsoft.com/office/drawing/2014/main" id="{8E9511D6-4148-6B10-2980-3F24007840F9}"/>
              </a:ext>
            </a:extLst>
          </p:cNvPr>
          <p:cNvSpPr/>
          <p:nvPr/>
        </p:nvSpPr>
        <p:spPr>
          <a:xfrm>
            <a:off x="1913485" y="63664"/>
            <a:ext cx="8373516" cy="6725051"/>
          </a:xfrm>
          <a:prstGeom prst="round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9" name="Rounded Rectangle 408">
            <a:extLst>
              <a:ext uri="{FF2B5EF4-FFF2-40B4-BE49-F238E27FC236}">
                <a16:creationId xmlns:a16="http://schemas.microsoft.com/office/drawing/2014/main" id="{A93CDB2A-F267-166C-3317-5D2D6B7B4214}"/>
              </a:ext>
            </a:extLst>
          </p:cNvPr>
          <p:cNvSpPr/>
          <p:nvPr/>
        </p:nvSpPr>
        <p:spPr>
          <a:xfrm>
            <a:off x="7955412" y="2677013"/>
            <a:ext cx="1898722" cy="34841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61649244-D763-717C-0AFD-8145FEF5D9CB}"/>
              </a:ext>
            </a:extLst>
          </p:cNvPr>
          <p:cNvGrpSpPr/>
          <p:nvPr/>
        </p:nvGrpSpPr>
        <p:grpSpPr>
          <a:xfrm>
            <a:off x="7993002" y="928281"/>
            <a:ext cx="1861131" cy="1290573"/>
            <a:chOff x="9333885" y="2812825"/>
            <a:chExt cx="810380" cy="801458"/>
          </a:xfrm>
          <a:solidFill>
            <a:schemeClr val="accent5">
              <a:lumMod val="75000"/>
            </a:schemeClr>
          </a:solidFill>
        </p:grpSpPr>
        <p:sp>
          <p:nvSpPr>
            <p:cNvPr id="411" name="Rounded Rectangle 410">
              <a:extLst>
                <a:ext uri="{FF2B5EF4-FFF2-40B4-BE49-F238E27FC236}">
                  <a16:creationId xmlns:a16="http://schemas.microsoft.com/office/drawing/2014/main" id="{187C74A3-1A6C-F20F-8B6A-77205A727AC1}"/>
                </a:ext>
              </a:extLst>
            </p:cNvPr>
            <p:cNvSpPr/>
            <p:nvPr/>
          </p:nvSpPr>
          <p:spPr>
            <a:xfrm>
              <a:off x="9333885" y="2878710"/>
              <a:ext cx="810380" cy="735573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400" dirty="0">
                <a:solidFill>
                  <a:schemeClr val="tx1"/>
                </a:solidFill>
              </a:endParaRP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EF82652B-79F0-80F0-D011-CA3A988F0914}"/>
                </a:ext>
              </a:extLst>
            </p:cNvPr>
            <p:cNvSpPr/>
            <p:nvPr/>
          </p:nvSpPr>
          <p:spPr>
            <a:xfrm>
              <a:off x="9502159" y="2812825"/>
              <a:ext cx="473830" cy="137545"/>
            </a:xfrm>
            <a:prstGeom prst="rect">
              <a:avLst/>
            </a:prstGeom>
            <a:grp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N" sz="1200" dirty="0">
                  <a:solidFill>
                    <a:schemeClr val="bg1"/>
                  </a:solidFill>
                </a:rPr>
                <a:t>Tool</a:t>
              </a:r>
            </a:p>
          </p:txBody>
        </p:sp>
        <p:sp>
          <p:nvSpPr>
            <p:cNvPr id="413" name="Rounded Rectangle 412">
              <a:extLst>
                <a:ext uri="{FF2B5EF4-FFF2-40B4-BE49-F238E27FC236}">
                  <a16:creationId xmlns:a16="http://schemas.microsoft.com/office/drawing/2014/main" id="{AB1F50F5-2BA4-E8D1-C7FB-1DF40066683A}"/>
                </a:ext>
              </a:extLst>
            </p:cNvPr>
            <p:cNvSpPr/>
            <p:nvPr/>
          </p:nvSpPr>
          <p:spPr>
            <a:xfrm>
              <a:off x="9408504" y="2994000"/>
              <a:ext cx="649945" cy="54034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  <a:p>
              <a:pPr algn="ctr"/>
              <a:endParaRPr lang="en-CN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086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EA8432-F35C-8FFA-3AFA-F678BDBFEE1E}"/>
              </a:ext>
            </a:extLst>
          </p:cNvPr>
          <p:cNvGrpSpPr/>
          <p:nvPr/>
        </p:nvGrpSpPr>
        <p:grpSpPr>
          <a:xfrm>
            <a:off x="-158949" y="343022"/>
            <a:ext cx="2968769" cy="5764116"/>
            <a:chOff x="2088426" y="845104"/>
            <a:chExt cx="4893223" cy="3994848"/>
          </a:xfrm>
        </p:grpSpPr>
        <p:sp>
          <p:nvSpPr>
            <p:cNvPr id="4" name="Rounded Rectangular Callout 3">
              <a:extLst>
                <a:ext uri="{FF2B5EF4-FFF2-40B4-BE49-F238E27FC236}">
                  <a16:creationId xmlns:a16="http://schemas.microsoft.com/office/drawing/2014/main" id="{5BF7B0BE-714F-6794-3C18-8E61061BBA8A}"/>
                </a:ext>
              </a:extLst>
            </p:cNvPr>
            <p:cNvSpPr/>
            <p:nvPr/>
          </p:nvSpPr>
          <p:spPr>
            <a:xfrm>
              <a:off x="3052126" y="845104"/>
              <a:ext cx="3002279" cy="880764"/>
            </a:xfrm>
            <a:prstGeom prst="wedgeRoundRectCallout">
              <a:avLst>
                <a:gd name="adj1" fmla="val -42181"/>
                <a:gd name="adj2" fmla="val 61850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6" name="Graphic 5" descr="User with solid fill">
              <a:extLst>
                <a:ext uri="{FF2B5EF4-FFF2-40B4-BE49-F238E27FC236}">
                  <a16:creationId xmlns:a16="http://schemas.microsoft.com/office/drawing/2014/main" id="{001A0356-AAF9-6EC0-9C56-95306BB83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80492" y="1494144"/>
              <a:ext cx="1006023" cy="539024"/>
            </a:xfrm>
            <a:prstGeom prst="rect">
              <a:avLst/>
            </a:prstGeom>
          </p:spPr>
        </p:pic>
        <p:pic>
          <p:nvPicPr>
            <p:cNvPr id="8" name="Graphic 7" descr="Programmer female with solid fill">
              <a:extLst>
                <a:ext uri="{FF2B5EF4-FFF2-40B4-BE49-F238E27FC236}">
                  <a16:creationId xmlns:a16="http://schemas.microsoft.com/office/drawing/2014/main" id="{8AEA4EF1-23E3-E65D-B8CA-508BC8889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83991" y="4187767"/>
              <a:ext cx="797658" cy="375187"/>
            </a:xfrm>
            <a:prstGeom prst="rect">
              <a:avLst/>
            </a:prstGeom>
          </p:spPr>
        </p:pic>
        <p:sp>
          <p:nvSpPr>
            <p:cNvPr id="9" name="Rounded Rectangular Callout 8">
              <a:extLst>
                <a:ext uri="{FF2B5EF4-FFF2-40B4-BE49-F238E27FC236}">
                  <a16:creationId xmlns:a16="http://schemas.microsoft.com/office/drawing/2014/main" id="{0D29F066-C10A-9DD2-E8CD-C58AEB5A5708}"/>
                </a:ext>
              </a:extLst>
            </p:cNvPr>
            <p:cNvSpPr/>
            <p:nvPr/>
          </p:nvSpPr>
          <p:spPr>
            <a:xfrm>
              <a:off x="3127834" y="2156465"/>
              <a:ext cx="3002280" cy="2168079"/>
            </a:xfrm>
            <a:prstGeom prst="wedgeRoundRectCallout">
              <a:avLst>
                <a:gd name="adj1" fmla="val 45570"/>
                <a:gd name="adj2" fmla="val 57119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3E151F-B34C-F2AC-92F2-277B53F40BD2}"/>
                </a:ext>
              </a:extLst>
            </p:cNvPr>
            <p:cNvSpPr txBox="1"/>
            <p:nvPr/>
          </p:nvSpPr>
          <p:spPr>
            <a:xfrm>
              <a:off x="2088426" y="1929914"/>
              <a:ext cx="10892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534D65-A828-071C-51D0-B9CAB15D4D91}"/>
                </a:ext>
              </a:extLst>
            </p:cNvPr>
            <p:cNvSpPr txBox="1"/>
            <p:nvPr/>
          </p:nvSpPr>
          <p:spPr>
            <a:xfrm>
              <a:off x="5404229" y="4562953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D69DC0-5D52-0FB2-8D8C-E96026D59F29}"/>
                </a:ext>
              </a:extLst>
            </p:cNvPr>
            <p:cNvSpPr txBox="1"/>
            <p:nvPr/>
          </p:nvSpPr>
          <p:spPr>
            <a:xfrm>
              <a:off x="3127834" y="920042"/>
              <a:ext cx="3002279" cy="703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Issue #10570 Inheritance-diagram 404 links with SVG. </a:t>
              </a:r>
              <a:br>
                <a:rPr lang="en-US" sz="1200" dirty="0"/>
              </a:br>
              <a:br>
                <a:rPr lang="en-US" sz="1200" dirty="0"/>
              </a:br>
              <a:r>
                <a:rPr lang="en-US" sz="1200" b="0" i="0" u="none" strike="noStrike" dirty="0">
                  <a:effectLst/>
                  <a:latin typeface="quote-cjk-patch"/>
                </a:rPr>
                <a:t>SVG inheritance diagram links break when generated in subdirectories</a:t>
              </a:r>
              <a:r>
                <a:rPr lang="en-US" sz="1200" dirty="0">
                  <a:latin typeface="quote-cjk-patch"/>
                </a:rPr>
                <a:t>.</a:t>
              </a:r>
              <a:endParaRPr lang="en-US" sz="12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8C24E0-2EEC-ED84-B542-EB13F75628C0}"/>
                </a:ext>
              </a:extLst>
            </p:cNvPr>
            <p:cNvSpPr txBox="1"/>
            <p:nvPr/>
          </p:nvSpPr>
          <p:spPr>
            <a:xfrm>
              <a:off x="4865686" y="121714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369826-A11D-BE12-34B5-5989191D7CF0}"/>
                </a:ext>
              </a:extLst>
            </p:cNvPr>
            <p:cNvSpPr txBox="1"/>
            <p:nvPr/>
          </p:nvSpPr>
          <p:spPr>
            <a:xfrm>
              <a:off x="3227431" y="2200053"/>
              <a:ext cx="2919092" cy="2111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i="1" dirty="0"/>
                <a:t>PR #10614 </a:t>
              </a:r>
              <a:r>
                <a:rPr lang="en-US" sz="1200" b="1" i="0" u="none" strike="noStrike" dirty="0">
                  <a:effectLst/>
                </a:rPr>
                <a:t>Fixes missing and broken links in inheritance diagrams.</a:t>
              </a:r>
              <a:br>
                <a:rPr lang="en-US" sz="1200" b="1" i="0" u="none" strike="noStrike" dirty="0">
                  <a:effectLst/>
                  <a:highlight>
                    <a:srgbClr val="C0C0C0"/>
                  </a:highlight>
                </a:rPr>
              </a:br>
              <a:br>
                <a:rPr lang="en-US" sz="1200" b="1" i="0" u="none" strike="noStrike" dirty="0">
                  <a:effectLst/>
                  <a:highlight>
                    <a:srgbClr val="C0C0C0"/>
                  </a:highlight>
                </a:rPr>
              </a:br>
              <a:r>
                <a:rPr lang="en-US" sz="1200" b="0" i="0" u="none" strike="noStrike" dirty="0">
                  <a:effectLst/>
                </a:rPr>
                <a:t>There are </a:t>
              </a:r>
              <a:r>
                <a:rPr lang="en-US" sz="1200" b="1" i="0" u="none" strike="noStrike" dirty="0">
                  <a:effectLst/>
                </a:rPr>
                <a:t>multiple bugs </a:t>
              </a:r>
              <a:r>
                <a:rPr lang="en-US" sz="1200" b="0" i="0" u="none" strike="noStrike" dirty="0">
                  <a:effectLst/>
                </a:rPr>
                <a:t>that result in missing or broken links in inheritance diagrams.</a:t>
              </a:r>
              <a:br>
                <a:rPr lang="en-US" sz="1200" b="0" i="0" u="none" strike="noStrike" dirty="0">
                  <a:effectLst/>
                </a:rPr>
              </a:br>
              <a:r>
                <a:rPr lang="en-US" sz="1200" b="1" i="0" u="none" strike="noStrike" dirty="0">
                  <a:effectLst/>
                </a:rPr>
                <a:t>Missing links: </a:t>
              </a:r>
              <a:r>
                <a:rPr lang="en-US" sz="1200" i="1" dirty="0" err="1"/>
                <a:t>reftitle</a:t>
              </a:r>
              <a:r>
                <a:rPr lang="en-US" sz="1200" i="0" u="none" strike="noStrike" dirty="0">
                  <a:effectLst/>
                </a:rPr>
                <a:t> does not contain the name of the class……</a:t>
              </a:r>
              <a:br>
                <a:rPr lang="en-US" sz="1200" b="0" i="0" u="none" strike="noStrike" dirty="0">
                  <a:effectLst/>
                </a:rPr>
              </a:br>
              <a:r>
                <a:rPr lang="en-US" sz="1200" b="1" i="0" u="none" strike="noStrike" dirty="0">
                  <a:effectLst/>
                </a:rPr>
                <a:t>Broken links: </a:t>
              </a:r>
              <a:r>
                <a:rPr lang="en-US" sz="1200" b="0" i="0" u="none" strike="noStrike" dirty="0">
                  <a:effectLst/>
                </a:rPr>
                <a:t>Fixed a relative-path bug in </a:t>
              </a:r>
              <a:r>
                <a:rPr lang="en-US" sz="1200" i="1" dirty="0" err="1"/>
                <a:t>ext.inheritance_diagram</a:t>
              </a:r>
              <a:r>
                <a:rPr lang="en-US" sz="1200" dirty="0"/>
                <a:t>……</a:t>
              </a:r>
              <a:br>
                <a:rPr lang="en-US" sz="1200" dirty="0"/>
              </a:br>
              <a:br>
                <a:rPr lang="en-US" sz="1200" dirty="0"/>
              </a:br>
              <a:r>
                <a:rPr lang="en-US" sz="1200" dirty="0">
                  <a:highlight>
                    <a:srgbClr val="FC8365"/>
                  </a:highlight>
                </a:rPr>
                <a:t>Closes #865 · Closes #3176 </a:t>
              </a:r>
              <a:r>
                <a:rPr lang="en-US" sz="1200" dirty="0"/>
                <a:t>· </a:t>
              </a:r>
              <a:r>
                <a:rPr lang="en-US" sz="1200" dirty="0">
                  <a:highlight>
                    <a:srgbClr val="B8EEB1"/>
                  </a:highlight>
                </a:rPr>
                <a:t>Closes #10570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6D97974-BB53-07C6-E2D2-E3EE7CB6FC19}"/>
              </a:ext>
            </a:extLst>
          </p:cNvPr>
          <p:cNvGrpSpPr/>
          <p:nvPr/>
        </p:nvGrpSpPr>
        <p:grpSpPr>
          <a:xfrm>
            <a:off x="2535830" y="194194"/>
            <a:ext cx="3229751" cy="6325300"/>
            <a:chOff x="2321878" y="-554588"/>
            <a:chExt cx="4967337" cy="6128685"/>
          </a:xfrm>
        </p:grpSpPr>
        <p:sp>
          <p:nvSpPr>
            <p:cNvPr id="13" name="Rounded Rectangular Callout 12">
              <a:extLst>
                <a:ext uri="{FF2B5EF4-FFF2-40B4-BE49-F238E27FC236}">
                  <a16:creationId xmlns:a16="http://schemas.microsoft.com/office/drawing/2014/main" id="{5B9DFF84-3A75-5BC1-738A-67413EAD04E8}"/>
                </a:ext>
              </a:extLst>
            </p:cNvPr>
            <p:cNvSpPr/>
            <p:nvPr/>
          </p:nvSpPr>
          <p:spPr>
            <a:xfrm>
              <a:off x="3740384" y="-554588"/>
              <a:ext cx="2585205" cy="1491107"/>
            </a:xfrm>
            <a:prstGeom prst="wedgeRoundRectCallout">
              <a:avLst>
                <a:gd name="adj1" fmla="val -42181"/>
                <a:gd name="adj2" fmla="val 61850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14" name="Graphic 13" descr="Programmer female with solid fill">
              <a:extLst>
                <a:ext uri="{FF2B5EF4-FFF2-40B4-BE49-F238E27FC236}">
                  <a16:creationId xmlns:a16="http://schemas.microsoft.com/office/drawing/2014/main" id="{DECAE759-A736-3A45-50C8-51B952186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38791" y="2157935"/>
              <a:ext cx="725089" cy="602208"/>
            </a:xfrm>
            <a:prstGeom prst="rect">
              <a:avLst/>
            </a:prstGeom>
          </p:spPr>
        </p:pic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F483DAB5-E467-F9A3-80FD-E498463C8257}"/>
                </a:ext>
              </a:extLst>
            </p:cNvPr>
            <p:cNvSpPr/>
            <p:nvPr/>
          </p:nvSpPr>
          <p:spPr>
            <a:xfrm>
              <a:off x="3791803" y="1446413"/>
              <a:ext cx="2513622" cy="931460"/>
            </a:xfrm>
            <a:prstGeom prst="wedgeRoundRectCallout">
              <a:avLst>
                <a:gd name="adj1" fmla="val 45570"/>
                <a:gd name="adj2" fmla="val 68123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C164A7-283A-BE17-B665-328D9F0D256B}"/>
                </a:ext>
              </a:extLst>
            </p:cNvPr>
            <p:cNvSpPr txBox="1"/>
            <p:nvPr/>
          </p:nvSpPr>
          <p:spPr>
            <a:xfrm>
              <a:off x="5516714" y="2748432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6846665-787D-A66F-EFFF-DDCF2A28CD2B}"/>
                </a:ext>
              </a:extLst>
            </p:cNvPr>
            <p:cNvSpPr txBox="1"/>
            <p:nvPr/>
          </p:nvSpPr>
          <p:spPr>
            <a:xfrm>
              <a:off x="3891707" y="-454919"/>
              <a:ext cx="2778848" cy="1341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Issue #</a:t>
              </a:r>
              <a:r>
                <a:rPr lang="en-US" altLang="zh-CN" sz="1200" b="1" i="1" dirty="0"/>
                <a:t>7132 </a:t>
              </a:r>
              <a:r>
                <a:rPr lang="en-US" sz="1200" b="1" i="0" u="none" strike="noStrike" dirty="0">
                  <a:effectLst/>
                </a:rPr>
                <a:t>Add evaluation for polylog</a:t>
              </a:r>
              <a:br>
                <a:rPr lang="en-US" sz="1200" b="1" i="0" u="none" strike="noStrike" dirty="0">
                  <a:effectLst/>
                </a:rPr>
              </a:br>
              <a:endParaRPr lang="en-US" sz="1200" b="1" i="0" u="none" strike="noStrike" dirty="0">
                <a:effectLst/>
              </a:endParaRPr>
            </a:p>
            <a:p>
              <a:r>
                <a:rPr lang="en-US" altLang="zh-CN" sz="1200" b="1" i="1" dirty="0"/>
                <a:t>Issue #13853 </a:t>
              </a:r>
              <a:r>
                <a:rPr lang="en-US" sz="1200" b="1" i="0" u="none" strike="noStrike" dirty="0">
                  <a:effectLst/>
                </a:rPr>
                <a:t>Why does the expansion of </a:t>
              </a:r>
              <a:r>
                <a:rPr lang="en-US" sz="1200" b="1" i="1" u="none" strike="noStrike" dirty="0">
                  <a:effectLst/>
                </a:rPr>
                <a:t>polylog(1, z) </a:t>
              </a:r>
              <a:r>
                <a:rPr lang="en-US" sz="1200" b="1" i="0" u="none" strike="noStrike" dirty="0">
                  <a:effectLst/>
                </a:rPr>
                <a:t>have </a:t>
              </a:r>
              <a:r>
                <a:rPr lang="en-US" sz="1200" b="1" i="1" u="none" strike="noStrike" dirty="0" err="1">
                  <a:effectLst/>
                </a:rPr>
                <a:t>exp_polar</a:t>
              </a:r>
              <a:r>
                <a:rPr lang="en-US" sz="1200" b="1" i="1" u="none" strike="noStrike" dirty="0">
                  <a:effectLst/>
                </a:rPr>
                <a:t>(-I*pi)?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1189998-180B-FEFA-9D56-34230207D9F3}"/>
                </a:ext>
              </a:extLst>
            </p:cNvPr>
            <p:cNvSpPr txBox="1"/>
            <p:nvPr/>
          </p:nvSpPr>
          <p:spPr>
            <a:xfrm>
              <a:off x="5281131" y="82996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34C8B0-08C1-666A-E504-86A3D49A5DB6}"/>
                </a:ext>
              </a:extLst>
            </p:cNvPr>
            <p:cNvSpPr txBox="1"/>
            <p:nvPr/>
          </p:nvSpPr>
          <p:spPr>
            <a:xfrm>
              <a:off x="3846744" y="1515871"/>
              <a:ext cx="26271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>
                  <a:highlight>
                    <a:srgbClr val="FC8365"/>
                  </a:highlight>
                </a:rPr>
                <a:t>PR #13852 </a:t>
              </a:r>
              <a:r>
                <a:rPr lang="en-US" sz="1200" b="1" i="0" u="none" strike="noStrike" dirty="0">
                  <a:effectLst/>
                </a:rPr>
                <a:t>Implement more special values of polylogarithm, without </a:t>
              </a:r>
              <a:r>
                <a:rPr lang="en-US" sz="1200" b="1" i="1" u="none" strike="noStrike" dirty="0" err="1">
                  <a:effectLst/>
                </a:rPr>
                <a:t>exp_polar</a:t>
              </a:r>
              <a:r>
                <a:rPr lang="en-US" sz="1200" b="1" i="1" u="none" strike="noStrike" dirty="0">
                  <a:effectLst/>
                </a:rPr>
                <a:t> </a:t>
              </a:r>
              <a:r>
                <a:rPr lang="en-US" sz="1200" b="1" i="0" u="none" strike="noStrike" dirty="0">
                  <a:effectLst/>
                </a:rPr>
                <a:t>for s=1</a:t>
              </a:r>
            </a:p>
          </p:txBody>
        </p:sp>
        <p:pic>
          <p:nvPicPr>
            <p:cNvPr id="24" name="Graphic 23" descr="Users with solid fill">
              <a:extLst>
                <a:ext uri="{FF2B5EF4-FFF2-40B4-BE49-F238E27FC236}">
                  <a16:creationId xmlns:a16="http://schemas.microsoft.com/office/drawing/2014/main" id="{A468F47F-BBDC-14B2-CE82-BD16D4D88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25334" y="563872"/>
              <a:ext cx="943324" cy="799814"/>
            </a:xfrm>
            <a:prstGeom prst="rect">
              <a:avLst/>
            </a:prstGeom>
          </p:spPr>
        </p:pic>
        <p:pic>
          <p:nvPicPr>
            <p:cNvPr id="25" name="Graphic 24" descr="Programmer female with solid fill">
              <a:extLst>
                <a:ext uri="{FF2B5EF4-FFF2-40B4-BE49-F238E27FC236}">
                  <a16:creationId xmlns:a16="http://schemas.microsoft.com/office/drawing/2014/main" id="{78D84562-87DF-3FAA-4D73-F8AC02159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89203" y="4726012"/>
              <a:ext cx="725089" cy="608691"/>
            </a:xfrm>
            <a:prstGeom prst="rect">
              <a:avLst/>
            </a:prstGeom>
          </p:spPr>
        </p:pic>
        <p:sp>
          <p:nvSpPr>
            <p:cNvPr id="26" name="Rounded Rectangular Callout 25">
              <a:extLst>
                <a:ext uri="{FF2B5EF4-FFF2-40B4-BE49-F238E27FC236}">
                  <a16:creationId xmlns:a16="http://schemas.microsoft.com/office/drawing/2014/main" id="{0C1AF84F-99B3-AACD-F3C6-D3B187176C32}"/>
                </a:ext>
              </a:extLst>
            </p:cNvPr>
            <p:cNvSpPr/>
            <p:nvPr/>
          </p:nvSpPr>
          <p:spPr>
            <a:xfrm>
              <a:off x="3747375" y="3242310"/>
              <a:ext cx="2513622" cy="1998768"/>
            </a:xfrm>
            <a:prstGeom prst="wedgeRoundRectCallout">
              <a:avLst>
                <a:gd name="adj1" fmla="val 45570"/>
                <a:gd name="adj2" fmla="val 62859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19A738A-4E8C-2A84-4D61-3D9A593962F6}"/>
                </a:ext>
              </a:extLst>
            </p:cNvPr>
            <p:cNvSpPr txBox="1"/>
            <p:nvPr/>
          </p:nvSpPr>
          <p:spPr>
            <a:xfrm>
              <a:off x="5488969" y="5297098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D24C92-269A-4FBA-DB39-C43986EE948A}"/>
                </a:ext>
              </a:extLst>
            </p:cNvPr>
            <p:cNvSpPr txBox="1"/>
            <p:nvPr/>
          </p:nvSpPr>
          <p:spPr>
            <a:xfrm>
              <a:off x="3717309" y="3313006"/>
              <a:ext cx="262714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i="1" dirty="0"/>
                <a:t>PR #13909 </a:t>
              </a:r>
              <a:r>
                <a:rPr lang="en-US" sz="1200" b="1" i="0" u="none" strike="noStrike" dirty="0">
                  <a:effectLst/>
                </a:rPr>
                <a:t>Use </a:t>
              </a:r>
              <a:r>
                <a:rPr lang="en-US" sz="1200" b="1" i="1" u="none" strike="noStrike" dirty="0" err="1">
                  <a:effectLst/>
                </a:rPr>
                <a:t>verify_numerically</a:t>
              </a:r>
              <a:r>
                <a:rPr lang="en-US" sz="1200" b="1" i="1" u="none" strike="noStrike" dirty="0">
                  <a:effectLst/>
                </a:rPr>
                <a:t> </a:t>
              </a:r>
              <a:r>
                <a:rPr lang="en-US" sz="1200" b="1" i="0" u="none" strike="noStrike" dirty="0">
                  <a:effectLst/>
                </a:rPr>
                <a:t>in testing polylog expansions</a:t>
              </a:r>
            </a:p>
            <a:p>
              <a:br>
                <a:rPr lang="en-US" sz="1200" dirty="0"/>
              </a:br>
              <a:r>
                <a:rPr lang="en-US" sz="1200" b="0" i="0" u="none" strike="noStrike" dirty="0">
                  <a:effectLst/>
                </a:rPr>
                <a:t>Improves </a:t>
              </a:r>
              <a:r>
                <a:rPr lang="en-US" sz="1200" i="1" dirty="0" err="1"/>
                <a:t>test_polylog_values</a:t>
              </a:r>
              <a:r>
                <a:rPr lang="en-US" sz="1200" b="0" i="0" u="none" strike="noStrike" dirty="0">
                  <a:effectLst/>
                </a:rPr>
                <a:t>, which was </a:t>
              </a:r>
              <a:r>
                <a:rPr lang="en-US" sz="1200" b="0" i="0" u="none" strike="noStrike" dirty="0">
                  <a:effectLst/>
                  <a:highlight>
                    <a:srgbClr val="FC8365"/>
                  </a:highlight>
                </a:rPr>
                <a:t>introduced in</a:t>
              </a:r>
              <a:r>
                <a:rPr lang="en-US" sz="1200" b="1" i="0" u="none" strike="noStrike" dirty="0">
                  <a:effectLst/>
                  <a:highlight>
                    <a:srgbClr val="FC8365"/>
                  </a:highlight>
                </a:rPr>
                <a:t> #13582 </a:t>
              </a:r>
              <a:r>
                <a:rPr lang="en-US" sz="1200" b="0" i="0" u="none" strike="noStrike" dirty="0">
                  <a:effectLst/>
                  <a:highlight>
                    <a:srgbClr val="FC8365"/>
                  </a:highlight>
                </a:rPr>
                <a:t>and turned out to suffer from random test failures.</a:t>
              </a:r>
              <a:br>
                <a:rPr lang="en-US" sz="1200" dirty="0">
                  <a:highlight>
                    <a:srgbClr val="FC8365"/>
                  </a:highlight>
                </a:rPr>
              </a:br>
              <a:endParaRPr lang="en-US" sz="1200" b="1" i="0" u="none" strike="noStrike" dirty="0">
                <a:effectLst/>
                <a:highlight>
                  <a:srgbClr val="FC8365"/>
                </a:highlight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66E7905-FCF5-62FE-BA4C-D82535B11950}"/>
                </a:ext>
              </a:extLst>
            </p:cNvPr>
            <p:cNvCxnSpPr>
              <a:cxnSpLocks/>
            </p:cNvCxnSpPr>
            <p:nvPr/>
          </p:nvCxnSpPr>
          <p:spPr>
            <a:xfrm>
              <a:off x="6451748" y="2943749"/>
              <a:ext cx="0" cy="13027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E898A61-10F7-399D-29F3-982219CBCB33}"/>
                </a:ext>
              </a:extLst>
            </p:cNvPr>
            <p:cNvSpPr txBox="1"/>
            <p:nvPr/>
          </p:nvSpPr>
          <p:spPr>
            <a:xfrm>
              <a:off x="6325590" y="3008578"/>
              <a:ext cx="9568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/>
                <a:t>After Merge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69FF00A-95C2-5B37-3CE4-62BB18E014EA}"/>
                </a:ext>
              </a:extLst>
            </p:cNvPr>
            <p:cNvCxnSpPr>
              <a:cxnSpLocks/>
            </p:cNvCxnSpPr>
            <p:nvPr/>
          </p:nvCxnSpPr>
          <p:spPr>
            <a:xfrm>
              <a:off x="2766380" y="3141830"/>
              <a:ext cx="3606120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2" name="Graphic 31" descr="Badge Tick1 with solid fill">
              <a:extLst>
                <a:ext uri="{FF2B5EF4-FFF2-40B4-BE49-F238E27FC236}">
                  <a16:creationId xmlns:a16="http://schemas.microsoft.com/office/drawing/2014/main" id="{A2EEA506-1AB4-FF69-2DD6-14BA1A1A6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68677" y="1643721"/>
              <a:ext cx="632134" cy="530256"/>
            </a:xfrm>
            <a:prstGeom prst="rect">
              <a:avLst/>
            </a:prstGeom>
          </p:spPr>
        </p:pic>
        <p:pic>
          <p:nvPicPr>
            <p:cNvPr id="33" name="Graphic 32" descr="Warning with solid fill">
              <a:extLst>
                <a:ext uri="{FF2B5EF4-FFF2-40B4-BE49-F238E27FC236}">
                  <a16:creationId xmlns:a16="http://schemas.microsoft.com/office/drawing/2014/main" id="{CC13E3C6-4581-1172-867A-89359BE8E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697369" y="4453354"/>
              <a:ext cx="591846" cy="34784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9A6F0FA-1B4F-D3BC-F95C-340E51C48114}"/>
                </a:ext>
              </a:extLst>
            </p:cNvPr>
            <p:cNvSpPr txBox="1"/>
            <p:nvPr/>
          </p:nvSpPr>
          <p:spPr>
            <a:xfrm>
              <a:off x="2321878" y="1140133"/>
              <a:ext cx="11474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176C6F-BDE8-EC40-ED35-23183CB9F6D2}"/>
              </a:ext>
            </a:extLst>
          </p:cNvPr>
          <p:cNvGrpSpPr/>
          <p:nvPr/>
        </p:nvGrpSpPr>
        <p:grpSpPr>
          <a:xfrm>
            <a:off x="5911367" y="266182"/>
            <a:ext cx="3078631" cy="6249100"/>
            <a:chOff x="4142965" y="179676"/>
            <a:chExt cx="5043983" cy="4768408"/>
          </a:xfrm>
        </p:grpSpPr>
        <p:sp>
          <p:nvSpPr>
            <p:cNvPr id="38" name="Rounded Rectangular Callout 37">
              <a:extLst>
                <a:ext uri="{FF2B5EF4-FFF2-40B4-BE49-F238E27FC236}">
                  <a16:creationId xmlns:a16="http://schemas.microsoft.com/office/drawing/2014/main" id="{EA7FDF70-2A50-ED22-5011-6E5F6B31B403}"/>
                </a:ext>
              </a:extLst>
            </p:cNvPr>
            <p:cNvSpPr/>
            <p:nvPr/>
          </p:nvSpPr>
          <p:spPr>
            <a:xfrm>
              <a:off x="5048931" y="188532"/>
              <a:ext cx="2627145" cy="508724"/>
            </a:xfrm>
            <a:prstGeom prst="wedgeRoundRectCallout">
              <a:avLst>
                <a:gd name="adj1" fmla="val -45184"/>
                <a:gd name="adj2" fmla="val 74508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39" name="Graphic 38" descr="User with solid fill">
              <a:extLst>
                <a:ext uri="{FF2B5EF4-FFF2-40B4-BE49-F238E27FC236}">
                  <a16:creationId xmlns:a16="http://schemas.microsoft.com/office/drawing/2014/main" id="{D93D949A-A511-9FE2-59FD-A012395F7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63436" y="465619"/>
              <a:ext cx="578735" cy="578735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86E0D4A-E660-31B1-57B5-7C304847F811}"/>
                </a:ext>
              </a:extLst>
            </p:cNvPr>
            <p:cNvSpPr txBox="1"/>
            <p:nvPr/>
          </p:nvSpPr>
          <p:spPr>
            <a:xfrm>
              <a:off x="4142965" y="998205"/>
              <a:ext cx="1089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AF1077-211B-5623-151B-A15321508354}"/>
                </a:ext>
              </a:extLst>
            </p:cNvPr>
            <p:cNvSpPr txBox="1"/>
            <p:nvPr/>
          </p:nvSpPr>
          <p:spPr>
            <a:xfrm>
              <a:off x="5048930" y="179676"/>
              <a:ext cx="2733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Issue #27914 </a:t>
              </a:r>
              <a:r>
                <a:rPr lang="en-US" sz="1200" b="1" i="1" u="none" strike="noStrike" dirty="0" err="1">
                  <a:solidFill>
                    <a:srgbClr val="0C3C26"/>
                  </a:solidFill>
                  <a:effectLst/>
                </a:rPr>
                <a:t>makemigrations</a:t>
              </a:r>
              <a:r>
                <a:rPr lang="en-US" sz="1200" b="1" i="1" u="none" strike="noStrike" dirty="0">
                  <a:solidFill>
                    <a:srgbClr val="0C3C26"/>
                  </a:solidFill>
                  <a:effectLst/>
                </a:rPr>
                <a:t> produces incorrect path for inner classes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28520C4-C189-3DE7-F809-93714425D0FC}"/>
                </a:ext>
              </a:extLst>
            </p:cNvPr>
            <p:cNvSpPr txBox="1"/>
            <p:nvPr/>
          </p:nvSpPr>
          <p:spPr>
            <a:xfrm>
              <a:off x="6862491" y="18853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pic>
          <p:nvPicPr>
            <p:cNvPr id="44" name="Graphic 43" descr="Programmer female with solid fill">
              <a:extLst>
                <a:ext uri="{FF2B5EF4-FFF2-40B4-BE49-F238E27FC236}">
                  <a16:creationId xmlns:a16="http://schemas.microsoft.com/office/drawing/2014/main" id="{74B29C3E-D533-9E95-2825-CD2C71459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09645" y="1513200"/>
              <a:ext cx="725089" cy="725089"/>
            </a:xfrm>
            <a:prstGeom prst="rect">
              <a:avLst/>
            </a:prstGeom>
          </p:spPr>
        </p:pic>
        <p:sp>
          <p:nvSpPr>
            <p:cNvPr id="45" name="Rounded Rectangular Callout 44">
              <a:extLst>
                <a:ext uri="{FF2B5EF4-FFF2-40B4-BE49-F238E27FC236}">
                  <a16:creationId xmlns:a16="http://schemas.microsoft.com/office/drawing/2014/main" id="{FDC0AAFB-EE4F-4CE9-9FB5-135065D789C3}"/>
                </a:ext>
              </a:extLst>
            </p:cNvPr>
            <p:cNvSpPr/>
            <p:nvPr/>
          </p:nvSpPr>
          <p:spPr>
            <a:xfrm>
              <a:off x="5116331" y="1195615"/>
              <a:ext cx="2513622" cy="747165"/>
            </a:xfrm>
            <a:prstGeom prst="wedgeRoundRectCallout">
              <a:avLst>
                <a:gd name="adj1" fmla="val 45570"/>
                <a:gd name="adj2" fmla="val 68123"/>
                <a:gd name="adj3" fmla="val 16667"/>
              </a:avLst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2ABD2A1-1397-A208-A1C1-5D2F02E8BB05}"/>
                </a:ext>
              </a:extLst>
            </p:cNvPr>
            <p:cNvSpPr txBox="1"/>
            <p:nvPr/>
          </p:nvSpPr>
          <p:spPr>
            <a:xfrm>
              <a:off x="5116331" y="1263310"/>
              <a:ext cx="26271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i="1" dirty="0"/>
                <a:t>PR #8177 </a:t>
              </a:r>
              <a:r>
                <a:rPr lang="en-US" sz="1200" b="1" i="0" u="none" strike="noStrike" dirty="0">
                  <a:effectLst/>
                  <a:latin typeface="-apple-system"/>
                </a:rPr>
                <a:t>Fixed #27914 -- Used qualified name to extract model field path.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66DF4B5-74D4-7209-8F72-D7FDD545CCE0}"/>
                </a:ext>
              </a:extLst>
            </p:cNvPr>
            <p:cNvSpPr txBox="1"/>
            <p:nvPr/>
          </p:nvSpPr>
          <p:spPr>
            <a:xfrm>
              <a:off x="8230148" y="2374929"/>
              <a:ext cx="9568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/>
                <a:t>After Merge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BFABEF8-4DDF-49E0-C50D-0F311AEC1789}"/>
                </a:ext>
              </a:extLst>
            </p:cNvPr>
            <p:cNvCxnSpPr>
              <a:cxnSpLocks/>
            </p:cNvCxnSpPr>
            <p:nvPr/>
          </p:nvCxnSpPr>
          <p:spPr>
            <a:xfrm>
              <a:off x="4670938" y="2508181"/>
              <a:ext cx="3606120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Rounded Rectangular Callout 48">
              <a:extLst>
                <a:ext uri="{FF2B5EF4-FFF2-40B4-BE49-F238E27FC236}">
                  <a16:creationId xmlns:a16="http://schemas.microsoft.com/office/drawing/2014/main" id="{93B0702D-AF6F-5811-C276-CD9EE9E235A8}"/>
                </a:ext>
              </a:extLst>
            </p:cNvPr>
            <p:cNvSpPr/>
            <p:nvPr/>
          </p:nvSpPr>
          <p:spPr>
            <a:xfrm>
              <a:off x="5174942" y="2634865"/>
              <a:ext cx="2627145" cy="646332"/>
            </a:xfrm>
            <a:prstGeom prst="wedgeRoundRectCallout">
              <a:avLst>
                <a:gd name="adj1" fmla="val -44204"/>
                <a:gd name="adj2" fmla="val 65351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50" name="Graphic 49" descr="User with solid fill">
              <a:extLst>
                <a:ext uri="{FF2B5EF4-FFF2-40B4-BE49-F238E27FC236}">
                  <a16:creationId xmlns:a16="http://schemas.microsoft.com/office/drawing/2014/main" id="{DC48DE09-0475-F4BE-2C4D-02E342AAC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89447" y="3049560"/>
              <a:ext cx="578735" cy="578735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B3ED386-80D0-0876-5EDB-32C169162810}"/>
                </a:ext>
              </a:extLst>
            </p:cNvPr>
            <p:cNvSpPr txBox="1"/>
            <p:nvPr/>
          </p:nvSpPr>
          <p:spPr>
            <a:xfrm>
              <a:off x="4290414" y="3529595"/>
              <a:ext cx="1089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EEACF89-6DD6-B451-8A22-38C59DBA6451}"/>
                </a:ext>
              </a:extLst>
            </p:cNvPr>
            <p:cNvSpPr txBox="1"/>
            <p:nvPr/>
          </p:nvSpPr>
          <p:spPr>
            <a:xfrm>
              <a:off x="5142146" y="2650097"/>
              <a:ext cx="28503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0" i="0" u="none" strike="noStrike" dirty="0">
                  <a:solidFill>
                    <a:srgbClr val="0C3C26"/>
                  </a:solidFill>
                  <a:effectLst/>
                  <a:highlight>
                    <a:srgbClr val="FC8365"/>
                  </a:highlight>
                </a:rPr>
                <a:t>I am still encountering this issue </a:t>
              </a:r>
              <a:r>
                <a:rPr lang="en-US" sz="1200" b="0" i="0" u="none" strike="noStrike" dirty="0">
                  <a:solidFill>
                    <a:srgbClr val="0C3C26"/>
                  </a:solidFill>
                  <a:effectLst/>
                </a:rPr>
                <a:t>when running </a:t>
              </a:r>
              <a:r>
                <a:rPr lang="en-US" sz="1200" dirty="0" err="1"/>
                <a:t>makemigrations</a:t>
              </a:r>
              <a:r>
                <a:rPr lang="en-US" sz="1200" b="0" i="0" u="none" strike="noStrike" dirty="0">
                  <a:solidFill>
                    <a:srgbClr val="0C3C26"/>
                  </a:solidFill>
                  <a:effectLst/>
                </a:rPr>
                <a:t> on models that include a </a:t>
              </a:r>
              <a:r>
                <a:rPr lang="en-US" sz="1200" b="0" i="0" u="none" strike="noStrike" dirty="0" err="1">
                  <a:solidFill>
                    <a:srgbClr val="0C3C26"/>
                  </a:solidFill>
                  <a:effectLst/>
                </a:rPr>
                <a:t>django-enumfields</a:t>
              </a:r>
              <a:r>
                <a:rPr lang="en-US" sz="1200" b="0" i="0" u="none" strike="noStrike" dirty="0">
                  <a:solidFill>
                    <a:srgbClr val="0C3C26"/>
                  </a:solidFill>
                  <a:effectLst/>
                </a:rPr>
                <a:t> </a:t>
              </a:r>
              <a:r>
                <a:rPr lang="en-US" sz="1200" b="0" i="0" u="none" strike="noStrike" dirty="0" err="1">
                  <a:solidFill>
                    <a:srgbClr val="0C3C26"/>
                  </a:solidFill>
                  <a:effectLst/>
                </a:rPr>
                <a:t>EnumField</a:t>
              </a:r>
              <a:r>
                <a:rPr lang="en-US" sz="1200" b="0" i="0" u="none" strike="noStrike" dirty="0">
                  <a:solidFill>
                    <a:srgbClr val="0C3C26"/>
                  </a:solidFill>
                  <a:effectLst/>
                </a:rPr>
                <a:t>…</a:t>
              </a:r>
              <a:endParaRPr lang="en-US" sz="1200" b="1" i="1" u="none" strike="noStrike" dirty="0">
                <a:solidFill>
                  <a:srgbClr val="0C3C26"/>
                </a:solidFill>
                <a:effectLst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CDCF92-1805-0C7D-5D22-88F2F8247996}"/>
                </a:ext>
              </a:extLst>
            </p:cNvPr>
            <p:cNvSpPr txBox="1"/>
            <p:nvPr/>
          </p:nvSpPr>
          <p:spPr>
            <a:xfrm>
              <a:off x="6988502" y="2772473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pic>
          <p:nvPicPr>
            <p:cNvPr id="54" name="Graphic 53" descr="Programmer female with solid fill">
              <a:extLst>
                <a:ext uri="{FF2B5EF4-FFF2-40B4-BE49-F238E27FC236}">
                  <a16:creationId xmlns:a16="http://schemas.microsoft.com/office/drawing/2014/main" id="{C19BE7D3-D665-DF80-8D0A-D7D8728B3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77428" y="4019944"/>
              <a:ext cx="725089" cy="725089"/>
            </a:xfrm>
            <a:prstGeom prst="rect">
              <a:avLst/>
            </a:prstGeom>
          </p:spPr>
        </p:pic>
        <p:sp>
          <p:nvSpPr>
            <p:cNvPr id="55" name="Rounded Rectangular Callout 54">
              <a:extLst>
                <a:ext uri="{FF2B5EF4-FFF2-40B4-BE49-F238E27FC236}">
                  <a16:creationId xmlns:a16="http://schemas.microsoft.com/office/drawing/2014/main" id="{FC7A9D4F-681A-C0B1-869F-367FBDDB93FB}"/>
                </a:ext>
              </a:extLst>
            </p:cNvPr>
            <p:cNvSpPr/>
            <p:nvPr/>
          </p:nvSpPr>
          <p:spPr>
            <a:xfrm>
              <a:off x="5174942" y="3816893"/>
              <a:ext cx="2513622" cy="627007"/>
            </a:xfrm>
            <a:prstGeom prst="wedgeRoundRectCallout">
              <a:avLst>
                <a:gd name="adj1" fmla="val 45570"/>
                <a:gd name="adj2" fmla="val 68123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B78AE14-5738-723F-99AD-3BE4D348891C}"/>
                </a:ext>
              </a:extLst>
            </p:cNvPr>
            <p:cNvSpPr txBox="1"/>
            <p:nvPr/>
          </p:nvSpPr>
          <p:spPr>
            <a:xfrm>
              <a:off x="5262551" y="3816893"/>
              <a:ext cx="23347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dirty="0">
                  <a:highlight>
                    <a:srgbClr val="FC8365"/>
                  </a:highlight>
                </a:rPr>
                <a:t>PR #12125 </a:t>
              </a:r>
              <a:r>
                <a:rPr lang="en-US" sz="1200" b="1" u="none" strike="noStrike" dirty="0">
                  <a:effectLst/>
                </a:rPr>
                <a:t>Fixed #27914 -- Fixed serialization of nested classes in migrations.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E495134-ABBE-404E-CF25-E9423042BA1F}"/>
                </a:ext>
              </a:extLst>
            </p:cNvPr>
            <p:cNvSpPr txBox="1"/>
            <p:nvPr/>
          </p:nvSpPr>
          <p:spPr>
            <a:xfrm>
              <a:off x="7120855" y="2189087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FCA8E16-CDA6-39E2-8D96-FF922644A31E}"/>
                </a:ext>
              </a:extLst>
            </p:cNvPr>
            <p:cNvSpPr txBox="1"/>
            <p:nvPr/>
          </p:nvSpPr>
          <p:spPr>
            <a:xfrm>
              <a:off x="7120855" y="4671085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FB5CCC4-5BE2-3C50-082A-59146AD3B552}"/>
                </a:ext>
              </a:extLst>
            </p:cNvPr>
            <p:cNvSpPr txBox="1"/>
            <p:nvPr/>
          </p:nvSpPr>
          <p:spPr>
            <a:xfrm>
              <a:off x="6567333" y="882283"/>
              <a:ext cx="1545488" cy="2769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Partial fix issue 27914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DD0AFBD-3B6D-E013-686B-F44A942D8716}"/>
                </a:ext>
              </a:extLst>
            </p:cNvPr>
            <p:cNvSpPr txBox="1"/>
            <p:nvPr/>
          </p:nvSpPr>
          <p:spPr>
            <a:xfrm>
              <a:off x="6512069" y="3484248"/>
              <a:ext cx="2056817" cy="2769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CN" sz="1200" dirty="0"/>
                <a:t>Incremental Fix upon PR 8177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1402854-F378-1E8D-0091-1ADC9E6BEDEC}"/>
              </a:ext>
            </a:extLst>
          </p:cNvPr>
          <p:cNvGrpSpPr/>
          <p:nvPr/>
        </p:nvGrpSpPr>
        <p:grpSpPr>
          <a:xfrm>
            <a:off x="9288664" y="419200"/>
            <a:ext cx="2768177" cy="5424544"/>
            <a:chOff x="3677925" y="167304"/>
            <a:chExt cx="5435105" cy="4721378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4020BB7-8C74-5381-EA39-56D1D15D612B}"/>
                </a:ext>
              </a:extLst>
            </p:cNvPr>
            <p:cNvSpPr txBox="1"/>
            <p:nvPr/>
          </p:nvSpPr>
          <p:spPr>
            <a:xfrm>
              <a:off x="3677925" y="2926692"/>
              <a:ext cx="3627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b="1" dirty="0"/>
            </a:p>
          </p:txBody>
        </p:sp>
        <p:sp>
          <p:nvSpPr>
            <p:cNvPr id="88" name="Rounded Rectangular Callout 87">
              <a:extLst>
                <a:ext uri="{FF2B5EF4-FFF2-40B4-BE49-F238E27FC236}">
                  <a16:creationId xmlns:a16="http://schemas.microsoft.com/office/drawing/2014/main" id="{0AA36995-CFC4-6D06-2DC2-4B64C48048BA}"/>
                </a:ext>
              </a:extLst>
            </p:cNvPr>
            <p:cNvSpPr/>
            <p:nvPr/>
          </p:nvSpPr>
          <p:spPr>
            <a:xfrm>
              <a:off x="5331966" y="187498"/>
              <a:ext cx="2635306" cy="1424471"/>
            </a:xfrm>
            <a:prstGeom prst="wedgeRoundRectCallout">
              <a:avLst>
                <a:gd name="adj1" fmla="val -40226"/>
                <a:gd name="adj2" fmla="val 60946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89" name="Graphic 88" descr="User with solid fill">
              <a:extLst>
                <a:ext uri="{FF2B5EF4-FFF2-40B4-BE49-F238E27FC236}">
                  <a16:creationId xmlns:a16="http://schemas.microsoft.com/office/drawing/2014/main" id="{09735749-1A81-E0F4-397F-3E25D5863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72945" y="1397674"/>
              <a:ext cx="578735" cy="578735"/>
            </a:xfrm>
            <a:prstGeom prst="rect">
              <a:avLst/>
            </a:prstGeom>
          </p:spPr>
        </p:pic>
        <p:pic>
          <p:nvPicPr>
            <p:cNvPr id="90" name="Graphic 89" descr="Programmer female with solid fill">
              <a:extLst>
                <a:ext uri="{FF2B5EF4-FFF2-40B4-BE49-F238E27FC236}">
                  <a16:creationId xmlns:a16="http://schemas.microsoft.com/office/drawing/2014/main" id="{94B88AE9-8D0B-BC9A-6269-F6BD8E676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55436" y="2635295"/>
              <a:ext cx="673149" cy="673149"/>
            </a:xfrm>
            <a:prstGeom prst="rect">
              <a:avLst/>
            </a:prstGeom>
          </p:spPr>
        </p:pic>
        <p:sp>
          <p:nvSpPr>
            <p:cNvPr id="91" name="Rounded Rectangular Callout 90">
              <a:extLst>
                <a:ext uri="{FF2B5EF4-FFF2-40B4-BE49-F238E27FC236}">
                  <a16:creationId xmlns:a16="http://schemas.microsoft.com/office/drawing/2014/main" id="{9AD42BA7-FB63-C100-212E-538DD373D109}"/>
                </a:ext>
              </a:extLst>
            </p:cNvPr>
            <p:cNvSpPr/>
            <p:nvPr/>
          </p:nvSpPr>
          <p:spPr>
            <a:xfrm>
              <a:off x="5419561" y="2510205"/>
              <a:ext cx="2510183" cy="430070"/>
            </a:xfrm>
            <a:prstGeom prst="wedgeRoundRectCallout">
              <a:avLst>
                <a:gd name="adj1" fmla="val 45141"/>
                <a:gd name="adj2" fmla="val 84071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71B706F-1D81-0545-EEA5-C20B5D78176A}"/>
                </a:ext>
              </a:extLst>
            </p:cNvPr>
            <p:cNvSpPr txBox="1"/>
            <p:nvPr/>
          </p:nvSpPr>
          <p:spPr>
            <a:xfrm>
              <a:off x="4560224" y="1837909"/>
              <a:ext cx="1089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DE0AF2B-0E09-399A-DDAC-66B0F139EFCC}"/>
                </a:ext>
              </a:extLst>
            </p:cNvPr>
            <p:cNvSpPr txBox="1"/>
            <p:nvPr/>
          </p:nvSpPr>
          <p:spPr>
            <a:xfrm>
              <a:off x="5371394" y="167304"/>
              <a:ext cx="259587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i="1" dirty="0"/>
                <a:t>Issue #19005 </a:t>
              </a:r>
              <a:r>
                <a:rPr lang="en-US" sz="1200" b="1" i="0" u="none" strike="noStrike" dirty="0" err="1">
                  <a:effectLst/>
                </a:rPr>
                <a:t>pprint</a:t>
              </a:r>
              <a:r>
                <a:rPr lang="en-US" sz="1200" b="1" i="0" u="none" strike="noStrike" dirty="0">
                  <a:effectLst/>
                </a:rPr>
                <a:t> </a:t>
              </a:r>
              <a:r>
                <a:rPr lang="en-US" sz="1200" b="1" i="0" u="none" strike="noStrike" dirty="0" err="1">
                  <a:effectLst/>
                </a:rPr>
                <a:t>unicode</a:t>
              </a:r>
              <a:r>
                <a:rPr lang="en-US" sz="1200" b="1" i="0" u="none" strike="noStrike" dirty="0">
                  <a:effectLst/>
                </a:rPr>
                <a:t> does not format subscripts on Greek letters</a:t>
              </a:r>
              <a:br>
                <a:rPr lang="en-US" sz="1200" dirty="0"/>
              </a:br>
              <a:br>
                <a:rPr lang="en-US" sz="1200" dirty="0"/>
              </a:br>
              <a:r>
                <a:rPr lang="en-US" sz="1200" b="0" i="0" u="none" strike="noStrike" dirty="0">
                  <a:effectLst/>
                </a:rPr>
                <a:t>Good:</a:t>
              </a:r>
            </a:p>
            <a:p>
              <a:pPr algn="l"/>
              <a:r>
                <a:rPr lang="en-US" sz="1200" b="0" i="0" u="none" strike="noStrike" dirty="0">
                  <a:effectLst/>
                </a:rPr>
                <a:t>[ -t₀⋅w₀ -t₁⋅w₀ -t₂⋅w₀]</a:t>
              </a:r>
            </a:p>
            <a:p>
              <a:pPr algn="l"/>
              <a:r>
                <a:rPr lang="en-US" sz="1200" b="0" i="0" u="none" strike="noStrike" dirty="0">
                  <a:effectLst/>
                </a:rPr>
                <a:t>Bad:</a:t>
              </a:r>
            </a:p>
            <a:p>
              <a:pPr algn="l"/>
              <a:r>
                <a:rPr lang="en-US" sz="1200" b="0" i="0" u="none" strike="noStrike" dirty="0">
                  <a:effectLst/>
                </a:rPr>
                <a:t>[ -t₀⋅</a:t>
              </a:r>
              <a:r>
                <a:rPr lang="el-GR" sz="1200" b="0" i="0" u="none" strike="noStrike" dirty="0">
                  <a:effectLst/>
                </a:rPr>
                <a:t>ω0 -</a:t>
              </a:r>
              <a:r>
                <a:rPr lang="en-US" sz="1200" b="0" i="0" u="none" strike="noStrike" dirty="0">
                  <a:effectLst/>
                </a:rPr>
                <a:t>t₁⋅</a:t>
              </a:r>
              <a:r>
                <a:rPr lang="el-GR" sz="1200" b="0" i="0" u="none" strike="noStrike" dirty="0">
                  <a:effectLst/>
                </a:rPr>
                <a:t>ω0 -</a:t>
              </a:r>
              <a:r>
                <a:rPr lang="en-US" sz="1200" b="0" i="0" u="none" strike="noStrike" dirty="0">
                  <a:effectLst/>
                </a:rPr>
                <a:t>t₂⋅</a:t>
              </a:r>
              <a:r>
                <a:rPr lang="el-GR" sz="1200" b="0" i="0" u="none" strike="noStrike" dirty="0">
                  <a:effectLst/>
                </a:rPr>
                <a:t>ω0]</a:t>
              </a:r>
            </a:p>
            <a:p>
              <a:endParaRPr lang="en-CN" sz="12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495F783-5411-5A7F-4091-84F1AB40DD73}"/>
                </a:ext>
              </a:extLst>
            </p:cNvPr>
            <p:cNvSpPr txBox="1"/>
            <p:nvPr/>
          </p:nvSpPr>
          <p:spPr>
            <a:xfrm>
              <a:off x="7088398" y="595831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83E6E14-1AB5-D6BA-1998-BAC0D2A2ADB6}"/>
                </a:ext>
              </a:extLst>
            </p:cNvPr>
            <p:cNvSpPr txBox="1"/>
            <p:nvPr/>
          </p:nvSpPr>
          <p:spPr>
            <a:xfrm>
              <a:off x="5477210" y="2494024"/>
              <a:ext cx="27148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0" i="0" u="none" strike="noStrike" dirty="0">
                  <a:effectLst/>
                  <a:highlight>
                    <a:srgbClr val="FC8365"/>
                  </a:highlight>
                </a:rPr>
                <a:t>Could you provide the code which generates this?</a:t>
              </a:r>
              <a:endParaRPr lang="en-US" sz="1200" b="1" i="0" u="none" strike="noStrike" dirty="0">
                <a:effectLst/>
                <a:highlight>
                  <a:srgbClr val="FC8365"/>
                </a:highlight>
              </a:endParaRPr>
            </a:p>
          </p:txBody>
        </p:sp>
        <p:sp>
          <p:nvSpPr>
            <p:cNvPr id="97" name="Rounded Rectangular Callout 96">
              <a:extLst>
                <a:ext uri="{FF2B5EF4-FFF2-40B4-BE49-F238E27FC236}">
                  <a16:creationId xmlns:a16="http://schemas.microsoft.com/office/drawing/2014/main" id="{94BD7E41-3B33-713D-8B29-A23FFD201D58}"/>
                </a:ext>
              </a:extLst>
            </p:cNvPr>
            <p:cNvSpPr/>
            <p:nvPr/>
          </p:nvSpPr>
          <p:spPr>
            <a:xfrm>
              <a:off x="5383783" y="3341810"/>
              <a:ext cx="2635306" cy="1043933"/>
            </a:xfrm>
            <a:prstGeom prst="wedgeRoundRectCallout">
              <a:avLst>
                <a:gd name="adj1" fmla="val -40226"/>
                <a:gd name="adj2" fmla="val 60946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98" name="Graphic 97" descr="User with solid fill">
              <a:extLst>
                <a:ext uri="{FF2B5EF4-FFF2-40B4-BE49-F238E27FC236}">
                  <a16:creationId xmlns:a16="http://schemas.microsoft.com/office/drawing/2014/main" id="{0DE614FE-1CD9-2AB3-319A-E4F6FAD45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4762" y="4171448"/>
              <a:ext cx="578735" cy="578735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0F64A81-3158-1547-D956-3585372CBCE2}"/>
                </a:ext>
              </a:extLst>
            </p:cNvPr>
            <p:cNvSpPr txBox="1"/>
            <p:nvPr/>
          </p:nvSpPr>
          <p:spPr>
            <a:xfrm>
              <a:off x="4612041" y="4611683"/>
              <a:ext cx="1089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C1C868D-DE18-4262-7340-03784F74E9E6}"/>
                </a:ext>
              </a:extLst>
            </p:cNvPr>
            <p:cNvSpPr txBox="1"/>
            <p:nvPr/>
          </p:nvSpPr>
          <p:spPr>
            <a:xfrm>
              <a:off x="5477210" y="3341810"/>
              <a:ext cx="25958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/>
                <a:t>import </a:t>
              </a:r>
              <a:r>
                <a:rPr lang="en-US" sz="1200" dirty="0" err="1"/>
                <a:t>sympy</a:t>
              </a:r>
              <a:r>
                <a:rPr lang="en-US" sz="1200" dirty="0"/>
                <a:t> as </a:t>
              </a:r>
              <a:r>
                <a:rPr lang="en-US" sz="1200" dirty="0" err="1"/>
                <a:t>sp</a:t>
              </a:r>
              <a:endParaRPr lang="en-US" sz="1200" dirty="0"/>
            </a:p>
            <a:p>
              <a:pPr algn="l"/>
              <a:r>
                <a:rPr lang="en-US" sz="1200" dirty="0"/>
                <a:t>w=[</a:t>
              </a:r>
              <a:r>
                <a:rPr lang="en-US" sz="1200" dirty="0" err="1"/>
                <a:t>sp.Symbol</a:t>
              </a:r>
              <a:r>
                <a:rPr lang="en-US" sz="1200" dirty="0"/>
                <a:t>(</a:t>
              </a:r>
              <a:r>
                <a:rPr lang="en-US" sz="1200" dirty="0" err="1"/>
                <a:t>f'w</a:t>
              </a:r>
              <a:r>
                <a:rPr lang="en-US" sz="1200" dirty="0"/>
                <a:t>{</a:t>
              </a:r>
              <a:r>
                <a:rPr lang="en-US" sz="1200" dirty="0" err="1"/>
                <a:t>i</a:t>
              </a:r>
              <a:r>
                <a:rPr lang="en-US" sz="1200" dirty="0"/>
                <a:t>}') for </a:t>
              </a:r>
              <a:r>
                <a:rPr lang="en-US" sz="1200" dirty="0" err="1"/>
                <a:t>i</a:t>
              </a:r>
              <a:r>
                <a:rPr lang="en-US" sz="1200" dirty="0"/>
                <a:t> in range(4)]</a:t>
              </a:r>
            </a:p>
            <a:p>
              <a:pPr algn="l"/>
              <a:r>
                <a:rPr lang="el-GR" sz="1200" dirty="0"/>
                <a:t>ω=[</a:t>
              </a:r>
              <a:r>
                <a:rPr lang="en-US" sz="1200" dirty="0" err="1"/>
                <a:t>sp.Symbol</a:t>
              </a:r>
              <a:r>
                <a:rPr lang="en-US" sz="1200" dirty="0"/>
                <a:t>(f'</a:t>
              </a:r>
              <a:r>
                <a:rPr lang="el-GR" sz="1200" dirty="0"/>
                <a:t>ω{</a:t>
              </a:r>
              <a:r>
                <a:rPr lang="en-US" sz="1200" dirty="0" err="1"/>
                <a:t>i</a:t>
              </a:r>
              <a:r>
                <a:rPr lang="en-US" sz="1200" dirty="0"/>
                <a:t>}') for </a:t>
              </a:r>
              <a:r>
                <a:rPr lang="en-US" sz="1200" dirty="0" err="1"/>
                <a:t>i</a:t>
              </a:r>
              <a:r>
                <a:rPr lang="en-US" sz="1200" dirty="0"/>
                <a:t> in range(4)]</a:t>
              </a:r>
            </a:p>
            <a:p>
              <a:pPr algn="l"/>
              <a:r>
                <a:rPr lang="en-US" sz="1200" dirty="0" err="1"/>
                <a:t>sp.pprint</a:t>
              </a:r>
              <a:r>
                <a:rPr lang="en-US" sz="1200" dirty="0"/>
                <a:t>(w) # -&gt; [w₀, w₁, w₂, w₃]</a:t>
              </a:r>
            </a:p>
            <a:p>
              <a:pPr algn="l"/>
              <a:r>
                <a:rPr lang="en-US" sz="1200" dirty="0" err="1"/>
                <a:t>sp.pprint</a:t>
              </a:r>
              <a:r>
                <a:rPr lang="en-US" sz="1200" dirty="0"/>
                <a:t>(</a:t>
              </a:r>
              <a:r>
                <a:rPr lang="el-GR" sz="1200" dirty="0"/>
                <a:t>ω) # -&gt; [ω0, ω1, ω2, ω3]</a:t>
              </a:r>
              <a:endParaRPr lang="en-CN" sz="12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B951F06-95F5-A415-4265-6C40042AADE7}"/>
                </a:ext>
              </a:extLst>
            </p:cNvPr>
            <p:cNvSpPr txBox="1"/>
            <p:nvPr/>
          </p:nvSpPr>
          <p:spPr>
            <a:xfrm>
              <a:off x="7140215" y="336960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808E58C6-20B2-0B29-ADF0-54DE6D8745AF}"/>
                </a:ext>
              </a:extLst>
            </p:cNvPr>
            <p:cNvCxnSpPr>
              <a:cxnSpLocks/>
            </p:cNvCxnSpPr>
            <p:nvPr/>
          </p:nvCxnSpPr>
          <p:spPr>
            <a:xfrm>
              <a:off x="4498727" y="2114908"/>
              <a:ext cx="4293883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48148F-8BB7-ADDA-B728-11FB8BD5CF49}"/>
                </a:ext>
              </a:extLst>
            </p:cNvPr>
            <p:cNvSpPr txBox="1"/>
            <p:nvPr/>
          </p:nvSpPr>
          <p:spPr>
            <a:xfrm>
              <a:off x="7638714" y="1736964"/>
              <a:ext cx="1126142" cy="276999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Agents see this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92ECC50-CC67-4CB4-12BA-AE087D91F52F}"/>
                </a:ext>
              </a:extLst>
            </p:cNvPr>
            <p:cNvSpPr txBox="1"/>
            <p:nvPr/>
          </p:nvSpPr>
          <p:spPr>
            <a:xfrm>
              <a:off x="7619801" y="2158903"/>
              <a:ext cx="1493229" cy="276999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Agents don’t see this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860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5BF7B0BE-714F-6794-3C18-8E61061BBA8A}"/>
              </a:ext>
            </a:extLst>
          </p:cNvPr>
          <p:cNvSpPr/>
          <p:nvPr/>
        </p:nvSpPr>
        <p:spPr>
          <a:xfrm>
            <a:off x="565098" y="152399"/>
            <a:ext cx="1821514" cy="1184957"/>
          </a:xfrm>
          <a:prstGeom prst="wedgeRoundRectCallout">
            <a:avLst>
              <a:gd name="adj1" fmla="val -42181"/>
              <a:gd name="adj2" fmla="val 6185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0D29F066-C10A-9DD2-E8CD-C58AEB5A5708}"/>
              </a:ext>
            </a:extLst>
          </p:cNvPr>
          <p:cNvSpPr/>
          <p:nvPr/>
        </p:nvSpPr>
        <p:spPr>
          <a:xfrm>
            <a:off x="459551" y="1690419"/>
            <a:ext cx="1994943" cy="3046988"/>
          </a:xfrm>
          <a:prstGeom prst="wedgeRoundRectCallout">
            <a:avLst>
              <a:gd name="adj1" fmla="val 45570"/>
              <a:gd name="adj2" fmla="val 5711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D0ECA4-FEB4-F0AD-891D-2F76E702809E}"/>
              </a:ext>
            </a:extLst>
          </p:cNvPr>
          <p:cNvGrpSpPr/>
          <p:nvPr/>
        </p:nvGrpSpPr>
        <p:grpSpPr>
          <a:xfrm>
            <a:off x="9250189" y="947172"/>
            <a:ext cx="1356189" cy="677769"/>
            <a:chOff x="-1867" y="1072240"/>
            <a:chExt cx="1356189" cy="677769"/>
          </a:xfrm>
        </p:grpSpPr>
        <p:pic>
          <p:nvPicPr>
            <p:cNvPr id="6" name="Graphic 5" descr="User with solid fill">
              <a:extLst>
                <a:ext uri="{FF2B5EF4-FFF2-40B4-BE49-F238E27FC236}">
                  <a16:creationId xmlns:a16="http://schemas.microsoft.com/office/drawing/2014/main" id="{001A0356-AAF9-6EC0-9C56-95306BB83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9149" y="1072240"/>
              <a:ext cx="457079" cy="511635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3E151F-B34C-F2AC-92F2-277B53F40BD2}"/>
                </a:ext>
              </a:extLst>
            </p:cNvPr>
            <p:cNvSpPr txBox="1"/>
            <p:nvPr/>
          </p:nvSpPr>
          <p:spPr>
            <a:xfrm>
              <a:off x="-1867" y="1473010"/>
              <a:ext cx="1356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200" dirty="0"/>
                <a:t>Issue Reporterx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E21F42D-6B69-51AB-F222-A81666200F47}"/>
              </a:ext>
            </a:extLst>
          </p:cNvPr>
          <p:cNvGrpSpPr/>
          <p:nvPr/>
        </p:nvGrpSpPr>
        <p:grpSpPr>
          <a:xfrm>
            <a:off x="2082039" y="4556594"/>
            <a:ext cx="1013237" cy="909927"/>
            <a:chOff x="2064849" y="4877709"/>
            <a:chExt cx="1013237" cy="909927"/>
          </a:xfrm>
        </p:grpSpPr>
        <p:pic>
          <p:nvPicPr>
            <p:cNvPr id="8" name="Graphic 7" descr="Programmer female with solid fill">
              <a:extLst>
                <a:ext uri="{FF2B5EF4-FFF2-40B4-BE49-F238E27FC236}">
                  <a16:creationId xmlns:a16="http://schemas.microsoft.com/office/drawing/2014/main" id="{8AEA4EF1-23E3-E65D-B8CA-508BC8889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9010" y="4877709"/>
              <a:ext cx="469572" cy="52527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534D65-A828-071C-51D0-B9CAB15D4D91}"/>
                </a:ext>
              </a:extLst>
            </p:cNvPr>
            <p:cNvSpPr txBox="1"/>
            <p:nvPr/>
          </p:nvSpPr>
          <p:spPr>
            <a:xfrm>
              <a:off x="2064849" y="5325971"/>
              <a:ext cx="1013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7D69DC0-5D52-0FB2-8D8C-E96026D59F29}"/>
              </a:ext>
            </a:extLst>
          </p:cNvPr>
          <p:cNvSpPr txBox="1"/>
          <p:nvPr/>
        </p:nvSpPr>
        <p:spPr>
          <a:xfrm>
            <a:off x="560226" y="138502"/>
            <a:ext cx="2005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Issue #10570 </a:t>
            </a:r>
            <a:r>
              <a:rPr lang="en-US" sz="1200" i="1" dirty="0"/>
              <a:t>Inheritance-diagram 404 links with SVG. 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u="none" strike="noStrike" dirty="0">
                <a:effectLst/>
                <a:latin typeface="quote-cjk-patch"/>
              </a:rPr>
              <a:t>SVG inheritance diagram links break when generated in subdirectories</a:t>
            </a:r>
            <a:r>
              <a:rPr lang="en-US" sz="1200" dirty="0">
                <a:latin typeface="quote-cjk-patch"/>
              </a:rPr>
              <a:t>.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8C24E0-2EEC-ED84-B542-EB13F75628C0}"/>
              </a:ext>
            </a:extLst>
          </p:cNvPr>
          <p:cNvSpPr txBox="1"/>
          <p:nvPr/>
        </p:nvSpPr>
        <p:spPr>
          <a:xfrm>
            <a:off x="1665403" y="1064559"/>
            <a:ext cx="112078" cy="399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369826-A11D-BE12-34B5-5989191D7CF0}"/>
              </a:ext>
            </a:extLst>
          </p:cNvPr>
          <p:cNvSpPr txBox="1"/>
          <p:nvPr/>
        </p:nvSpPr>
        <p:spPr>
          <a:xfrm>
            <a:off x="429253" y="1704326"/>
            <a:ext cx="21594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1" dirty="0"/>
              <a:t>PR #10614 </a:t>
            </a:r>
            <a:r>
              <a:rPr lang="en-US" sz="1200" i="1" u="none" strike="noStrike" dirty="0">
                <a:effectLst/>
              </a:rPr>
              <a:t>Fixes missing and broken links in inheritance diagrams.</a:t>
            </a:r>
            <a:br>
              <a:rPr lang="en-US" sz="1200" b="1" i="0" u="none" strike="noStrike" dirty="0">
                <a:effectLst/>
                <a:highlight>
                  <a:srgbClr val="C0C0C0"/>
                </a:highlight>
              </a:rPr>
            </a:br>
            <a:br>
              <a:rPr lang="en-US" sz="1200" b="1" i="0" u="none" strike="noStrike" dirty="0">
                <a:effectLst/>
                <a:highlight>
                  <a:srgbClr val="C0C0C0"/>
                </a:highlight>
              </a:rPr>
            </a:br>
            <a:r>
              <a:rPr lang="en-US" sz="1200" b="0" i="0" u="none" strike="noStrike" dirty="0">
                <a:effectLst/>
              </a:rPr>
              <a:t>There are </a:t>
            </a:r>
            <a:r>
              <a:rPr lang="en-US" sz="1200" b="1" i="0" u="none" strike="noStrike" dirty="0">
                <a:effectLst/>
              </a:rPr>
              <a:t>multiple bugs </a:t>
            </a:r>
            <a:r>
              <a:rPr lang="en-US" sz="1200" b="0" i="0" u="none" strike="noStrike" dirty="0">
                <a:effectLst/>
              </a:rPr>
              <a:t>that result in missing or broken links in inheritance diagrams.</a:t>
            </a:r>
            <a:br>
              <a:rPr lang="en-US" sz="1200" b="0" i="0" u="none" strike="noStrike" dirty="0">
                <a:effectLst/>
              </a:rPr>
            </a:br>
            <a:r>
              <a:rPr lang="en-US" sz="1200" b="1" i="0" u="none" strike="noStrike" dirty="0">
                <a:solidFill>
                  <a:srgbClr val="FF0000"/>
                </a:solidFill>
                <a:effectLst/>
              </a:rPr>
              <a:t>Missing links: </a:t>
            </a:r>
            <a:r>
              <a:rPr lang="en-US" sz="1200" i="1" dirty="0" err="1"/>
              <a:t>reftitle</a:t>
            </a:r>
            <a:r>
              <a:rPr lang="en-US" sz="1200" i="0" u="none" strike="noStrike" dirty="0">
                <a:effectLst/>
              </a:rPr>
              <a:t> does not contain the name of the class……</a:t>
            </a:r>
            <a:br>
              <a:rPr lang="en-US" sz="1200" b="0" i="0" u="none" strike="noStrike" dirty="0">
                <a:effectLst/>
              </a:rPr>
            </a:br>
            <a:r>
              <a:rPr lang="en-US" sz="1200" b="1" i="0" u="none" strike="noStrike" dirty="0">
                <a:solidFill>
                  <a:srgbClr val="FF0000"/>
                </a:solidFill>
                <a:effectLst/>
              </a:rPr>
              <a:t>Broken links: </a:t>
            </a:r>
            <a:r>
              <a:rPr lang="en-US" sz="1200" b="0" i="0" u="none" strike="noStrike" dirty="0">
                <a:effectLst/>
              </a:rPr>
              <a:t>Fixed a relative-path bug in </a:t>
            </a:r>
            <a:r>
              <a:rPr lang="en-US" sz="1200" i="1" dirty="0" err="1"/>
              <a:t>ext.inheritance_diagram</a:t>
            </a:r>
            <a:r>
              <a:rPr lang="en-US" sz="1200" dirty="0"/>
              <a:t>……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>
                <a:solidFill>
                  <a:srgbClr val="FF0000"/>
                </a:solidFill>
              </a:rPr>
              <a:t>Closes #865 · Closes #3176 </a:t>
            </a:r>
            <a:r>
              <a:rPr lang="en-US" sz="1200" dirty="0"/>
              <a:t>· Closes #10570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7828936-ED9A-F288-B114-7869B11E1BD2}"/>
              </a:ext>
            </a:extLst>
          </p:cNvPr>
          <p:cNvSpPr txBox="1"/>
          <p:nvPr/>
        </p:nvSpPr>
        <p:spPr>
          <a:xfrm>
            <a:off x="503021" y="4727562"/>
            <a:ext cx="1213060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CN" sz="1400" b="1" dirty="0">
                <a:solidFill>
                  <a:srgbClr val="FF0000"/>
                </a:solidFill>
              </a:rPr>
              <a:t>Scope Creep</a:t>
            </a:r>
          </a:p>
        </p:txBody>
      </p:sp>
      <p:sp>
        <p:nvSpPr>
          <p:cNvPr id="120" name="Rounded Rectangular Callout 119">
            <a:extLst>
              <a:ext uri="{FF2B5EF4-FFF2-40B4-BE49-F238E27FC236}">
                <a16:creationId xmlns:a16="http://schemas.microsoft.com/office/drawing/2014/main" id="{F29E8176-A0DD-6824-2028-09F65ADB9D5B}"/>
              </a:ext>
            </a:extLst>
          </p:cNvPr>
          <p:cNvSpPr/>
          <p:nvPr/>
        </p:nvSpPr>
        <p:spPr>
          <a:xfrm>
            <a:off x="6807992" y="148074"/>
            <a:ext cx="1925561" cy="566862"/>
          </a:xfrm>
          <a:prstGeom prst="wedgeRoundRectCallout">
            <a:avLst>
              <a:gd name="adj1" fmla="val -45184"/>
              <a:gd name="adj2" fmla="val 7450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790C3AC-E34B-5625-8AEA-847502700CCF}"/>
              </a:ext>
            </a:extLst>
          </p:cNvPr>
          <p:cNvSpPr txBox="1"/>
          <p:nvPr/>
        </p:nvSpPr>
        <p:spPr>
          <a:xfrm>
            <a:off x="6745958" y="123928"/>
            <a:ext cx="2134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Issue #27914 </a:t>
            </a:r>
            <a:r>
              <a:rPr lang="en-US" sz="1200" i="1" u="none" strike="noStrike" dirty="0" err="1">
                <a:effectLst/>
              </a:rPr>
              <a:t>makemigrations</a:t>
            </a:r>
            <a:r>
              <a:rPr lang="en-US" sz="1200" i="1" u="none" strike="noStrike" dirty="0">
                <a:effectLst/>
              </a:rPr>
              <a:t> produces incorrect path for inner classes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24989C2-E13F-EAD9-F32F-BA5B610A37C7}"/>
              </a:ext>
            </a:extLst>
          </p:cNvPr>
          <p:cNvSpPr txBox="1"/>
          <p:nvPr/>
        </p:nvSpPr>
        <p:spPr>
          <a:xfrm>
            <a:off x="7919923" y="579605"/>
            <a:ext cx="112752" cy="36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sz="1200" dirty="0"/>
          </a:p>
        </p:txBody>
      </p:sp>
      <p:sp>
        <p:nvSpPr>
          <p:cNvPr id="126" name="Rounded Rectangular Callout 125">
            <a:extLst>
              <a:ext uri="{FF2B5EF4-FFF2-40B4-BE49-F238E27FC236}">
                <a16:creationId xmlns:a16="http://schemas.microsoft.com/office/drawing/2014/main" id="{46392C6A-B154-B93C-84D3-DFAED520BDD5}"/>
              </a:ext>
            </a:extLst>
          </p:cNvPr>
          <p:cNvSpPr/>
          <p:nvPr/>
        </p:nvSpPr>
        <p:spPr>
          <a:xfrm>
            <a:off x="6810957" y="1196390"/>
            <a:ext cx="1922596" cy="553232"/>
          </a:xfrm>
          <a:prstGeom prst="wedgeRoundRectCallout">
            <a:avLst>
              <a:gd name="adj1" fmla="val 45570"/>
              <a:gd name="adj2" fmla="val 68123"/>
              <a:gd name="adj3" fmla="val 16667"/>
            </a:avLst>
          </a:prstGeom>
          <a:noFill/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D0151C5-64DE-DD90-CCAA-813A19623BFD}"/>
              </a:ext>
            </a:extLst>
          </p:cNvPr>
          <p:cNvSpPr txBox="1"/>
          <p:nvPr/>
        </p:nvSpPr>
        <p:spPr>
          <a:xfrm>
            <a:off x="6768941" y="1168123"/>
            <a:ext cx="1964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1" dirty="0"/>
              <a:t>PR #8177:</a:t>
            </a:r>
            <a:r>
              <a:rPr lang="en-US" sz="1200" i="1" dirty="0"/>
              <a:t> </a:t>
            </a:r>
            <a:r>
              <a:rPr lang="en-US" sz="1200" b="1" i="1" u="none" strike="noStrike" dirty="0">
                <a:solidFill>
                  <a:srgbClr val="FF0000"/>
                </a:solidFill>
                <a:effectLst/>
              </a:rPr>
              <a:t>Fixed #27914 </a:t>
            </a:r>
            <a:r>
              <a:rPr lang="en-US" sz="1200" i="1" u="none" strike="noStrike" dirty="0">
                <a:effectLst/>
              </a:rPr>
              <a:t>-- Used qualified name to extract model field path.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A05038DB-F54A-C31F-0DDE-75BDEA1DC41A}"/>
              </a:ext>
            </a:extLst>
          </p:cNvPr>
          <p:cNvSpPr txBox="1"/>
          <p:nvPr/>
        </p:nvSpPr>
        <p:spPr>
          <a:xfrm>
            <a:off x="7323103" y="2193658"/>
            <a:ext cx="583990" cy="36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b="1" dirty="0"/>
              <a:t>After Merge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67534F45-BBE5-7631-6F79-B01B8BCFCE64}"/>
              </a:ext>
            </a:extLst>
          </p:cNvPr>
          <p:cNvCxnSpPr>
            <a:cxnSpLocks/>
          </p:cNvCxnSpPr>
          <p:nvPr/>
        </p:nvCxnSpPr>
        <p:spPr>
          <a:xfrm>
            <a:off x="6295619" y="2458560"/>
            <a:ext cx="2998516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0" name="Rounded Rectangular Callout 129">
            <a:extLst>
              <a:ext uri="{FF2B5EF4-FFF2-40B4-BE49-F238E27FC236}">
                <a16:creationId xmlns:a16="http://schemas.microsoft.com/office/drawing/2014/main" id="{DBA55FB2-0470-6C04-9C20-817AB2E65B08}"/>
              </a:ext>
            </a:extLst>
          </p:cNvPr>
          <p:cNvSpPr/>
          <p:nvPr/>
        </p:nvSpPr>
        <p:spPr>
          <a:xfrm>
            <a:off x="6861422" y="2543076"/>
            <a:ext cx="1871210" cy="958855"/>
          </a:xfrm>
          <a:prstGeom prst="wedgeRoundRectCallout">
            <a:avLst>
              <a:gd name="adj1" fmla="val -44204"/>
              <a:gd name="adj2" fmla="val 6535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11B0B4A-6736-CDE9-7141-77392D8812A4}"/>
              </a:ext>
            </a:extLst>
          </p:cNvPr>
          <p:cNvSpPr txBox="1"/>
          <p:nvPr/>
        </p:nvSpPr>
        <p:spPr>
          <a:xfrm>
            <a:off x="6826491" y="2515440"/>
            <a:ext cx="1974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u="none" strike="noStrike" dirty="0">
                <a:solidFill>
                  <a:srgbClr val="FF0000"/>
                </a:solidFill>
                <a:effectLst/>
              </a:rPr>
              <a:t>I am still encountering this issue </a:t>
            </a:r>
            <a:r>
              <a:rPr lang="en-US" sz="1200" b="0" i="0" u="none" strike="noStrike" dirty="0">
                <a:effectLst/>
              </a:rPr>
              <a:t>when running  </a:t>
            </a:r>
          </a:p>
          <a:p>
            <a:r>
              <a:rPr lang="en-US" sz="1200" dirty="0" err="1"/>
              <a:t>makemigrations</a:t>
            </a:r>
            <a:r>
              <a:rPr lang="en-US" sz="1200" b="0" i="0" u="none" strike="noStrike" dirty="0">
                <a:effectLst/>
              </a:rPr>
              <a:t> on models that include a </a:t>
            </a:r>
            <a:r>
              <a:rPr lang="en-US" sz="1200" b="0" i="0" u="none" strike="noStrike" dirty="0" err="1">
                <a:effectLst/>
              </a:rPr>
              <a:t>django</a:t>
            </a:r>
            <a:r>
              <a:rPr lang="en-US" sz="1200" b="0" i="0" u="none" strike="noStrike" dirty="0">
                <a:effectLst/>
              </a:rPr>
              <a:t> </a:t>
            </a:r>
            <a:r>
              <a:rPr lang="en-US" sz="1200" b="0" i="0" u="none" strike="noStrike" dirty="0" err="1">
                <a:effectLst/>
              </a:rPr>
              <a:t>enumfields</a:t>
            </a:r>
            <a:r>
              <a:rPr lang="en-US" sz="1200" b="0" i="0" u="none" strike="noStrike" dirty="0">
                <a:effectLst/>
              </a:rPr>
              <a:t> </a:t>
            </a:r>
            <a:r>
              <a:rPr lang="en-US" sz="1200" b="0" i="0" u="none" strike="noStrike" dirty="0" err="1">
                <a:effectLst/>
              </a:rPr>
              <a:t>EnumField</a:t>
            </a:r>
            <a:r>
              <a:rPr lang="en-US" sz="1200" b="0" i="0" u="none" strike="noStrike" dirty="0">
                <a:effectLst/>
              </a:rPr>
              <a:t>…</a:t>
            </a:r>
            <a:endParaRPr lang="en-US" sz="1200" b="1" i="1" u="none" strike="noStrike" dirty="0">
              <a:effectLst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76F4EE5-EF8F-2C0B-E80C-2D2628211AFA}"/>
              </a:ext>
            </a:extLst>
          </p:cNvPr>
          <p:cNvSpPr txBox="1"/>
          <p:nvPr/>
        </p:nvSpPr>
        <p:spPr>
          <a:xfrm>
            <a:off x="7994867" y="3700929"/>
            <a:ext cx="112752" cy="363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sz="1200" dirty="0"/>
          </a:p>
        </p:txBody>
      </p:sp>
      <p:sp>
        <p:nvSpPr>
          <p:cNvPr id="136" name="Rounded Rectangular Callout 135">
            <a:extLst>
              <a:ext uri="{FF2B5EF4-FFF2-40B4-BE49-F238E27FC236}">
                <a16:creationId xmlns:a16="http://schemas.microsoft.com/office/drawing/2014/main" id="{EFDC036F-80F1-2A1E-6CB9-9155601CAB1E}"/>
              </a:ext>
            </a:extLst>
          </p:cNvPr>
          <p:cNvSpPr/>
          <p:nvPr/>
        </p:nvSpPr>
        <p:spPr>
          <a:xfrm>
            <a:off x="6856558" y="4017105"/>
            <a:ext cx="1863065" cy="664727"/>
          </a:xfrm>
          <a:prstGeom prst="wedgeRoundRectCallout">
            <a:avLst>
              <a:gd name="adj1" fmla="val 45570"/>
              <a:gd name="adj2" fmla="val 6812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E5075E1-A026-EBCB-FA1A-8630A77F47C8}"/>
              </a:ext>
            </a:extLst>
          </p:cNvPr>
          <p:cNvSpPr txBox="1"/>
          <p:nvPr/>
        </p:nvSpPr>
        <p:spPr>
          <a:xfrm>
            <a:off x="6812413" y="4076274"/>
            <a:ext cx="1938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1" dirty="0"/>
              <a:t>PR #12125: </a:t>
            </a:r>
            <a:r>
              <a:rPr lang="en-US" sz="1200" b="1" i="1" u="none" strike="noStrike" dirty="0">
                <a:solidFill>
                  <a:srgbClr val="FF0000"/>
                </a:solidFill>
                <a:effectLst/>
              </a:rPr>
              <a:t>Fixed #27914 </a:t>
            </a:r>
            <a:r>
              <a:rPr lang="en-US" sz="1200" i="1" u="none" strike="noStrike" dirty="0">
                <a:effectLst/>
              </a:rPr>
              <a:t>-- Fixed serialization of nested classes in migrations.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25463AF-E77A-E421-C48F-CDE3B5A9BB92}"/>
              </a:ext>
            </a:extLst>
          </p:cNvPr>
          <p:cNvSpPr txBox="1"/>
          <p:nvPr/>
        </p:nvSpPr>
        <p:spPr>
          <a:xfrm>
            <a:off x="7305471" y="3718206"/>
            <a:ext cx="1156927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CN" sz="1400" b="1" dirty="0">
                <a:solidFill>
                  <a:srgbClr val="FF0000"/>
                </a:solidFill>
              </a:rPr>
              <a:t>Follow-up PR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C3D57C2-B5F8-C3C4-A623-CD0C27E25FB1}"/>
              </a:ext>
            </a:extLst>
          </p:cNvPr>
          <p:cNvSpPr txBox="1"/>
          <p:nvPr/>
        </p:nvSpPr>
        <p:spPr>
          <a:xfrm>
            <a:off x="7287906" y="852470"/>
            <a:ext cx="915950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CN" sz="1400" b="1" dirty="0">
                <a:solidFill>
                  <a:srgbClr val="FF0000"/>
                </a:solidFill>
              </a:rPr>
              <a:t>Partial Fix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F7F08399-E347-E2FE-298C-CB9F90A6321E}"/>
              </a:ext>
            </a:extLst>
          </p:cNvPr>
          <p:cNvSpPr txBox="1"/>
          <p:nvPr/>
        </p:nvSpPr>
        <p:spPr>
          <a:xfrm>
            <a:off x="9015971" y="3895475"/>
            <a:ext cx="184731" cy="31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sz="1200" b="1" dirty="0"/>
          </a:p>
        </p:txBody>
      </p:sp>
      <p:sp>
        <p:nvSpPr>
          <p:cNvPr id="179" name="Rounded Rectangular Callout 178">
            <a:extLst>
              <a:ext uri="{FF2B5EF4-FFF2-40B4-BE49-F238E27FC236}">
                <a16:creationId xmlns:a16="http://schemas.microsoft.com/office/drawing/2014/main" id="{FEE87CE1-3DCE-A6EA-3D27-B5131AF49F35}"/>
              </a:ext>
            </a:extLst>
          </p:cNvPr>
          <p:cNvSpPr/>
          <p:nvPr/>
        </p:nvSpPr>
        <p:spPr>
          <a:xfrm>
            <a:off x="9882222" y="135328"/>
            <a:ext cx="1833237" cy="1120131"/>
          </a:xfrm>
          <a:prstGeom prst="wedgeRoundRectCallout">
            <a:avLst>
              <a:gd name="adj1" fmla="val -40226"/>
              <a:gd name="adj2" fmla="val 6094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182" name="Rounded Rectangular Callout 181">
            <a:extLst>
              <a:ext uri="{FF2B5EF4-FFF2-40B4-BE49-F238E27FC236}">
                <a16:creationId xmlns:a16="http://schemas.microsoft.com/office/drawing/2014/main" id="{951F3D48-D5A4-1C67-7FB8-2C7BE886D0CA}"/>
              </a:ext>
            </a:extLst>
          </p:cNvPr>
          <p:cNvSpPr/>
          <p:nvPr/>
        </p:nvSpPr>
        <p:spPr>
          <a:xfrm>
            <a:off x="9936993" y="1681106"/>
            <a:ext cx="1778466" cy="395044"/>
          </a:xfrm>
          <a:prstGeom prst="wedgeRoundRectCallout">
            <a:avLst>
              <a:gd name="adj1" fmla="val 42842"/>
              <a:gd name="adj2" fmla="val 7005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B4E7DC4-2A56-7673-EDB9-715ABE56CD6C}"/>
              </a:ext>
            </a:extLst>
          </p:cNvPr>
          <p:cNvSpPr txBox="1"/>
          <p:nvPr/>
        </p:nvSpPr>
        <p:spPr>
          <a:xfrm>
            <a:off x="9929692" y="119119"/>
            <a:ext cx="1886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1" dirty="0"/>
              <a:t>Issue #19005: </a:t>
            </a:r>
            <a:r>
              <a:rPr lang="en-US" sz="1200" i="1" u="none" strike="noStrike" dirty="0" err="1">
                <a:effectLst/>
              </a:rPr>
              <a:t>pprint</a:t>
            </a:r>
            <a:r>
              <a:rPr lang="en-US" sz="1200" i="1" u="none" strike="noStrike" dirty="0">
                <a:effectLst/>
              </a:rPr>
              <a:t> </a:t>
            </a:r>
            <a:r>
              <a:rPr lang="en-US" sz="1200" i="1" u="none" strike="noStrike" dirty="0" err="1">
                <a:effectLst/>
              </a:rPr>
              <a:t>unicode</a:t>
            </a:r>
            <a:r>
              <a:rPr lang="en-US" sz="1200" i="1" u="none" strike="noStrike" dirty="0">
                <a:effectLst/>
              </a:rPr>
              <a:t> does not format subscripts on Greek letters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0" i="0" u="none" strike="noStrike" dirty="0">
                <a:effectLst/>
              </a:rPr>
              <a:t>Good:[ -t₀⋅w₀ -t₁⋅w₀ -t₂⋅w₀]</a:t>
            </a:r>
          </a:p>
          <a:p>
            <a:pPr algn="l"/>
            <a:r>
              <a:rPr lang="en-US" sz="1200" b="0" i="0" u="none" strike="noStrike" dirty="0">
                <a:effectLst/>
              </a:rPr>
              <a:t>Bad: [ -t₀⋅</a:t>
            </a:r>
            <a:r>
              <a:rPr lang="el-GR" sz="1200" b="0" i="0" u="none" strike="noStrike" dirty="0">
                <a:effectLst/>
              </a:rPr>
              <a:t>ω0 -</a:t>
            </a:r>
            <a:r>
              <a:rPr lang="en-US" sz="1200" b="0" i="0" u="none" strike="noStrike" dirty="0">
                <a:effectLst/>
              </a:rPr>
              <a:t>t₁⋅</a:t>
            </a:r>
            <a:r>
              <a:rPr lang="el-GR" sz="1200" b="0" i="0" u="none" strike="noStrike" dirty="0">
                <a:effectLst/>
              </a:rPr>
              <a:t>ω0 -</a:t>
            </a:r>
            <a:r>
              <a:rPr lang="en-US" sz="1200" b="0" i="0" u="none" strike="noStrike" dirty="0">
                <a:effectLst/>
              </a:rPr>
              <a:t>t₂⋅</a:t>
            </a:r>
            <a:r>
              <a:rPr lang="el-GR" sz="1200" b="0" i="0" u="none" strike="noStrike" dirty="0">
                <a:effectLst/>
              </a:rPr>
              <a:t>ω0]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D3690C2-0533-3425-35AA-971CE93EA030}"/>
              </a:ext>
            </a:extLst>
          </p:cNvPr>
          <p:cNvSpPr txBox="1"/>
          <p:nvPr/>
        </p:nvSpPr>
        <p:spPr>
          <a:xfrm>
            <a:off x="10633638" y="1117263"/>
            <a:ext cx="94086" cy="31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sz="1200" dirty="0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14CCAA9D-B513-3DE7-878C-30E3B4D591D7}"/>
              </a:ext>
            </a:extLst>
          </p:cNvPr>
          <p:cNvSpPr txBox="1"/>
          <p:nvPr/>
        </p:nvSpPr>
        <p:spPr>
          <a:xfrm>
            <a:off x="9879575" y="1661295"/>
            <a:ext cx="197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u="none" strike="noStrike" dirty="0">
                <a:solidFill>
                  <a:srgbClr val="FF0000"/>
                </a:solidFill>
                <a:effectLst/>
              </a:rPr>
              <a:t>Could you provide the code which generates this?</a:t>
            </a:r>
          </a:p>
        </p:txBody>
      </p:sp>
      <p:sp>
        <p:nvSpPr>
          <p:cNvPr id="187" name="Rounded Rectangular Callout 186">
            <a:extLst>
              <a:ext uri="{FF2B5EF4-FFF2-40B4-BE49-F238E27FC236}">
                <a16:creationId xmlns:a16="http://schemas.microsoft.com/office/drawing/2014/main" id="{5E3A59DC-1A7C-B64E-E6FC-72487B3A0929}"/>
              </a:ext>
            </a:extLst>
          </p:cNvPr>
          <p:cNvSpPr/>
          <p:nvPr/>
        </p:nvSpPr>
        <p:spPr>
          <a:xfrm>
            <a:off x="9936993" y="2924334"/>
            <a:ext cx="1777846" cy="1852857"/>
          </a:xfrm>
          <a:prstGeom prst="wedgeRoundRectCallout">
            <a:avLst>
              <a:gd name="adj1" fmla="val -40992"/>
              <a:gd name="adj2" fmla="val 5943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62FBBDF-DACA-64DC-32DC-CD5A172F5725}"/>
              </a:ext>
            </a:extLst>
          </p:cNvPr>
          <p:cNvSpPr txBox="1"/>
          <p:nvPr/>
        </p:nvSpPr>
        <p:spPr>
          <a:xfrm>
            <a:off x="9960793" y="3003656"/>
            <a:ext cx="18918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import </a:t>
            </a:r>
            <a:r>
              <a:rPr lang="en-US" sz="1200" dirty="0" err="1"/>
              <a:t>sympy</a:t>
            </a:r>
            <a:r>
              <a:rPr lang="en-US" sz="1200" dirty="0"/>
              <a:t> as </a:t>
            </a:r>
            <a:r>
              <a:rPr lang="en-US" sz="1200" dirty="0" err="1"/>
              <a:t>sp</a:t>
            </a:r>
            <a:endParaRPr lang="en-US" sz="1200" dirty="0"/>
          </a:p>
          <a:p>
            <a:pPr algn="l"/>
            <a:r>
              <a:rPr lang="en-US" sz="1200" dirty="0"/>
              <a:t>w=[</a:t>
            </a:r>
            <a:r>
              <a:rPr lang="en-US" sz="1200" dirty="0" err="1"/>
              <a:t>sp.Symbol</a:t>
            </a:r>
            <a:r>
              <a:rPr lang="en-US" sz="1200" dirty="0"/>
              <a:t>(</a:t>
            </a:r>
            <a:r>
              <a:rPr lang="en-US" sz="1200" dirty="0" err="1"/>
              <a:t>f'w</a:t>
            </a:r>
            <a:r>
              <a:rPr lang="en-US" sz="1200" dirty="0"/>
              <a:t>{</a:t>
            </a:r>
            <a:r>
              <a:rPr lang="en-US" sz="1200" dirty="0" err="1"/>
              <a:t>i</a:t>
            </a:r>
            <a:r>
              <a:rPr lang="en-US" sz="1200" dirty="0"/>
              <a:t>}') for </a:t>
            </a:r>
            <a:r>
              <a:rPr lang="en-US" sz="1200" dirty="0" err="1"/>
              <a:t>i</a:t>
            </a:r>
            <a:r>
              <a:rPr lang="en-US" sz="1200" dirty="0"/>
              <a:t> in range(4)]</a:t>
            </a:r>
          </a:p>
          <a:p>
            <a:pPr algn="l"/>
            <a:r>
              <a:rPr lang="el-GR" sz="1200" dirty="0"/>
              <a:t>ω=[</a:t>
            </a:r>
            <a:r>
              <a:rPr lang="en-US" sz="1200" dirty="0" err="1"/>
              <a:t>sp.Symbol</a:t>
            </a:r>
            <a:r>
              <a:rPr lang="en-US" sz="1200" dirty="0"/>
              <a:t>(f'</a:t>
            </a:r>
            <a:r>
              <a:rPr lang="el-GR" sz="1200" dirty="0"/>
              <a:t>ω{</a:t>
            </a:r>
            <a:r>
              <a:rPr lang="en-US" sz="1200" dirty="0" err="1"/>
              <a:t>i</a:t>
            </a:r>
            <a:r>
              <a:rPr lang="en-US" sz="1200" dirty="0"/>
              <a:t>}') for </a:t>
            </a:r>
            <a:r>
              <a:rPr lang="en-US" sz="1200" dirty="0" err="1"/>
              <a:t>i</a:t>
            </a:r>
            <a:r>
              <a:rPr lang="en-US" sz="1200" dirty="0"/>
              <a:t> in range(4)]</a:t>
            </a:r>
          </a:p>
          <a:p>
            <a:pPr algn="l"/>
            <a:r>
              <a:rPr lang="en-US" sz="1200" dirty="0" err="1"/>
              <a:t>sp.pprint</a:t>
            </a:r>
            <a:r>
              <a:rPr lang="en-US" sz="1200" dirty="0"/>
              <a:t>(w) # -&gt; [w₀, w₁, w₂, w₃]</a:t>
            </a:r>
          </a:p>
          <a:p>
            <a:pPr algn="l"/>
            <a:r>
              <a:rPr lang="en-US" sz="1200" dirty="0" err="1"/>
              <a:t>sp.pprint</a:t>
            </a:r>
            <a:r>
              <a:rPr lang="en-US" sz="1200" dirty="0"/>
              <a:t>(</a:t>
            </a:r>
            <a:r>
              <a:rPr lang="el-GR" sz="1200" dirty="0"/>
              <a:t>ω) # -&gt; [ω0, ω1, ω2, ω3]</a:t>
            </a:r>
            <a:endParaRPr lang="en-CN" sz="1200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00C7C77-5DCA-5F65-D347-EB6FC8084233}"/>
              </a:ext>
            </a:extLst>
          </p:cNvPr>
          <p:cNvSpPr txBox="1"/>
          <p:nvPr/>
        </p:nvSpPr>
        <p:spPr>
          <a:xfrm>
            <a:off x="10735764" y="4777190"/>
            <a:ext cx="94086" cy="318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sz="1200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DACBB4C1-CF5D-3E34-97D6-B47FFC54D52B}"/>
              </a:ext>
            </a:extLst>
          </p:cNvPr>
          <p:cNvSpPr txBox="1"/>
          <p:nvPr/>
        </p:nvSpPr>
        <p:spPr>
          <a:xfrm>
            <a:off x="9755816" y="2179479"/>
            <a:ext cx="1796815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CN" sz="1400" b="1" dirty="0">
                <a:solidFill>
                  <a:srgbClr val="FF0000"/>
                </a:solidFill>
              </a:rPr>
              <a:t>Lack Necessary Detail</a:t>
            </a:r>
          </a:p>
        </p:txBody>
      </p:sp>
      <p:pic>
        <p:nvPicPr>
          <p:cNvPr id="203" name="Graphic 202" descr="Question Mark with solid fill">
            <a:extLst>
              <a:ext uri="{FF2B5EF4-FFF2-40B4-BE49-F238E27FC236}">
                <a16:creationId xmlns:a16="http://schemas.microsoft.com/office/drawing/2014/main" id="{A20E1E1E-CDEA-B6A0-6A43-AE908F85C6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15459" y="1815231"/>
            <a:ext cx="364248" cy="364248"/>
          </a:xfrm>
          <a:prstGeom prst="rect">
            <a:avLst/>
          </a:prstGeom>
        </p:spPr>
      </p:pic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AA2DAB89-91C5-DCFF-4CF5-79D6DD75EA4D}"/>
              </a:ext>
            </a:extLst>
          </p:cNvPr>
          <p:cNvCxnSpPr>
            <a:cxnSpLocks/>
          </p:cNvCxnSpPr>
          <p:nvPr/>
        </p:nvCxnSpPr>
        <p:spPr>
          <a:xfrm>
            <a:off x="2944586" y="3074516"/>
            <a:ext cx="3034478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68D1AFF-5A25-1036-8D6D-6126F14C1BDD}"/>
              </a:ext>
            </a:extLst>
          </p:cNvPr>
          <p:cNvSpPr txBox="1"/>
          <p:nvPr/>
        </p:nvSpPr>
        <p:spPr>
          <a:xfrm>
            <a:off x="2879024" y="1472544"/>
            <a:ext cx="746099" cy="285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Issue Reporters</a:t>
            </a:r>
          </a:p>
        </p:txBody>
      </p:sp>
      <p:pic>
        <p:nvPicPr>
          <p:cNvPr id="153" name="Graphic 152" descr="Warning with solid fill">
            <a:extLst>
              <a:ext uri="{FF2B5EF4-FFF2-40B4-BE49-F238E27FC236}">
                <a16:creationId xmlns:a16="http://schemas.microsoft.com/office/drawing/2014/main" id="{B806E080-ADCE-6C06-26B2-F17149A12B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7998" y="3127195"/>
            <a:ext cx="384817" cy="35900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B0BE5B1-1815-4D85-100C-92B67513800E}"/>
              </a:ext>
            </a:extLst>
          </p:cNvPr>
          <p:cNvGrpSpPr/>
          <p:nvPr/>
        </p:nvGrpSpPr>
        <p:grpSpPr>
          <a:xfrm>
            <a:off x="4917320" y="2214748"/>
            <a:ext cx="1013237" cy="909927"/>
            <a:chOff x="2064849" y="4877709"/>
            <a:chExt cx="1013237" cy="909927"/>
          </a:xfrm>
        </p:grpSpPr>
        <p:pic>
          <p:nvPicPr>
            <p:cNvPr id="5" name="Graphic 4" descr="Programmer female with solid fill">
              <a:extLst>
                <a:ext uri="{FF2B5EF4-FFF2-40B4-BE49-F238E27FC236}">
                  <a16:creationId xmlns:a16="http://schemas.microsoft.com/office/drawing/2014/main" id="{267178EE-2754-7F8E-1D2B-34BADC71B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9010" y="4877709"/>
              <a:ext cx="469572" cy="52527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FD0BAD9-7B9D-1114-A8A5-AAE36E709D8F}"/>
                </a:ext>
              </a:extLst>
            </p:cNvPr>
            <p:cNvSpPr txBox="1"/>
            <p:nvPr/>
          </p:nvSpPr>
          <p:spPr>
            <a:xfrm>
              <a:off x="2064849" y="5325971"/>
              <a:ext cx="1013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E83F3A0-C801-7228-36F5-72BDC8A6A50B}"/>
              </a:ext>
            </a:extLst>
          </p:cNvPr>
          <p:cNvGrpSpPr/>
          <p:nvPr/>
        </p:nvGrpSpPr>
        <p:grpSpPr>
          <a:xfrm>
            <a:off x="3067780" y="135395"/>
            <a:ext cx="2836857" cy="5387619"/>
            <a:chOff x="3095141" y="247432"/>
            <a:chExt cx="2836857" cy="5387619"/>
          </a:xfrm>
        </p:grpSpPr>
        <p:sp>
          <p:nvSpPr>
            <p:cNvPr id="95" name="Rounded Rectangular Callout 94">
              <a:extLst>
                <a:ext uri="{FF2B5EF4-FFF2-40B4-BE49-F238E27FC236}">
                  <a16:creationId xmlns:a16="http://schemas.microsoft.com/office/drawing/2014/main" id="{F059ED84-30B5-3F91-E95F-AE7E4B49692F}"/>
                </a:ext>
              </a:extLst>
            </p:cNvPr>
            <p:cNvSpPr/>
            <p:nvPr/>
          </p:nvSpPr>
          <p:spPr>
            <a:xfrm>
              <a:off x="3529378" y="247432"/>
              <a:ext cx="1737574" cy="1184956"/>
            </a:xfrm>
            <a:prstGeom prst="wedgeRoundRectCallout">
              <a:avLst>
                <a:gd name="adj1" fmla="val -42181"/>
                <a:gd name="adj2" fmla="val 61850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97" name="Rounded Rectangular Callout 96">
              <a:extLst>
                <a:ext uri="{FF2B5EF4-FFF2-40B4-BE49-F238E27FC236}">
                  <a16:creationId xmlns:a16="http://schemas.microsoft.com/office/drawing/2014/main" id="{38C664AB-4552-93FF-629A-ED37AFEE45BF}"/>
                </a:ext>
              </a:extLst>
            </p:cNvPr>
            <p:cNvSpPr/>
            <p:nvPr/>
          </p:nvSpPr>
          <p:spPr>
            <a:xfrm>
              <a:off x="3527946" y="1908319"/>
              <a:ext cx="1737383" cy="646331"/>
            </a:xfrm>
            <a:prstGeom prst="wedgeRoundRectCallout">
              <a:avLst>
                <a:gd name="adj1" fmla="val 45570"/>
                <a:gd name="adj2" fmla="val 68123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A8BA81F-3941-DACF-B1A1-2D09B0A54357}"/>
                </a:ext>
              </a:extLst>
            </p:cNvPr>
            <p:cNvSpPr txBox="1"/>
            <p:nvPr/>
          </p:nvSpPr>
          <p:spPr>
            <a:xfrm>
              <a:off x="3466937" y="255352"/>
              <a:ext cx="190065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Issue #</a:t>
              </a:r>
              <a:r>
                <a:rPr lang="en-US" altLang="zh-CN" sz="1200" b="1" i="1" dirty="0"/>
                <a:t>7132 </a:t>
              </a:r>
              <a:r>
                <a:rPr lang="en-US" sz="1200" i="1" u="none" strike="noStrike" dirty="0">
                  <a:effectLst/>
                </a:rPr>
                <a:t>Add evaluation for polylog</a:t>
              </a:r>
              <a:br>
                <a:rPr lang="en-US" sz="1200" i="1" u="none" strike="noStrike" dirty="0">
                  <a:effectLst/>
                </a:rPr>
              </a:br>
              <a:endParaRPr lang="en-US" sz="1200" i="1" u="none" strike="noStrike" dirty="0">
                <a:effectLst/>
              </a:endParaRPr>
            </a:p>
            <a:p>
              <a:r>
                <a:rPr lang="en-US" altLang="zh-CN" sz="1200" b="1" i="1" dirty="0"/>
                <a:t>Issue #13853 </a:t>
              </a:r>
              <a:r>
                <a:rPr lang="en-US" sz="1200" i="1" u="none" strike="noStrike" dirty="0">
                  <a:effectLst/>
                </a:rPr>
                <a:t>Why does the expansion of polylog(1, z) have </a:t>
              </a:r>
              <a:r>
                <a:rPr lang="en-US" sz="1200" i="1" u="none" strike="noStrike" dirty="0" err="1">
                  <a:effectLst/>
                </a:rPr>
                <a:t>exp_polar</a:t>
              </a:r>
              <a:r>
                <a:rPr lang="en-US" sz="1200" i="1" u="none" strike="noStrike" dirty="0">
                  <a:effectLst/>
                </a:rPr>
                <a:t>(-I*pi)?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E64B21C-49CB-8678-F512-226698AA8B70}"/>
                </a:ext>
              </a:extLst>
            </p:cNvPr>
            <p:cNvSpPr txBox="1"/>
            <p:nvPr/>
          </p:nvSpPr>
          <p:spPr>
            <a:xfrm>
              <a:off x="4671788" y="1482440"/>
              <a:ext cx="120112" cy="285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815603A-7DFC-660D-B1BD-8D758174971B}"/>
                </a:ext>
              </a:extLst>
            </p:cNvPr>
            <p:cNvSpPr txBox="1"/>
            <p:nvPr/>
          </p:nvSpPr>
          <p:spPr>
            <a:xfrm>
              <a:off x="3500237" y="1928852"/>
              <a:ext cx="17894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>
                  <a:solidFill>
                    <a:srgbClr val="FF0000"/>
                  </a:solidFill>
                </a:rPr>
                <a:t>PR #13852 </a:t>
              </a:r>
              <a:r>
                <a:rPr lang="en-US" sz="1200" i="1" u="none" strike="noStrike" dirty="0">
                  <a:effectLst/>
                </a:rPr>
                <a:t>Implement more special values of polylogarithm</a:t>
              </a:r>
              <a:r>
                <a:rPr lang="en-US" sz="1200" i="1" dirty="0"/>
                <a:t>……</a:t>
              </a:r>
              <a:endParaRPr lang="en-US" sz="1200" i="1" u="none" strike="noStrike" dirty="0">
                <a:effectLst/>
              </a:endParaRPr>
            </a:p>
          </p:txBody>
        </p:sp>
        <p:pic>
          <p:nvPicPr>
            <p:cNvPr id="102" name="Graphic 101" descr="Users with solid fill">
              <a:extLst>
                <a:ext uri="{FF2B5EF4-FFF2-40B4-BE49-F238E27FC236}">
                  <a16:creationId xmlns:a16="http://schemas.microsoft.com/office/drawing/2014/main" id="{413EFD94-F75F-08AE-136C-8CDF0AC4B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095141" y="1208966"/>
              <a:ext cx="517221" cy="581210"/>
            </a:xfrm>
            <a:prstGeom prst="rect">
              <a:avLst/>
            </a:prstGeom>
          </p:spPr>
        </p:pic>
        <p:sp>
          <p:nvSpPr>
            <p:cNvPr id="104" name="Rounded Rectangular Callout 103">
              <a:extLst>
                <a:ext uri="{FF2B5EF4-FFF2-40B4-BE49-F238E27FC236}">
                  <a16:creationId xmlns:a16="http://schemas.microsoft.com/office/drawing/2014/main" id="{BBE23D46-B6E4-5B7F-B779-153F35F3F102}"/>
                </a:ext>
              </a:extLst>
            </p:cNvPr>
            <p:cNvSpPr/>
            <p:nvPr/>
          </p:nvSpPr>
          <p:spPr>
            <a:xfrm>
              <a:off x="3526613" y="3259806"/>
              <a:ext cx="1740266" cy="1737543"/>
            </a:xfrm>
            <a:prstGeom prst="wedgeRoundRectCallout">
              <a:avLst>
                <a:gd name="adj1" fmla="val 41437"/>
                <a:gd name="adj2" fmla="val 57066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C82EB4A-31C8-13E2-6D9D-10A7669B47FD}"/>
                </a:ext>
              </a:extLst>
            </p:cNvPr>
            <p:cNvSpPr txBox="1"/>
            <p:nvPr/>
          </p:nvSpPr>
          <p:spPr>
            <a:xfrm>
              <a:off x="3479941" y="3259805"/>
              <a:ext cx="184813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i="1" dirty="0"/>
                <a:t>PR #13909 </a:t>
              </a:r>
              <a:r>
                <a:rPr lang="en-US" sz="1200" i="1" u="none" strike="noStrike" dirty="0">
                  <a:effectLst/>
                </a:rPr>
                <a:t>Use </a:t>
              </a:r>
              <a:r>
                <a:rPr lang="en-US" sz="1200" i="1" u="none" strike="noStrike" dirty="0" err="1">
                  <a:effectLst/>
                </a:rPr>
                <a:t>verify_numerically</a:t>
              </a:r>
              <a:r>
                <a:rPr lang="en-US" sz="1200" i="1" u="none" strike="noStrike" dirty="0">
                  <a:effectLst/>
                </a:rPr>
                <a:t> in testing polylog expansions</a:t>
              </a:r>
            </a:p>
            <a:p>
              <a:br>
                <a:rPr lang="en-US" sz="1200" dirty="0"/>
              </a:br>
              <a:r>
                <a:rPr lang="en-US" sz="1200" b="0" i="0" u="none" strike="noStrike" dirty="0">
                  <a:effectLst/>
                </a:rPr>
                <a:t>Improves </a:t>
              </a:r>
              <a:r>
                <a:rPr lang="en-US" sz="1200" i="1" dirty="0" err="1"/>
                <a:t>test_polylog_values</a:t>
              </a:r>
              <a:r>
                <a:rPr lang="en-US" sz="1200" b="0" i="0" u="none" strike="noStrike" dirty="0">
                  <a:effectLst/>
                </a:rPr>
                <a:t>, which was </a:t>
              </a:r>
              <a:r>
                <a:rPr lang="en-US" sz="1200" b="1" i="0" u="none" strike="noStrike" dirty="0">
                  <a:solidFill>
                    <a:srgbClr val="FF0000"/>
                  </a:solidFill>
                  <a:effectLst/>
                </a:rPr>
                <a:t>introduced in #13582 and turned out to suffer from random test failures.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347773D-5407-813E-8F65-B5A174C57B0C}"/>
                </a:ext>
              </a:extLst>
            </p:cNvPr>
            <p:cNvSpPr txBox="1"/>
            <p:nvPr/>
          </p:nvSpPr>
          <p:spPr>
            <a:xfrm>
              <a:off x="3900050" y="2933713"/>
              <a:ext cx="622109" cy="2858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/>
                <a:t>After Merge</a:t>
              </a:r>
            </a:p>
          </p:txBody>
        </p:sp>
        <p:pic>
          <p:nvPicPr>
            <p:cNvPr id="111" name="Graphic 110" descr="Warning with solid fill">
              <a:extLst>
                <a:ext uri="{FF2B5EF4-FFF2-40B4-BE49-F238E27FC236}">
                  <a16:creationId xmlns:a16="http://schemas.microsoft.com/office/drawing/2014/main" id="{0AAC8983-CF0A-A7E7-0DEE-DE23DE820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305163" y="4535541"/>
              <a:ext cx="384817" cy="359002"/>
            </a:xfrm>
            <a:prstGeom prst="rect">
              <a:avLst/>
            </a:prstGeom>
          </p:spPr>
        </p:pic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53FC637-BE4D-7ABD-08A5-1C68D4112E3C}"/>
                </a:ext>
              </a:extLst>
            </p:cNvPr>
            <p:cNvSpPr txBox="1"/>
            <p:nvPr/>
          </p:nvSpPr>
          <p:spPr>
            <a:xfrm>
              <a:off x="4268154" y="1629476"/>
              <a:ext cx="1156927" cy="30777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N" sz="1400" b="1" dirty="0">
                  <a:solidFill>
                    <a:srgbClr val="FF0000"/>
                  </a:solidFill>
                </a:rPr>
                <a:t>Defective PR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4869C41-C5A9-3584-0278-A9650DE14122}"/>
                </a:ext>
              </a:extLst>
            </p:cNvPr>
            <p:cNvGrpSpPr/>
            <p:nvPr/>
          </p:nvGrpSpPr>
          <p:grpSpPr>
            <a:xfrm>
              <a:off x="4918761" y="4725124"/>
              <a:ext cx="1013237" cy="909927"/>
              <a:chOff x="2064849" y="4877709"/>
              <a:chExt cx="1013237" cy="909927"/>
            </a:xfrm>
          </p:grpSpPr>
          <p:pic>
            <p:nvPicPr>
              <p:cNvPr id="14" name="Graphic 13" descr="Programmer female with solid fill">
                <a:extLst>
                  <a:ext uri="{FF2B5EF4-FFF2-40B4-BE49-F238E27FC236}">
                    <a16:creationId xmlns:a16="http://schemas.microsoft.com/office/drawing/2014/main" id="{8AD130DE-AC81-36DD-9761-AF07A6385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289010" y="4877709"/>
                <a:ext cx="469572" cy="525273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9C6C0C-32F7-8269-7999-DD19EC55FEF4}"/>
                  </a:ext>
                </a:extLst>
              </p:cNvPr>
              <p:cNvSpPr txBox="1"/>
              <p:nvPr/>
            </p:nvSpPr>
            <p:spPr>
              <a:xfrm>
                <a:off x="2064849" y="5325971"/>
                <a:ext cx="10132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200" dirty="0"/>
                  <a:t>Repository Maintainer</a:t>
                </a: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3C028AA-38AC-FBE3-84C6-4CA129CB815D}"/>
              </a:ext>
            </a:extLst>
          </p:cNvPr>
          <p:cNvGrpSpPr/>
          <p:nvPr/>
        </p:nvGrpSpPr>
        <p:grpSpPr>
          <a:xfrm>
            <a:off x="-158823" y="1056750"/>
            <a:ext cx="1356189" cy="650134"/>
            <a:chOff x="-157001" y="1072240"/>
            <a:chExt cx="1356189" cy="650134"/>
          </a:xfrm>
        </p:grpSpPr>
        <p:pic>
          <p:nvPicPr>
            <p:cNvPr id="23" name="Graphic 22" descr="User with solid fill">
              <a:extLst>
                <a:ext uri="{FF2B5EF4-FFF2-40B4-BE49-F238E27FC236}">
                  <a16:creationId xmlns:a16="http://schemas.microsoft.com/office/drawing/2014/main" id="{A177C16D-8311-A68E-A091-35C05AD5B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9149" y="1072240"/>
              <a:ext cx="457079" cy="511635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ADCC294-2E0A-C69E-CBEF-E80B514549C8}"/>
                </a:ext>
              </a:extLst>
            </p:cNvPr>
            <p:cNvSpPr txBox="1"/>
            <p:nvPr/>
          </p:nvSpPr>
          <p:spPr>
            <a:xfrm>
              <a:off x="-157001" y="1445375"/>
              <a:ext cx="1356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200" dirty="0"/>
                <a:t>Issue Reporter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AC2D1F-17A9-EEBD-54E6-D9A06BAEB3A3}"/>
              </a:ext>
            </a:extLst>
          </p:cNvPr>
          <p:cNvGrpSpPr/>
          <p:nvPr/>
        </p:nvGrpSpPr>
        <p:grpSpPr>
          <a:xfrm>
            <a:off x="8397507" y="1520998"/>
            <a:ext cx="1013237" cy="909927"/>
            <a:chOff x="2064849" y="4877709"/>
            <a:chExt cx="1013237" cy="909927"/>
          </a:xfrm>
        </p:grpSpPr>
        <p:pic>
          <p:nvPicPr>
            <p:cNvPr id="26" name="Graphic 25" descr="Programmer female with solid fill">
              <a:extLst>
                <a:ext uri="{FF2B5EF4-FFF2-40B4-BE49-F238E27FC236}">
                  <a16:creationId xmlns:a16="http://schemas.microsoft.com/office/drawing/2014/main" id="{C95B0045-9E4A-D113-E84A-B44077D66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9010" y="4877709"/>
              <a:ext cx="469572" cy="52527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193FB2F-EE99-4484-4D88-8A1578947BAB}"/>
                </a:ext>
              </a:extLst>
            </p:cNvPr>
            <p:cNvSpPr txBox="1"/>
            <p:nvPr/>
          </p:nvSpPr>
          <p:spPr>
            <a:xfrm>
              <a:off x="2064849" y="5325971"/>
              <a:ext cx="1013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623E0E-45BD-7F0F-E9D9-5F7456EC35BC}"/>
              </a:ext>
            </a:extLst>
          </p:cNvPr>
          <p:cNvGrpSpPr/>
          <p:nvPr/>
        </p:nvGrpSpPr>
        <p:grpSpPr>
          <a:xfrm>
            <a:off x="6129897" y="3260160"/>
            <a:ext cx="1356189" cy="650134"/>
            <a:chOff x="-157001" y="1072240"/>
            <a:chExt cx="1356189" cy="650134"/>
          </a:xfrm>
        </p:grpSpPr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9CE1C228-EB67-8A26-CE84-443AC95F4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9149" y="1072240"/>
              <a:ext cx="457079" cy="511635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D84D4FD-79A6-69EE-3079-5C9F20A70C77}"/>
                </a:ext>
              </a:extLst>
            </p:cNvPr>
            <p:cNvSpPr txBox="1"/>
            <p:nvPr/>
          </p:nvSpPr>
          <p:spPr>
            <a:xfrm>
              <a:off x="-157001" y="1445375"/>
              <a:ext cx="1356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200" dirty="0"/>
                <a:t>Issue Reporter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5224E84-5E8A-D4E0-152A-07D3634867A7}"/>
              </a:ext>
            </a:extLst>
          </p:cNvPr>
          <p:cNvGrpSpPr/>
          <p:nvPr/>
        </p:nvGrpSpPr>
        <p:grpSpPr>
          <a:xfrm>
            <a:off x="8377029" y="4580375"/>
            <a:ext cx="1013237" cy="909927"/>
            <a:chOff x="2064849" y="4877709"/>
            <a:chExt cx="1013237" cy="909927"/>
          </a:xfrm>
        </p:grpSpPr>
        <p:pic>
          <p:nvPicPr>
            <p:cNvPr id="32" name="Graphic 31" descr="Programmer female with solid fill">
              <a:extLst>
                <a:ext uri="{FF2B5EF4-FFF2-40B4-BE49-F238E27FC236}">
                  <a16:creationId xmlns:a16="http://schemas.microsoft.com/office/drawing/2014/main" id="{7594B4C7-2AE5-2B6B-11AC-4FEBE2589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9010" y="4877709"/>
              <a:ext cx="469572" cy="52527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8C05BD-5708-A432-E934-A9068164045D}"/>
                </a:ext>
              </a:extLst>
            </p:cNvPr>
            <p:cNvSpPr txBox="1"/>
            <p:nvPr/>
          </p:nvSpPr>
          <p:spPr>
            <a:xfrm>
              <a:off x="2064849" y="5325971"/>
              <a:ext cx="1013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C5D84DB-320E-0EEB-BE6F-47C2B10C54F2}"/>
              </a:ext>
            </a:extLst>
          </p:cNvPr>
          <p:cNvGrpSpPr/>
          <p:nvPr/>
        </p:nvGrpSpPr>
        <p:grpSpPr>
          <a:xfrm>
            <a:off x="6076409" y="509235"/>
            <a:ext cx="1356189" cy="650134"/>
            <a:chOff x="-157001" y="1072240"/>
            <a:chExt cx="1356189" cy="650134"/>
          </a:xfrm>
        </p:grpSpPr>
        <p:pic>
          <p:nvPicPr>
            <p:cNvPr id="35" name="Graphic 34" descr="User with solid fill">
              <a:extLst>
                <a:ext uri="{FF2B5EF4-FFF2-40B4-BE49-F238E27FC236}">
                  <a16:creationId xmlns:a16="http://schemas.microsoft.com/office/drawing/2014/main" id="{4EED0650-6DE4-36D5-FD56-AA0A164FC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9149" y="1072240"/>
              <a:ext cx="457079" cy="511635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4C07213-4BC0-9FA9-9922-FC2C765C55D0}"/>
                </a:ext>
              </a:extLst>
            </p:cNvPr>
            <p:cNvSpPr txBox="1"/>
            <p:nvPr/>
          </p:nvSpPr>
          <p:spPr>
            <a:xfrm>
              <a:off x="-157001" y="1445375"/>
              <a:ext cx="1356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200" dirty="0"/>
                <a:t>Issue Reporter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48D013-6B21-457C-B287-999EAE0CE312}"/>
              </a:ext>
            </a:extLst>
          </p:cNvPr>
          <p:cNvGrpSpPr/>
          <p:nvPr/>
        </p:nvGrpSpPr>
        <p:grpSpPr>
          <a:xfrm>
            <a:off x="11273775" y="2014407"/>
            <a:ext cx="1013237" cy="909927"/>
            <a:chOff x="2064849" y="4877709"/>
            <a:chExt cx="1013237" cy="909927"/>
          </a:xfrm>
        </p:grpSpPr>
        <p:pic>
          <p:nvPicPr>
            <p:cNvPr id="38" name="Graphic 37" descr="Programmer female with solid fill">
              <a:extLst>
                <a:ext uri="{FF2B5EF4-FFF2-40B4-BE49-F238E27FC236}">
                  <a16:creationId xmlns:a16="http://schemas.microsoft.com/office/drawing/2014/main" id="{C62C969D-1250-EE9C-81D9-0B7F80895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9010" y="4877709"/>
              <a:ext cx="469572" cy="52527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B470004-0B5D-B258-9F19-9A233D57E882}"/>
                </a:ext>
              </a:extLst>
            </p:cNvPr>
            <p:cNvSpPr txBox="1"/>
            <p:nvPr/>
          </p:nvSpPr>
          <p:spPr>
            <a:xfrm>
              <a:off x="2064849" y="5325971"/>
              <a:ext cx="10132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FA9CCEE-262B-ADB3-43E1-CD5F169F9F3C}"/>
              </a:ext>
            </a:extLst>
          </p:cNvPr>
          <p:cNvGrpSpPr/>
          <p:nvPr/>
        </p:nvGrpSpPr>
        <p:grpSpPr>
          <a:xfrm>
            <a:off x="9253712" y="4708109"/>
            <a:ext cx="1356189" cy="650134"/>
            <a:chOff x="-157001" y="1072240"/>
            <a:chExt cx="1356189" cy="650134"/>
          </a:xfrm>
        </p:grpSpPr>
        <p:pic>
          <p:nvPicPr>
            <p:cNvPr id="41" name="Graphic 40" descr="User with solid fill">
              <a:extLst>
                <a:ext uri="{FF2B5EF4-FFF2-40B4-BE49-F238E27FC236}">
                  <a16:creationId xmlns:a16="http://schemas.microsoft.com/office/drawing/2014/main" id="{92CB6718-64FB-FE23-1A13-F32E6381A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9149" y="1072240"/>
              <a:ext cx="457079" cy="51163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F0A8DF6-8448-B72C-6492-76FD6A619C69}"/>
                </a:ext>
              </a:extLst>
            </p:cNvPr>
            <p:cNvSpPr txBox="1"/>
            <p:nvPr/>
          </p:nvSpPr>
          <p:spPr>
            <a:xfrm>
              <a:off x="-157001" y="1445375"/>
              <a:ext cx="13561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N" sz="1200" dirty="0"/>
                <a:t>Issue Reporter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E150E3E-4A9C-D516-4F40-CEA322D37917}"/>
              </a:ext>
            </a:extLst>
          </p:cNvPr>
          <p:cNvSpPr txBox="1"/>
          <p:nvPr/>
        </p:nvSpPr>
        <p:spPr>
          <a:xfrm>
            <a:off x="1046208" y="3363431"/>
            <a:ext cx="1627201" cy="276999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CN" sz="1200" b="1" dirty="0">
                <a:solidFill>
                  <a:srgbClr val="FF0000"/>
                </a:solidFill>
              </a:rPr>
              <a:t>Different Root Causes</a:t>
            </a:r>
          </a:p>
        </p:txBody>
      </p:sp>
    </p:spTree>
    <p:extLst>
      <p:ext uri="{BB962C8B-B14F-4D97-AF65-F5344CB8AC3E}">
        <p14:creationId xmlns:p14="http://schemas.microsoft.com/office/powerpoint/2010/main" val="144096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A0C6D7E1-98D3-A7DF-D39B-9F218445AFBE}"/>
              </a:ext>
            </a:extLst>
          </p:cNvPr>
          <p:cNvSpPr txBox="1"/>
          <p:nvPr/>
        </p:nvSpPr>
        <p:spPr>
          <a:xfrm>
            <a:off x="2921307" y="2585535"/>
            <a:ext cx="1577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Repository Maintainer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E345E02-9940-8B4C-1DB9-32DD127F7BC7}"/>
              </a:ext>
            </a:extLst>
          </p:cNvPr>
          <p:cNvGrpSpPr/>
          <p:nvPr/>
        </p:nvGrpSpPr>
        <p:grpSpPr>
          <a:xfrm>
            <a:off x="3677925" y="167304"/>
            <a:ext cx="5435105" cy="5435338"/>
            <a:chOff x="3677925" y="167304"/>
            <a:chExt cx="5435105" cy="543533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C36D786-5D76-2192-BB36-E8E4FAE4B94E}"/>
                </a:ext>
              </a:extLst>
            </p:cNvPr>
            <p:cNvSpPr txBox="1"/>
            <p:nvPr/>
          </p:nvSpPr>
          <p:spPr>
            <a:xfrm>
              <a:off x="3677925" y="2926692"/>
              <a:ext cx="9568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/>
                <a:t>After Merge</a:t>
              </a:r>
            </a:p>
          </p:txBody>
        </p:sp>
        <p:sp>
          <p:nvSpPr>
            <p:cNvPr id="98" name="Rounded Rectangular Callout 97">
              <a:extLst>
                <a:ext uri="{FF2B5EF4-FFF2-40B4-BE49-F238E27FC236}">
                  <a16:creationId xmlns:a16="http://schemas.microsoft.com/office/drawing/2014/main" id="{43357CE3-F368-5E24-5A9C-E1BD345AD867}"/>
                </a:ext>
              </a:extLst>
            </p:cNvPr>
            <p:cNvSpPr/>
            <p:nvPr/>
          </p:nvSpPr>
          <p:spPr>
            <a:xfrm>
              <a:off x="5331966" y="187498"/>
              <a:ext cx="2635306" cy="1424471"/>
            </a:xfrm>
            <a:prstGeom prst="wedgeRoundRectCallout">
              <a:avLst>
                <a:gd name="adj1" fmla="val -40226"/>
                <a:gd name="adj2" fmla="val 60946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99" name="Graphic 98" descr="User with solid fill">
              <a:extLst>
                <a:ext uri="{FF2B5EF4-FFF2-40B4-BE49-F238E27FC236}">
                  <a16:creationId xmlns:a16="http://schemas.microsoft.com/office/drawing/2014/main" id="{13047B9D-1560-AC49-3892-5D0967CE6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72945" y="1397674"/>
              <a:ext cx="578735" cy="578735"/>
            </a:xfrm>
            <a:prstGeom prst="rect">
              <a:avLst/>
            </a:prstGeom>
          </p:spPr>
        </p:pic>
        <p:pic>
          <p:nvPicPr>
            <p:cNvPr id="100" name="Graphic 99" descr="Programmer female with solid fill">
              <a:extLst>
                <a:ext uri="{FF2B5EF4-FFF2-40B4-BE49-F238E27FC236}">
                  <a16:creationId xmlns:a16="http://schemas.microsoft.com/office/drawing/2014/main" id="{91A56F9E-8BCC-7EAC-C86E-7ACDD24CB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55436" y="2635295"/>
              <a:ext cx="673149" cy="673149"/>
            </a:xfrm>
            <a:prstGeom prst="rect">
              <a:avLst/>
            </a:prstGeom>
          </p:spPr>
        </p:pic>
        <p:sp>
          <p:nvSpPr>
            <p:cNvPr id="101" name="Rounded Rectangular Callout 100">
              <a:extLst>
                <a:ext uri="{FF2B5EF4-FFF2-40B4-BE49-F238E27FC236}">
                  <a16:creationId xmlns:a16="http://schemas.microsoft.com/office/drawing/2014/main" id="{0A3CD9E8-6B0F-D98D-D04E-D5EC39B85387}"/>
                </a:ext>
              </a:extLst>
            </p:cNvPr>
            <p:cNvSpPr/>
            <p:nvPr/>
          </p:nvSpPr>
          <p:spPr>
            <a:xfrm>
              <a:off x="5419561" y="2510205"/>
              <a:ext cx="2510183" cy="430070"/>
            </a:xfrm>
            <a:prstGeom prst="wedgeRoundRectCallout">
              <a:avLst>
                <a:gd name="adj1" fmla="val 45141"/>
                <a:gd name="adj2" fmla="val 84071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4E144E5F-F0B0-CAA1-765E-8DD4F1945FF1}"/>
                </a:ext>
              </a:extLst>
            </p:cNvPr>
            <p:cNvSpPr txBox="1"/>
            <p:nvPr/>
          </p:nvSpPr>
          <p:spPr>
            <a:xfrm>
              <a:off x="4560224" y="1837909"/>
              <a:ext cx="1089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245EDBB-87E7-5567-EE0D-4B1B76E72749}"/>
                </a:ext>
              </a:extLst>
            </p:cNvPr>
            <p:cNvSpPr txBox="1"/>
            <p:nvPr/>
          </p:nvSpPr>
          <p:spPr>
            <a:xfrm>
              <a:off x="5371394" y="167304"/>
              <a:ext cx="259587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i="1" dirty="0"/>
                <a:t>Issue #19005 </a:t>
              </a:r>
              <a:r>
                <a:rPr lang="en-US" sz="1200" b="1" i="0" u="none" strike="noStrike" dirty="0" err="1">
                  <a:effectLst/>
                </a:rPr>
                <a:t>pprint</a:t>
              </a:r>
              <a:r>
                <a:rPr lang="en-US" sz="1200" b="1" i="0" u="none" strike="noStrike" dirty="0">
                  <a:effectLst/>
                </a:rPr>
                <a:t> </a:t>
              </a:r>
              <a:r>
                <a:rPr lang="en-US" sz="1200" b="1" i="0" u="none" strike="noStrike" dirty="0" err="1">
                  <a:effectLst/>
                </a:rPr>
                <a:t>unicode</a:t>
              </a:r>
              <a:r>
                <a:rPr lang="en-US" sz="1200" b="1" i="0" u="none" strike="noStrike" dirty="0">
                  <a:effectLst/>
                </a:rPr>
                <a:t> does not format subscripts on Greek letters</a:t>
              </a:r>
              <a:br>
                <a:rPr lang="en-US" sz="1200" dirty="0"/>
              </a:br>
              <a:br>
                <a:rPr lang="en-US" sz="1200" dirty="0"/>
              </a:br>
              <a:r>
                <a:rPr lang="en-US" sz="1200" b="0" i="0" u="none" strike="noStrike" dirty="0">
                  <a:effectLst/>
                </a:rPr>
                <a:t>Good:</a:t>
              </a:r>
            </a:p>
            <a:p>
              <a:pPr algn="l"/>
              <a:r>
                <a:rPr lang="en-US" sz="1200" b="0" i="0" u="none" strike="noStrike" dirty="0">
                  <a:effectLst/>
                </a:rPr>
                <a:t>[ -t₀⋅w₀ -t₁⋅w₀ -t₂⋅w₀]</a:t>
              </a:r>
            </a:p>
            <a:p>
              <a:pPr algn="l"/>
              <a:r>
                <a:rPr lang="en-US" sz="1200" b="0" i="0" u="none" strike="noStrike" dirty="0">
                  <a:effectLst/>
                </a:rPr>
                <a:t>Bad:</a:t>
              </a:r>
            </a:p>
            <a:p>
              <a:pPr algn="l"/>
              <a:r>
                <a:rPr lang="en-US" sz="1200" b="0" i="0" u="none" strike="noStrike" dirty="0">
                  <a:effectLst/>
                </a:rPr>
                <a:t>[ -t₀⋅</a:t>
              </a:r>
              <a:r>
                <a:rPr lang="el-GR" sz="1200" b="0" i="0" u="none" strike="noStrike" dirty="0">
                  <a:effectLst/>
                </a:rPr>
                <a:t>ω0 -</a:t>
              </a:r>
              <a:r>
                <a:rPr lang="en-US" sz="1200" b="0" i="0" u="none" strike="noStrike" dirty="0">
                  <a:effectLst/>
                </a:rPr>
                <a:t>t₁⋅</a:t>
              </a:r>
              <a:r>
                <a:rPr lang="el-GR" sz="1200" b="0" i="0" u="none" strike="noStrike" dirty="0">
                  <a:effectLst/>
                </a:rPr>
                <a:t>ω0 -</a:t>
              </a:r>
              <a:r>
                <a:rPr lang="en-US" sz="1200" b="0" i="0" u="none" strike="noStrike" dirty="0">
                  <a:effectLst/>
                </a:rPr>
                <a:t>t₂⋅</a:t>
              </a:r>
              <a:r>
                <a:rPr lang="el-GR" sz="1200" b="0" i="0" u="none" strike="noStrike" dirty="0">
                  <a:effectLst/>
                </a:rPr>
                <a:t>ω0]</a:t>
              </a:r>
            </a:p>
            <a:p>
              <a:endParaRPr lang="en-CN" sz="12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3A9DAC1-508C-F537-6EA9-A8C4ECB6858E}"/>
                </a:ext>
              </a:extLst>
            </p:cNvPr>
            <p:cNvSpPr txBox="1"/>
            <p:nvPr/>
          </p:nvSpPr>
          <p:spPr>
            <a:xfrm>
              <a:off x="7088398" y="595831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D4C5C1E-564D-F7C7-3361-394804C5F16A}"/>
                </a:ext>
              </a:extLst>
            </p:cNvPr>
            <p:cNvSpPr txBox="1"/>
            <p:nvPr/>
          </p:nvSpPr>
          <p:spPr>
            <a:xfrm>
              <a:off x="5477210" y="2494024"/>
              <a:ext cx="27148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0" i="0" u="none" strike="noStrike" dirty="0">
                  <a:effectLst/>
                  <a:highlight>
                    <a:srgbClr val="FC8365"/>
                  </a:highlight>
                </a:rPr>
                <a:t>Could you provide the code which generates this?</a:t>
              </a:r>
              <a:endParaRPr lang="en-US" sz="1200" b="1" i="0" u="none" strike="noStrike" dirty="0">
                <a:effectLst/>
                <a:highlight>
                  <a:srgbClr val="FC8365"/>
                </a:highlight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DE52256-797B-7EAD-DAA9-8A16E18DD789}"/>
                </a:ext>
              </a:extLst>
            </p:cNvPr>
            <p:cNvSpPr txBox="1"/>
            <p:nvPr/>
          </p:nvSpPr>
          <p:spPr>
            <a:xfrm>
              <a:off x="4826304" y="4956311"/>
              <a:ext cx="42867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b="1" dirty="0"/>
                <a:t>(d) </a:t>
              </a:r>
              <a:r>
                <a:rPr lang="en-US" sz="1200" b="1" dirty="0"/>
                <a:t>IS(sympy__sympy-20916): </a:t>
              </a:r>
              <a:r>
                <a:rPr lang="en-US" sz="1200" b="1" i="0" u="none" strike="noStrike" dirty="0">
                  <a:effectLst/>
                </a:rPr>
                <a:t>the original issue lacks reproduction code; a maintainer requests it and the reporter supplements it in the discussion. </a:t>
              </a:r>
              <a:endParaRPr lang="en-CN" sz="1200" b="1" dirty="0"/>
            </a:p>
          </p:txBody>
        </p:sp>
        <p:sp>
          <p:nvSpPr>
            <p:cNvPr id="107" name="Rounded Rectangular Callout 106">
              <a:extLst>
                <a:ext uri="{FF2B5EF4-FFF2-40B4-BE49-F238E27FC236}">
                  <a16:creationId xmlns:a16="http://schemas.microsoft.com/office/drawing/2014/main" id="{ED03EE01-64DE-B40B-6AEE-0E76CBF3F345}"/>
                </a:ext>
              </a:extLst>
            </p:cNvPr>
            <p:cNvSpPr/>
            <p:nvPr/>
          </p:nvSpPr>
          <p:spPr>
            <a:xfrm>
              <a:off x="5383783" y="3341810"/>
              <a:ext cx="2635306" cy="1043933"/>
            </a:xfrm>
            <a:prstGeom prst="wedgeRoundRectCallout">
              <a:avLst>
                <a:gd name="adj1" fmla="val -40226"/>
                <a:gd name="adj2" fmla="val 60946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108" name="Graphic 107" descr="User with solid fill">
              <a:extLst>
                <a:ext uri="{FF2B5EF4-FFF2-40B4-BE49-F238E27FC236}">
                  <a16:creationId xmlns:a16="http://schemas.microsoft.com/office/drawing/2014/main" id="{CE936FA2-7150-B592-556B-EDA60877F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24762" y="4171448"/>
              <a:ext cx="578735" cy="578735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DAA6D6A-FA52-54F4-E38B-D018871AB832}"/>
                </a:ext>
              </a:extLst>
            </p:cNvPr>
            <p:cNvSpPr txBox="1"/>
            <p:nvPr/>
          </p:nvSpPr>
          <p:spPr>
            <a:xfrm>
              <a:off x="4612041" y="4611683"/>
              <a:ext cx="1089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E39F9E2-543B-E416-29FB-085805AF14FF}"/>
                </a:ext>
              </a:extLst>
            </p:cNvPr>
            <p:cNvSpPr txBox="1"/>
            <p:nvPr/>
          </p:nvSpPr>
          <p:spPr>
            <a:xfrm>
              <a:off x="5477210" y="3341810"/>
              <a:ext cx="25958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dirty="0"/>
                <a:t>import </a:t>
              </a:r>
              <a:r>
                <a:rPr lang="en-US" sz="1200" dirty="0" err="1"/>
                <a:t>sympy</a:t>
              </a:r>
              <a:r>
                <a:rPr lang="en-US" sz="1200" dirty="0"/>
                <a:t> as </a:t>
              </a:r>
              <a:r>
                <a:rPr lang="en-US" sz="1200" dirty="0" err="1"/>
                <a:t>sp</a:t>
              </a:r>
              <a:endParaRPr lang="en-US" sz="1200" dirty="0"/>
            </a:p>
            <a:p>
              <a:pPr algn="l"/>
              <a:r>
                <a:rPr lang="en-US" sz="1200" dirty="0"/>
                <a:t>w=[</a:t>
              </a:r>
              <a:r>
                <a:rPr lang="en-US" sz="1200" dirty="0" err="1"/>
                <a:t>sp.Symbol</a:t>
              </a:r>
              <a:r>
                <a:rPr lang="en-US" sz="1200" dirty="0"/>
                <a:t>(</a:t>
              </a:r>
              <a:r>
                <a:rPr lang="en-US" sz="1200" dirty="0" err="1"/>
                <a:t>f'w</a:t>
              </a:r>
              <a:r>
                <a:rPr lang="en-US" sz="1200" dirty="0"/>
                <a:t>{</a:t>
              </a:r>
              <a:r>
                <a:rPr lang="en-US" sz="1200" dirty="0" err="1"/>
                <a:t>i</a:t>
              </a:r>
              <a:r>
                <a:rPr lang="en-US" sz="1200" dirty="0"/>
                <a:t>}') for </a:t>
              </a:r>
              <a:r>
                <a:rPr lang="en-US" sz="1200" dirty="0" err="1"/>
                <a:t>i</a:t>
              </a:r>
              <a:r>
                <a:rPr lang="en-US" sz="1200" dirty="0"/>
                <a:t> in range(4)]</a:t>
              </a:r>
            </a:p>
            <a:p>
              <a:pPr algn="l"/>
              <a:r>
                <a:rPr lang="el-GR" sz="1200" dirty="0"/>
                <a:t>ω=[</a:t>
              </a:r>
              <a:r>
                <a:rPr lang="en-US" sz="1200" dirty="0" err="1"/>
                <a:t>sp.Symbol</a:t>
              </a:r>
              <a:r>
                <a:rPr lang="en-US" sz="1200" dirty="0"/>
                <a:t>(f'</a:t>
              </a:r>
              <a:r>
                <a:rPr lang="el-GR" sz="1200" dirty="0"/>
                <a:t>ω{</a:t>
              </a:r>
              <a:r>
                <a:rPr lang="en-US" sz="1200" dirty="0" err="1"/>
                <a:t>i</a:t>
              </a:r>
              <a:r>
                <a:rPr lang="en-US" sz="1200" dirty="0"/>
                <a:t>}') for </a:t>
              </a:r>
              <a:r>
                <a:rPr lang="en-US" sz="1200" dirty="0" err="1"/>
                <a:t>i</a:t>
              </a:r>
              <a:r>
                <a:rPr lang="en-US" sz="1200" dirty="0"/>
                <a:t> in range(4)]</a:t>
              </a:r>
            </a:p>
            <a:p>
              <a:pPr algn="l"/>
              <a:r>
                <a:rPr lang="en-US" sz="1200" dirty="0" err="1"/>
                <a:t>sp.pprint</a:t>
              </a:r>
              <a:r>
                <a:rPr lang="en-US" sz="1200" dirty="0"/>
                <a:t>(w) # -&gt; [w₀, w₁, w₂, w₃]</a:t>
              </a:r>
            </a:p>
            <a:p>
              <a:pPr algn="l"/>
              <a:r>
                <a:rPr lang="en-US" sz="1200" dirty="0" err="1"/>
                <a:t>sp.pprint</a:t>
              </a:r>
              <a:r>
                <a:rPr lang="en-US" sz="1200" dirty="0"/>
                <a:t>(</a:t>
              </a:r>
              <a:r>
                <a:rPr lang="el-GR" sz="1200" dirty="0"/>
                <a:t>ω) # -&gt; [ω0, ω1, ω2, ω3]</a:t>
              </a:r>
              <a:endParaRPr lang="en-CN" sz="120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A2C0034-B110-09C3-F89B-E5A69962BB62}"/>
                </a:ext>
              </a:extLst>
            </p:cNvPr>
            <p:cNvSpPr txBox="1"/>
            <p:nvPr/>
          </p:nvSpPr>
          <p:spPr>
            <a:xfrm>
              <a:off x="7140215" y="3369605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1E6652F-1BA4-27A3-073E-56451C50C306}"/>
                </a:ext>
              </a:extLst>
            </p:cNvPr>
            <p:cNvCxnSpPr>
              <a:cxnSpLocks/>
            </p:cNvCxnSpPr>
            <p:nvPr/>
          </p:nvCxnSpPr>
          <p:spPr>
            <a:xfrm>
              <a:off x="4498727" y="2114908"/>
              <a:ext cx="4293883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0DDCD77-96D7-60EF-0BA3-2F4E67E5894F}"/>
                </a:ext>
              </a:extLst>
            </p:cNvPr>
            <p:cNvSpPr txBox="1"/>
            <p:nvPr/>
          </p:nvSpPr>
          <p:spPr>
            <a:xfrm>
              <a:off x="7638714" y="1736964"/>
              <a:ext cx="1126142" cy="276999"/>
            </a:xfrm>
            <a:prstGeom prst="rect">
              <a:avLst/>
            </a:prstGeom>
            <a:solidFill>
              <a:srgbClr val="00B050"/>
            </a:solidFill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Agents see this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356F141-AC43-214D-6302-86BB96CA2EEC}"/>
                </a:ext>
              </a:extLst>
            </p:cNvPr>
            <p:cNvSpPr txBox="1"/>
            <p:nvPr/>
          </p:nvSpPr>
          <p:spPr>
            <a:xfrm>
              <a:off x="7619801" y="2158903"/>
              <a:ext cx="1493229" cy="276999"/>
            </a:xfrm>
            <a:prstGeom prst="rect">
              <a:avLst/>
            </a:prstGeom>
            <a:solidFill>
              <a:srgbClr val="FF0000"/>
            </a:solidFill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Agents don’t see this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67AB06-C9A3-CE04-2C99-1650DF972439}"/>
              </a:ext>
            </a:extLst>
          </p:cNvPr>
          <p:cNvSpPr txBox="1"/>
          <p:nvPr/>
        </p:nvSpPr>
        <p:spPr>
          <a:xfrm>
            <a:off x="153340" y="147034"/>
            <a:ext cx="4619605" cy="616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b="1" dirty="0"/>
              <a:t>(a) </a:t>
            </a:r>
            <a:r>
              <a:rPr lang="en-US" sz="1200" b="1" dirty="0"/>
              <a:t>SC(sphinx-doc__sphinx-10614): </a:t>
            </a:r>
            <a:r>
              <a:rPr lang="en-US" sz="1200" b="1" i="0" u="none" strike="noStrike" dirty="0">
                <a:effectLst/>
                <a:latin typeface="quote-cjk-patch"/>
              </a:rPr>
              <a:t>The PR closed three issues; the problem statement covers only one. </a:t>
            </a:r>
            <a:r>
              <a:rPr lang="en-US" sz="1200" b="1" dirty="0">
                <a:highlight>
                  <a:srgbClr val="FF0000"/>
                </a:highlight>
              </a:rPr>
              <a:t>Red</a:t>
            </a:r>
            <a:r>
              <a:rPr lang="en-US" sz="1200" b="1" dirty="0"/>
              <a:t> means out of scope; </a:t>
            </a:r>
            <a:r>
              <a:rPr lang="en-US" sz="1200" b="1" dirty="0">
                <a:highlight>
                  <a:srgbClr val="00FF00"/>
                </a:highlight>
              </a:rPr>
              <a:t>Green</a:t>
            </a:r>
            <a:r>
              <a:rPr lang="en-US" sz="1200" b="1" dirty="0"/>
              <a:t> means in scope.</a:t>
            </a:r>
            <a:endParaRPr lang="en-CN" sz="1200" b="1" dirty="0"/>
          </a:p>
        </p:txBody>
      </p:sp>
    </p:spTree>
    <p:extLst>
      <p:ext uri="{BB962C8B-B14F-4D97-AF65-F5344CB8AC3E}">
        <p14:creationId xmlns:p14="http://schemas.microsoft.com/office/powerpoint/2010/main" val="219624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07B259-1037-37C4-4054-B6B9ED138FBE}"/>
              </a:ext>
            </a:extLst>
          </p:cNvPr>
          <p:cNvGrpSpPr/>
          <p:nvPr/>
        </p:nvGrpSpPr>
        <p:grpSpPr>
          <a:xfrm>
            <a:off x="2426720" y="424289"/>
            <a:ext cx="4855670" cy="5883889"/>
            <a:chOff x="2426720" y="424289"/>
            <a:chExt cx="4855670" cy="5883889"/>
          </a:xfrm>
        </p:grpSpPr>
        <p:sp>
          <p:nvSpPr>
            <p:cNvPr id="39" name="Rounded Rectangular Callout 38">
              <a:extLst>
                <a:ext uri="{FF2B5EF4-FFF2-40B4-BE49-F238E27FC236}">
                  <a16:creationId xmlns:a16="http://schemas.microsoft.com/office/drawing/2014/main" id="{3BF869E3-36C7-ED00-A793-D6169A202E46}"/>
                </a:ext>
              </a:extLst>
            </p:cNvPr>
            <p:cNvSpPr/>
            <p:nvPr/>
          </p:nvSpPr>
          <p:spPr>
            <a:xfrm>
              <a:off x="3467571" y="424289"/>
              <a:ext cx="2585206" cy="914401"/>
            </a:xfrm>
            <a:prstGeom prst="wedgeRoundRectCallout">
              <a:avLst>
                <a:gd name="adj1" fmla="val -42181"/>
                <a:gd name="adj2" fmla="val 61850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40" name="Graphic 39" descr="Programmer female with solid fill">
              <a:extLst>
                <a:ext uri="{FF2B5EF4-FFF2-40B4-BE49-F238E27FC236}">
                  <a16:creationId xmlns:a16="http://schemas.microsoft.com/office/drawing/2014/main" id="{5CA64542-065B-1704-B3A5-2D74C368E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85039" y="2019328"/>
              <a:ext cx="725089" cy="725089"/>
            </a:xfrm>
            <a:prstGeom prst="rect">
              <a:avLst/>
            </a:prstGeom>
          </p:spPr>
        </p:pic>
        <p:sp>
          <p:nvSpPr>
            <p:cNvPr id="41" name="Rounded Rectangular Callout 40">
              <a:extLst>
                <a:ext uri="{FF2B5EF4-FFF2-40B4-BE49-F238E27FC236}">
                  <a16:creationId xmlns:a16="http://schemas.microsoft.com/office/drawing/2014/main" id="{90A8A64D-EF8C-35E8-4A33-4EE60C152546}"/>
                </a:ext>
              </a:extLst>
            </p:cNvPr>
            <p:cNvSpPr/>
            <p:nvPr/>
          </p:nvSpPr>
          <p:spPr>
            <a:xfrm>
              <a:off x="3491725" y="1701743"/>
              <a:ext cx="2513622" cy="747165"/>
            </a:xfrm>
            <a:prstGeom prst="wedgeRoundRectCallout">
              <a:avLst>
                <a:gd name="adj1" fmla="val 45570"/>
                <a:gd name="adj2" fmla="val 68123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0C6D7E1-98D3-A7DF-D39B-9F218445AFBE}"/>
                </a:ext>
              </a:extLst>
            </p:cNvPr>
            <p:cNvSpPr txBox="1"/>
            <p:nvPr/>
          </p:nvSpPr>
          <p:spPr>
            <a:xfrm>
              <a:off x="5568972" y="2667421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8A403C6-6B53-6B0F-FDFF-38E1251CDA3F}"/>
                </a:ext>
              </a:extLst>
            </p:cNvPr>
            <p:cNvSpPr txBox="1"/>
            <p:nvPr/>
          </p:nvSpPr>
          <p:spPr>
            <a:xfrm>
              <a:off x="3447012" y="475205"/>
              <a:ext cx="27095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Issue #</a:t>
              </a:r>
              <a:r>
                <a:rPr lang="en-US" altLang="zh-CN" sz="1200" b="1" i="1" dirty="0"/>
                <a:t>7132 </a:t>
              </a:r>
              <a:r>
                <a:rPr lang="en-US" sz="1200" b="1" i="0" u="none" strike="noStrike" dirty="0">
                  <a:effectLst/>
                </a:rPr>
                <a:t>Add evaluation for polylog</a:t>
              </a:r>
              <a:br>
                <a:rPr lang="en-US" sz="1200" b="1" i="0" u="none" strike="noStrike" dirty="0">
                  <a:effectLst/>
                </a:rPr>
              </a:br>
              <a:endParaRPr lang="en-US" sz="1200" b="1" i="0" u="none" strike="noStrike" dirty="0">
                <a:effectLst/>
              </a:endParaRPr>
            </a:p>
            <a:p>
              <a:r>
                <a:rPr lang="en-US" altLang="zh-CN" sz="1200" b="1" i="1" dirty="0"/>
                <a:t>Issue #13853 </a:t>
              </a:r>
              <a:r>
                <a:rPr lang="en-US" sz="1200" b="1" i="0" u="none" strike="noStrike" dirty="0">
                  <a:effectLst/>
                </a:rPr>
                <a:t>Why does the expansion of </a:t>
              </a:r>
              <a:r>
                <a:rPr lang="en-US" sz="1200" b="1" i="1" u="none" strike="noStrike" dirty="0">
                  <a:effectLst/>
                </a:rPr>
                <a:t>polylog(1, z) </a:t>
              </a:r>
              <a:r>
                <a:rPr lang="en-US" sz="1200" b="1" i="0" u="none" strike="noStrike" dirty="0">
                  <a:effectLst/>
                </a:rPr>
                <a:t>have </a:t>
              </a:r>
              <a:r>
                <a:rPr lang="en-US" sz="1200" b="1" i="1" u="none" strike="noStrike" dirty="0" err="1">
                  <a:effectLst/>
                </a:rPr>
                <a:t>exp_polar</a:t>
              </a:r>
              <a:r>
                <a:rPr lang="en-US" sz="1200" b="1" i="1" u="none" strike="noStrike" dirty="0">
                  <a:effectLst/>
                </a:rPr>
                <a:t>(-I*pi)?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489FF0B-D52D-9694-8809-4C9276DE83CA}"/>
                </a:ext>
              </a:extLst>
            </p:cNvPr>
            <p:cNvSpPr txBox="1"/>
            <p:nvPr/>
          </p:nvSpPr>
          <p:spPr>
            <a:xfrm>
              <a:off x="5281131" y="82996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5E0166F-7C38-1DBC-3F8B-BE52F5370186}"/>
                </a:ext>
              </a:extLst>
            </p:cNvPr>
            <p:cNvSpPr txBox="1"/>
            <p:nvPr/>
          </p:nvSpPr>
          <p:spPr>
            <a:xfrm>
              <a:off x="3491725" y="1769438"/>
              <a:ext cx="26271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>
                  <a:highlight>
                    <a:srgbClr val="FC8365"/>
                  </a:highlight>
                </a:rPr>
                <a:t>PR #13852 </a:t>
              </a:r>
              <a:r>
                <a:rPr lang="en-US" sz="1200" b="1" i="0" u="none" strike="noStrike" dirty="0">
                  <a:effectLst/>
                </a:rPr>
                <a:t>Implement more special values of polylogarithm, without </a:t>
              </a:r>
              <a:r>
                <a:rPr lang="en-US" sz="1200" b="1" i="1" u="none" strike="noStrike" dirty="0" err="1">
                  <a:effectLst/>
                </a:rPr>
                <a:t>exp_polar</a:t>
              </a:r>
              <a:r>
                <a:rPr lang="en-US" sz="1200" b="1" i="1" u="none" strike="noStrike" dirty="0">
                  <a:effectLst/>
                </a:rPr>
                <a:t> </a:t>
              </a:r>
              <a:r>
                <a:rPr lang="en-US" sz="1200" b="1" i="0" u="none" strike="noStrike" dirty="0">
                  <a:effectLst/>
                </a:rPr>
                <a:t>for s=1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AB90B35-FB0F-37AC-D382-7E80975C7B92}"/>
                </a:ext>
              </a:extLst>
            </p:cNvPr>
            <p:cNvSpPr txBox="1"/>
            <p:nvPr/>
          </p:nvSpPr>
          <p:spPr>
            <a:xfrm>
              <a:off x="2923987" y="5292515"/>
              <a:ext cx="412023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b="1" dirty="0"/>
                <a:t>(b) </a:t>
              </a:r>
              <a:r>
                <a:rPr lang="en-US" sz="1200" b="1" dirty="0"/>
                <a:t>DP(sympy__sympy-13852): </a:t>
              </a:r>
              <a:r>
                <a:rPr lang="en-US" sz="1200" b="1" i="0" u="none" strike="noStrike" dirty="0">
                  <a:effectLst/>
                </a:rPr>
                <a:t>The PR introduces random test failures that require a subsequent follow-up fix. </a:t>
              </a:r>
              <a:r>
                <a:rPr lang="en-US" sz="1200" b="1" dirty="0">
                  <a:highlight>
                    <a:srgbClr val="FF0000"/>
                  </a:highlight>
                </a:rPr>
                <a:t>Red</a:t>
              </a:r>
              <a:r>
                <a:rPr lang="en-US" sz="1200" b="1" dirty="0"/>
                <a:t> means PR in the dataset. </a:t>
              </a:r>
              <a:r>
                <a:rPr lang="en-US" sz="1200" b="1" i="0" u="none" strike="noStrike" dirty="0">
                  <a:effectLst/>
                </a:rPr>
                <a:t>Note that PR #13852 closes several issues, but their descriptions are already in the problem statement, so this example is not considered as SC.</a:t>
              </a:r>
              <a:endParaRPr lang="en-CN" sz="1200" b="1" dirty="0"/>
            </a:p>
          </p:txBody>
        </p:sp>
        <p:pic>
          <p:nvPicPr>
            <p:cNvPr id="47" name="Graphic 46" descr="Users with solid fill">
              <a:extLst>
                <a:ext uri="{FF2B5EF4-FFF2-40B4-BE49-F238E27FC236}">
                  <a16:creationId xmlns:a16="http://schemas.microsoft.com/office/drawing/2014/main" id="{CA593430-E4AB-FE52-307E-AC99742F2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66380" y="1020576"/>
              <a:ext cx="603661" cy="768660"/>
            </a:xfrm>
            <a:prstGeom prst="rect">
              <a:avLst/>
            </a:prstGeom>
          </p:spPr>
        </p:pic>
        <p:pic>
          <p:nvPicPr>
            <p:cNvPr id="48" name="Graphic 47" descr="Programmer female with solid fill">
              <a:extLst>
                <a:ext uri="{FF2B5EF4-FFF2-40B4-BE49-F238E27FC236}">
                  <a16:creationId xmlns:a16="http://schemas.microsoft.com/office/drawing/2014/main" id="{16896A6C-4DD6-8192-73EA-8B5191D94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83874" y="4246543"/>
              <a:ext cx="725089" cy="725089"/>
            </a:xfrm>
            <a:prstGeom prst="rect">
              <a:avLst/>
            </a:prstGeom>
          </p:spPr>
        </p:pic>
        <p:sp>
          <p:nvSpPr>
            <p:cNvPr id="49" name="Rounded Rectangular Callout 48">
              <a:extLst>
                <a:ext uri="{FF2B5EF4-FFF2-40B4-BE49-F238E27FC236}">
                  <a16:creationId xmlns:a16="http://schemas.microsoft.com/office/drawing/2014/main" id="{A65DED07-425B-D59F-4501-F7668971CB63}"/>
                </a:ext>
              </a:extLst>
            </p:cNvPr>
            <p:cNvSpPr/>
            <p:nvPr/>
          </p:nvSpPr>
          <p:spPr>
            <a:xfrm>
              <a:off x="3505280" y="3316562"/>
              <a:ext cx="2513622" cy="1330778"/>
            </a:xfrm>
            <a:prstGeom prst="wedgeRoundRectCallout">
              <a:avLst>
                <a:gd name="adj1" fmla="val 45570"/>
                <a:gd name="adj2" fmla="val 62859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53E2FAF-87BE-61F8-695F-E757A04DABB2}"/>
                </a:ext>
              </a:extLst>
            </p:cNvPr>
            <p:cNvSpPr txBox="1"/>
            <p:nvPr/>
          </p:nvSpPr>
          <p:spPr>
            <a:xfrm>
              <a:off x="5466800" y="4954779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F3FC350-377F-EF8E-EFC2-DC2769FF756A}"/>
                </a:ext>
              </a:extLst>
            </p:cNvPr>
            <p:cNvSpPr txBox="1"/>
            <p:nvPr/>
          </p:nvSpPr>
          <p:spPr>
            <a:xfrm>
              <a:off x="3505280" y="3380212"/>
              <a:ext cx="262714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i="1" dirty="0"/>
                <a:t>PR #13909 </a:t>
              </a:r>
              <a:r>
                <a:rPr lang="en-US" sz="1200" b="1" i="0" u="none" strike="noStrike" dirty="0">
                  <a:effectLst/>
                </a:rPr>
                <a:t>Use </a:t>
              </a:r>
              <a:r>
                <a:rPr lang="en-US" sz="1200" b="1" i="1" u="none" strike="noStrike" dirty="0" err="1">
                  <a:effectLst/>
                </a:rPr>
                <a:t>verify_numerically</a:t>
              </a:r>
              <a:r>
                <a:rPr lang="en-US" sz="1200" b="1" i="1" u="none" strike="noStrike" dirty="0">
                  <a:effectLst/>
                </a:rPr>
                <a:t> </a:t>
              </a:r>
              <a:r>
                <a:rPr lang="en-US" sz="1200" b="1" i="0" u="none" strike="noStrike" dirty="0">
                  <a:effectLst/>
                </a:rPr>
                <a:t>in testing polylog expansions</a:t>
              </a:r>
            </a:p>
            <a:p>
              <a:br>
                <a:rPr lang="en-US" sz="1200" dirty="0"/>
              </a:br>
              <a:r>
                <a:rPr lang="en-US" sz="1200" b="0" i="0" u="none" strike="noStrike" dirty="0">
                  <a:effectLst/>
                </a:rPr>
                <a:t>Improves </a:t>
              </a:r>
              <a:r>
                <a:rPr lang="en-US" sz="1200" i="1" dirty="0" err="1"/>
                <a:t>test_polylog_values</a:t>
              </a:r>
              <a:r>
                <a:rPr lang="en-US" sz="1200" b="0" i="0" u="none" strike="noStrike" dirty="0">
                  <a:effectLst/>
                </a:rPr>
                <a:t>, which was </a:t>
              </a:r>
              <a:r>
                <a:rPr lang="en-US" sz="1200" b="0" i="0" u="none" strike="noStrike" dirty="0">
                  <a:effectLst/>
                  <a:highlight>
                    <a:srgbClr val="FC8365"/>
                  </a:highlight>
                </a:rPr>
                <a:t>introduced in</a:t>
              </a:r>
              <a:r>
                <a:rPr lang="en-US" sz="1200" b="1" i="0" u="none" strike="noStrike" dirty="0">
                  <a:effectLst/>
                  <a:highlight>
                    <a:srgbClr val="FC8365"/>
                  </a:highlight>
                </a:rPr>
                <a:t> #13582 </a:t>
              </a:r>
              <a:r>
                <a:rPr lang="en-US" sz="1200" b="0" i="0" u="none" strike="noStrike" dirty="0">
                  <a:effectLst/>
                  <a:highlight>
                    <a:srgbClr val="FC8365"/>
                  </a:highlight>
                </a:rPr>
                <a:t>and turned out to suffer from random test failures.</a:t>
              </a:r>
              <a:br>
                <a:rPr lang="en-US" sz="1200" dirty="0">
                  <a:highlight>
                    <a:srgbClr val="FC8365"/>
                  </a:highlight>
                </a:rPr>
              </a:br>
              <a:endParaRPr lang="en-US" sz="1200" b="1" i="0" u="none" strike="noStrike" dirty="0">
                <a:effectLst/>
                <a:highlight>
                  <a:srgbClr val="FC8365"/>
                </a:highlight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24D2BA4-0397-2B64-830A-3B357AD3668F}"/>
                </a:ext>
              </a:extLst>
            </p:cNvPr>
            <p:cNvCxnSpPr>
              <a:cxnSpLocks/>
              <a:endCxn id="48" idx="0"/>
            </p:cNvCxnSpPr>
            <p:nvPr/>
          </p:nvCxnSpPr>
          <p:spPr>
            <a:xfrm>
              <a:off x="6246419" y="2943749"/>
              <a:ext cx="0" cy="13027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C36D786-5D76-2192-BB36-E8E4FAE4B94E}"/>
                </a:ext>
              </a:extLst>
            </p:cNvPr>
            <p:cNvSpPr txBox="1"/>
            <p:nvPr/>
          </p:nvSpPr>
          <p:spPr>
            <a:xfrm>
              <a:off x="6325590" y="3008578"/>
              <a:ext cx="9568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/>
                <a:t>After Merge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C7E0E0C-D5CE-AE9E-F683-546F1BBD417E}"/>
                </a:ext>
              </a:extLst>
            </p:cNvPr>
            <p:cNvCxnSpPr>
              <a:cxnSpLocks/>
            </p:cNvCxnSpPr>
            <p:nvPr/>
          </p:nvCxnSpPr>
          <p:spPr>
            <a:xfrm>
              <a:off x="2766380" y="3141830"/>
              <a:ext cx="3606120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55" name="Graphic 54" descr="Badge Tick1 with solid fill">
              <a:extLst>
                <a:ext uri="{FF2B5EF4-FFF2-40B4-BE49-F238E27FC236}">
                  <a16:creationId xmlns:a16="http://schemas.microsoft.com/office/drawing/2014/main" id="{63B89795-2B13-88F7-6511-5C79C32EF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57311" y="1749436"/>
              <a:ext cx="484820" cy="484820"/>
            </a:xfrm>
            <a:prstGeom prst="rect">
              <a:avLst/>
            </a:prstGeom>
          </p:spPr>
        </p:pic>
        <p:pic>
          <p:nvPicPr>
            <p:cNvPr id="56" name="Graphic 55" descr="Warning with solid fill">
              <a:extLst>
                <a:ext uri="{FF2B5EF4-FFF2-40B4-BE49-F238E27FC236}">
                  <a16:creationId xmlns:a16="http://schemas.microsoft.com/office/drawing/2014/main" id="{6FD50D8C-E633-881F-873C-03F1E2D8C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379844" y="4037732"/>
              <a:ext cx="439755" cy="439755"/>
            </a:xfrm>
            <a:prstGeom prst="rect">
              <a:avLst/>
            </a:prstGeom>
          </p:spPr>
        </p:pic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A4B6678-FEE9-534B-2E33-3C1F647122E9}"/>
                </a:ext>
              </a:extLst>
            </p:cNvPr>
            <p:cNvSpPr txBox="1"/>
            <p:nvPr/>
          </p:nvSpPr>
          <p:spPr>
            <a:xfrm>
              <a:off x="2426720" y="1580666"/>
              <a:ext cx="11474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269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42695E35-A78B-DCCE-7468-CEAFB190876E}"/>
              </a:ext>
            </a:extLst>
          </p:cNvPr>
          <p:cNvSpPr/>
          <p:nvPr/>
        </p:nvSpPr>
        <p:spPr>
          <a:xfrm>
            <a:off x="569958" y="2949304"/>
            <a:ext cx="5065073" cy="1384995"/>
          </a:xfrm>
          <a:prstGeom prst="wedgeRoundRectCallout">
            <a:avLst>
              <a:gd name="adj1" fmla="val -42181"/>
              <a:gd name="adj2" fmla="val 5738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 dirty="0"/>
          </a:p>
        </p:txBody>
      </p:sp>
      <p:pic>
        <p:nvPicPr>
          <p:cNvPr id="5" name="Graphic 4" descr="User with solid fill">
            <a:extLst>
              <a:ext uri="{FF2B5EF4-FFF2-40B4-BE49-F238E27FC236}">
                <a16:creationId xmlns:a16="http://schemas.microsoft.com/office/drawing/2014/main" id="{42CAA08A-A095-CBF7-F5C4-5F5093763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065756"/>
            <a:ext cx="578735" cy="5787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195759-DE51-57FC-DBCC-44A7AD514934}"/>
              </a:ext>
            </a:extLst>
          </p:cNvPr>
          <p:cNvSpPr txBox="1"/>
          <p:nvPr/>
        </p:nvSpPr>
        <p:spPr>
          <a:xfrm>
            <a:off x="569958" y="2960243"/>
            <a:ext cx="50650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/>
              <a:t>Issue #13009 </a:t>
            </a:r>
            <a:r>
              <a:rPr lang="en-US" sz="1200" b="1" i="0" u="none" strike="noStrike" dirty="0" err="1">
                <a:effectLst/>
              </a:rPr>
              <a:t>TimeSeries</a:t>
            </a:r>
            <a:r>
              <a:rPr lang="en-US" sz="1200" b="1" i="0" u="none" strike="noStrike" dirty="0">
                <a:effectLst/>
              </a:rPr>
              <a:t>: misleading exception when required column check fails.</a:t>
            </a:r>
          </a:p>
          <a:p>
            <a:br>
              <a:rPr lang="en-US" sz="1200" dirty="0"/>
            </a:br>
            <a:r>
              <a:rPr lang="en-US" sz="1200" b="0" i="0" u="none" strike="noStrike" dirty="0">
                <a:effectLst/>
              </a:rPr>
              <a:t>The current error says: "expected 'time' as the first columns but found 'time'" — this is confusing and unhelpful.</a:t>
            </a:r>
          </a:p>
          <a:p>
            <a:r>
              <a:rPr lang="en-US" sz="1200" i="0" u="none" strike="noStrike" dirty="0">
                <a:effectLst/>
                <a:highlight>
                  <a:srgbClr val="FC8365"/>
                </a:highlight>
              </a:rPr>
              <a:t>Expected: an exception that tells the user which required columns are actually missing.</a:t>
            </a:r>
            <a:endParaRPr lang="en-CN" sz="1200" dirty="0">
              <a:highlight>
                <a:srgbClr val="FC8365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DD5163-C1A4-1E3D-C938-FDE70EDC01CD}"/>
              </a:ext>
            </a:extLst>
          </p:cNvPr>
          <p:cNvSpPr txBox="1"/>
          <p:nvPr/>
        </p:nvSpPr>
        <p:spPr>
          <a:xfrm>
            <a:off x="2383519" y="3515592"/>
            <a:ext cx="18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8A23EA-DADD-CB20-1AEA-BEE4C7D249F5}"/>
              </a:ext>
            </a:extLst>
          </p:cNvPr>
          <p:cNvSpPr txBox="1"/>
          <p:nvPr/>
        </p:nvSpPr>
        <p:spPr>
          <a:xfrm>
            <a:off x="662766" y="4805850"/>
            <a:ext cx="48076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1" dirty="0"/>
              <a:t>PR #13033 </a:t>
            </a:r>
            <a:r>
              <a:rPr lang="en-US" sz="1200" b="1" i="0" u="none" strike="noStrike" dirty="0">
                <a:effectLst/>
              </a:rPr>
              <a:t>Clearer timeseries required column exception msg </a:t>
            </a:r>
          </a:p>
          <a:p>
            <a:br>
              <a:rPr lang="en-US" sz="1200" b="1" i="0" u="none" strike="noStrike" dirty="0">
                <a:effectLst/>
                <a:highlight>
                  <a:srgbClr val="C0C0C0"/>
                </a:highlight>
              </a:rPr>
            </a:br>
            <a:r>
              <a:rPr lang="en-US" sz="1200" b="0" i="0" u="none" strike="noStrike" dirty="0">
                <a:effectLst/>
              </a:rPr>
              <a:t> ts_2cols_required = </a:t>
            </a:r>
            <a:r>
              <a:rPr lang="en-US" sz="1200" b="0" i="0" u="none" strike="noStrike" dirty="0" err="1">
                <a:effectLst/>
              </a:rPr>
              <a:t>ts.copy</a:t>
            </a:r>
            <a:r>
              <a:rPr lang="en-US" sz="1200" b="0" i="0" u="none" strike="noStrike" dirty="0">
                <a:effectLst/>
              </a:rPr>
              <a:t>()</a:t>
            </a:r>
          </a:p>
          <a:p>
            <a:r>
              <a:rPr lang="en-US" sz="1200" b="0" i="0" u="none" strike="noStrike" dirty="0">
                <a:effectLst/>
              </a:rPr>
              <a:t> ts_2cols_required._required_columns = ['time', 'a']</a:t>
            </a:r>
          </a:p>
          <a:p>
            <a:r>
              <a:rPr lang="en-US" sz="1200" b="0" i="0" u="none" strike="noStrike" dirty="0">
                <a:effectLst/>
              </a:rPr>
              <a:t>    with </a:t>
            </a:r>
            <a:r>
              <a:rPr lang="en-US" sz="1200" b="0" i="0" u="none" strike="noStrike" dirty="0" err="1">
                <a:effectLst/>
              </a:rPr>
              <a:t>pytest.raises</a:t>
            </a:r>
            <a:r>
              <a:rPr lang="en-US" sz="1200" b="0" i="0" u="none" strike="noStrike" dirty="0">
                <a:effectLst/>
              </a:rPr>
              <a:t>(</a:t>
            </a:r>
            <a:r>
              <a:rPr lang="en-US" sz="1200" b="0" i="0" u="none" strike="noStrike" dirty="0" err="1">
                <a:effectLst/>
              </a:rPr>
              <a:t>ValueError</a:t>
            </a:r>
            <a:r>
              <a:rPr lang="en-US" sz="1200" b="0" i="0" u="none" strike="noStrike" dirty="0">
                <a:effectLst/>
              </a:rPr>
              <a:t>) as </a:t>
            </a:r>
            <a:r>
              <a:rPr lang="en-US" sz="1200" b="0" i="0" u="none" strike="noStrike" dirty="0" err="1">
                <a:effectLst/>
              </a:rPr>
              <a:t>exc</a:t>
            </a:r>
            <a:r>
              <a:rPr lang="en-US" sz="1200" b="0" i="0" u="none" strike="noStrike" dirty="0">
                <a:effectLst/>
              </a:rPr>
              <a:t>:</a:t>
            </a:r>
          </a:p>
          <a:p>
            <a:r>
              <a:rPr lang="en-US" sz="1200" b="0" i="0" u="none" strike="noStrike" dirty="0">
                <a:effectLst/>
              </a:rPr>
              <a:t>        ts_2cols_required.remove_column('a')</a:t>
            </a:r>
          </a:p>
          <a:p>
            <a:r>
              <a:rPr lang="en-US" sz="1200" b="0" i="0" u="none" strike="noStrike" dirty="0">
                <a:effectLst/>
              </a:rPr>
              <a:t>    </a:t>
            </a:r>
            <a:r>
              <a:rPr lang="en-US" sz="1200" b="0" i="0" u="none" strike="noStrike" dirty="0">
                <a:effectLst/>
                <a:highlight>
                  <a:srgbClr val="FC8365"/>
                </a:highlight>
              </a:rPr>
              <a:t>assert </a:t>
            </a:r>
            <a:r>
              <a:rPr lang="en-US" sz="1200" b="0" i="0" u="none" strike="noStrike" dirty="0" err="1">
                <a:effectLst/>
                <a:highlight>
                  <a:srgbClr val="FC8365"/>
                </a:highlight>
              </a:rPr>
              <a:t>exc.value.args</a:t>
            </a:r>
            <a:r>
              <a:rPr lang="en-US" sz="1200" b="0" i="0" u="none" strike="noStrike" dirty="0">
                <a:effectLst/>
                <a:highlight>
                  <a:srgbClr val="FC8365"/>
                </a:highlight>
              </a:rPr>
              <a:t>[0] == ("</a:t>
            </a:r>
            <a:r>
              <a:rPr lang="en-US" sz="1200" b="0" i="0" u="none" strike="noStrike" dirty="0" err="1">
                <a:effectLst/>
                <a:highlight>
                  <a:srgbClr val="FC8365"/>
                </a:highlight>
              </a:rPr>
              <a:t>TimeSeries</a:t>
            </a:r>
            <a:r>
              <a:rPr lang="en-US" sz="1200" b="0" i="0" u="none" strike="noStrike" dirty="0">
                <a:effectLst/>
                <a:highlight>
                  <a:srgbClr val="FC8365"/>
                </a:highlight>
              </a:rPr>
              <a:t> object is invalid - expected "</a:t>
            </a:r>
          </a:p>
          <a:p>
            <a:r>
              <a:rPr lang="en-US" sz="1200" b="0" i="0" u="none" strike="noStrike" dirty="0">
                <a:effectLst/>
                <a:highlight>
                  <a:srgbClr val="FC8365"/>
                </a:highlight>
              </a:rPr>
              <a:t>                                 "['time', 'a'] as the first columns but found ['time', 'b']")</a:t>
            </a:r>
            <a:endParaRPr lang="en-US" sz="1200" b="1" i="0" u="none" strike="noStrike" dirty="0">
              <a:effectLst/>
              <a:highlight>
                <a:srgbClr val="FC8365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B46646-CA8E-40DD-2676-C97DD417450E}"/>
              </a:ext>
            </a:extLst>
          </p:cNvPr>
          <p:cNvSpPr txBox="1"/>
          <p:nvPr/>
        </p:nvSpPr>
        <p:spPr>
          <a:xfrm>
            <a:off x="115297" y="6396335"/>
            <a:ext cx="5574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b="1" dirty="0"/>
              <a:t>(e) </a:t>
            </a:r>
            <a:r>
              <a:rPr lang="en-US" sz="1200" b="1" dirty="0"/>
              <a:t>UL(astropy__astropy-13033): </a:t>
            </a:r>
            <a:r>
              <a:rPr lang="en-US" sz="1200" b="1" i="0" u="none" strike="noStrike" dirty="0">
                <a:effectLst/>
                <a:latin typeface="quote-cjk-patch"/>
              </a:rPr>
              <a:t>The test patch asserts an exact error message that is never specified in the issue.</a:t>
            </a:r>
            <a:endParaRPr lang="en-CN" sz="1200" b="1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B7C37BB-E576-6133-0D28-2ABD4148D5D3}"/>
              </a:ext>
            </a:extLst>
          </p:cNvPr>
          <p:cNvSpPr/>
          <p:nvPr/>
        </p:nvSpPr>
        <p:spPr>
          <a:xfrm>
            <a:off x="578734" y="4816789"/>
            <a:ext cx="4891647" cy="15587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D627AD-063D-131D-2544-90896DDCBA08}"/>
              </a:ext>
            </a:extLst>
          </p:cNvPr>
          <p:cNvSpPr txBox="1"/>
          <p:nvPr/>
        </p:nvSpPr>
        <p:spPr>
          <a:xfrm>
            <a:off x="4539742" y="4509012"/>
            <a:ext cx="930639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N" sz="1400" b="1" dirty="0"/>
              <a:t>Test Patch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8A5AA4-A864-302D-A7F5-B70B02958D26}"/>
              </a:ext>
            </a:extLst>
          </p:cNvPr>
          <p:cNvSpPr txBox="1"/>
          <p:nvPr/>
        </p:nvSpPr>
        <p:spPr>
          <a:xfrm>
            <a:off x="-7886" y="4539790"/>
            <a:ext cx="1089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200" dirty="0"/>
              <a:t>Issue Reporter</a:t>
            </a:r>
          </a:p>
        </p:txBody>
      </p:sp>
    </p:spTree>
    <p:extLst>
      <p:ext uri="{BB962C8B-B14F-4D97-AF65-F5344CB8AC3E}">
        <p14:creationId xmlns:p14="http://schemas.microsoft.com/office/powerpoint/2010/main" val="373818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05CE58-10C1-ABC4-91B5-C14C7E4F7E99}"/>
              </a:ext>
            </a:extLst>
          </p:cNvPr>
          <p:cNvGrpSpPr/>
          <p:nvPr/>
        </p:nvGrpSpPr>
        <p:grpSpPr>
          <a:xfrm>
            <a:off x="4142965" y="179676"/>
            <a:ext cx="5291865" cy="5230073"/>
            <a:chOff x="4142965" y="179676"/>
            <a:chExt cx="5291865" cy="5230073"/>
          </a:xfrm>
        </p:grpSpPr>
        <p:sp>
          <p:nvSpPr>
            <p:cNvPr id="4" name="Rounded Rectangular Callout 3">
              <a:extLst>
                <a:ext uri="{FF2B5EF4-FFF2-40B4-BE49-F238E27FC236}">
                  <a16:creationId xmlns:a16="http://schemas.microsoft.com/office/drawing/2014/main" id="{36893309-3220-69AE-2A9D-7971F28B3E80}"/>
                </a:ext>
              </a:extLst>
            </p:cNvPr>
            <p:cNvSpPr/>
            <p:nvPr/>
          </p:nvSpPr>
          <p:spPr>
            <a:xfrm>
              <a:off x="5048931" y="188532"/>
              <a:ext cx="2627145" cy="508724"/>
            </a:xfrm>
            <a:prstGeom prst="wedgeRoundRectCallout">
              <a:avLst>
                <a:gd name="adj1" fmla="val -45184"/>
                <a:gd name="adj2" fmla="val 74508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5" name="Graphic 4" descr="User with solid fill">
              <a:extLst>
                <a:ext uri="{FF2B5EF4-FFF2-40B4-BE49-F238E27FC236}">
                  <a16:creationId xmlns:a16="http://schemas.microsoft.com/office/drawing/2014/main" id="{42CAF603-8393-453A-06DE-CAA2960BA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63436" y="465619"/>
              <a:ext cx="578735" cy="57873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4970F4-4A89-C28A-22B0-F50FBE3BC455}"/>
                </a:ext>
              </a:extLst>
            </p:cNvPr>
            <p:cNvSpPr txBox="1"/>
            <p:nvPr/>
          </p:nvSpPr>
          <p:spPr>
            <a:xfrm>
              <a:off x="4142965" y="998205"/>
              <a:ext cx="1089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8CEDD7-2F0F-3702-A933-F32B59DAEF30}"/>
                </a:ext>
              </a:extLst>
            </p:cNvPr>
            <p:cNvSpPr txBox="1"/>
            <p:nvPr/>
          </p:nvSpPr>
          <p:spPr>
            <a:xfrm>
              <a:off x="5048930" y="179676"/>
              <a:ext cx="2733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i="1" dirty="0"/>
                <a:t>Issue #27914 </a:t>
              </a:r>
              <a:r>
                <a:rPr lang="en-US" sz="1200" b="1" i="1" u="none" strike="noStrike" dirty="0" err="1">
                  <a:solidFill>
                    <a:srgbClr val="0C3C26"/>
                  </a:solidFill>
                  <a:effectLst/>
                </a:rPr>
                <a:t>makemigrations</a:t>
              </a:r>
              <a:r>
                <a:rPr lang="en-US" sz="1200" b="1" i="1" u="none" strike="noStrike" dirty="0">
                  <a:solidFill>
                    <a:srgbClr val="0C3C26"/>
                  </a:solidFill>
                  <a:effectLst/>
                </a:rPr>
                <a:t> produces incorrect path for inner classes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DEA4B2-6DCE-2098-0612-DB9808607A9D}"/>
                </a:ext>
              </a:extLst>
            </p:cNvPr>
            <p:cNvSpPr txBox="1"/>
            <p:nvPr/>
          </p:nvSpPr>
          <p:spPr>
            <a:xfrm>
              <a:off x="6862491" y="18853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0F6E3D-673E-CDD1-2E95-C68C131C6275}"/>
                </a:ext>
              </a:extLst>
            </p:cNvPr>
            <p:cNvSpPr txBox="1"/>
            <p:nvPr/>
          </p:nvSpPr>
          <p:spPr>
            <a:xfrm>
              <a:off x="4388735" y="4948084"/>
              <a:ext cx="50460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200" b="1" dirty="0"/>
                <a:t>(c) </a:t>
              </a:r>
              <a:r>
                <a:rPr lang="en-US" sz="1200" b="1" dirty="0"/>
                <a:t>FP(django__djamgo-12125): </a:t>
              </a:r>
              <a:r>
                <a:rPr lang="en-US" sz="1200" b="1" i="0" u="none" strike="noStrike" dirty="0">
                  <a:effectLst/>
                  <a:latin typeface="quote-cjk-patch"/>
                </a:rPr>
                <a:t>The PR closed three issues; the problem statement covers only one. </a:t>
              </a:r>
              <a:r>
                <a:rPr lang="en-US" sz="1200" b="1" dirty="0">
                  <a:highlight>
                    <a:srgbClr val="FF0000"/>
                  </a:highlight>
                </a:rPr>
                <a:t>Red</a:t>
              </a:r>
              <a:r>
                <a:rPr lang="en-US" sz="1200" b="1" dirty="0"/>
                <a:t> means PR in the dataset.</a:t>
              </a:r>
              <a:endParaRPr lang="en-CN" sz="1200" b="1" dirty="0"/>
            </a:p>
          </p:txBody>
        </p:sp>
        <p:pic>
          <p:nvPicPr>
            <p:cNvPr id="10" name="Graphic 9" descr="Programmer female with solid fill">
              <a:extLst>
                <a:ext uri="{FF2B5EF4-FFF2-40B4-BE49-F238E27FC236}">
                  <a16:creationId xmlns:a16="http://schemas.microsoft.com/office/drawing/2014/main" id="{08ADD1A8-4EE9-2023-36C4-DF554C09A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09645" y="1513200"/>
              <a:ext cx="725089" cy="725089"/>
            </a:xfrm>
            <a:prstGeom prst="rect">
              <a:avLst/>
            </a:prstGeom>
          </p:spPr>
        </p:pic>
        <p:sp>
          <p:nvSpPr>
            <p:cNvPr id="11" name="Rounded Rectangular Callout 10">
              <a:extLst>
                <a:ext uri="{FF2B5EF4-FFF2-40B4-BE49-F238E27FC236}">
                  <a16:creationId xmlns:a16="http://schemas.microsoft.com/office/drawing/2014/main" id="{19907B02-B1AA-142F-D129-2B667BACEE76}"/>
                </a:ext>
              </a:extLst>
            </p:cNvPr>
            <p:cNvSpPr/>
            <p:nvPr/>
          </p:nvSpPr>
          <p:spPr>
            <a:xfrm>
              <a:off x="5116331" y="1195615"/>
              <a:ext cx="2513622" cy="747165"/>
            </a:xfrm>
            <a:prstGeom prst="wedgeRoundRectCallout">
              <a:avLst>
                <a:gd name="adj1" fmla="val 45570"/>
                <a:gd name="adj2" fmla="val 68123"/>
                <a:gd name="adj3" fmla="val 16667"/>
              </a:avLst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A6F8DF-2CCE-4821-D710-669B667F21C2}"/>
                </a:ext>
              </a:extLst>
            </p:cNvPr>
            <p:cNvSpPr txBox="1"/>
            <p:nvPr/>
          </p:nvSpPr>
          <p:spPr>
            <a:xfrm>
              <a:off x="5116331" y="1263310"/>
              <a:ext cx="26271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i="1" dirty="0"/>
                <a:t>PR #8177 </a:t>
              </a:r>
              <a:r>
                <a:rPr lang="en-US" sz="1200" b="1" i="0" u="none" strike="noStrike" dirty="0">
                  <a:effectLst/>
                  <a:latin typeface="-apple-system"/>
                </a:rPr>
                <a:t>Fixed #27914 -- Used qualified name to extract model field path.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585580-1B00-15A0-AB07-C6B7CD78D107}"/>
                </a:ext>
              </a:extLst>
            </p:cNvPr>
            <p:cNvSpPr txBox="1"/>
            <p:nvPr/>
          </p:nvSpPr>
          <p:spPr>
            <a:xfrm>
              <a:off x="8230148" y="2374929"/>
              <a:ext cx="9568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/>
                <a:t>After Merge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0127163-3C33-5C9E-C05A-A372CACDD248}"/>
                </a:ext>
              </a:extLst>
            </p:cNvPr>
            <p:cNvCxnSpPr>
              <a:cxnSpLocks/>
            </p:cNvCxnSpPr>
            <p:nvPr/>
          </p:nvCxnSpPr>
          <p:spPr>
            <a:xfrm>
              <a:off x="4670938" y="2508181"/>
              <a:ext cx="3606120" cy="0"/>
            </a:xfrm>
            <a:prstGeom prst="line">
              <a:avLst/>
            </a:pr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F4650230-5CCE-1DF3-4ADC-2F28FCB111D1}"/>
                </a:ext>
              </a:extLst>
            </p:cNvPr>
            <p:cNvSpPr/>
            <p:nvPr/>
          </p:nvSpPr>
          <p:spPr>
            <a:xfrm>
              <a:off x="5174942" y="2634865"/>
              <a:ext cx="2627145" cy="646332"/>
            </a:xfrm>
            <a:prstGeom prst="wedgeRoundRectCallout">
              <a:avLst>
                <a:gd name="adj1" fmla="val -44204"/>
                <a:gd name="adj2" fmla="val 65351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739C6A43-0687-2167-E177-0F2BAF2E3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89447" y="3049560"/>
              <a:ext cx="578735" cy="57873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BA6AB4-9937-58DB-7B29-BF3EE3A31243}"/>
                </a:ext>
              </a:extLst>
            </p:cNvPr>
            <p:cNvSpPr txBox="1"/>
            <p:nvPr/>
          </p:nvSpPr>
          <p:spPr>
            <a:xfrm>
              <a:off x="4290414" y="3529595"/>
              <a:ext cx="10892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Issue Reporter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9D755E-C3D9-BEB3-73BF-8748A3D54B4C}"/>
                </a:ext>
              </a:extLst>
            </p:cNvPr>
            <p:cNvSpPr txBox="1"/>
            <p:nvPr/>
          </p:nvSpPr>
          <p:spPr>
            <a:xfrm>
              <a:off x="5142146" y="2650097"/>
              <a:ext cx="28503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0" i="0" u="none" strike="noStrike" dirty="0">
                  <a:solidFill>
                    <a:srgbClr val="0C3C26"/>
                  </a:solidFill>
                  <a:effectLst/>
                  <a:highlight>
                    <a:srgbClr val="FC8365"/>
                  </a:highlight>
                </a:rPr>
                <a:t>I am still encountering this issue </a:t>
              </a:r>
              <a:r>
                <a:rPr lang="en-US" sz="1200" b="0" i="0" u="none" strike="noStrike" dirty="0">
                  <a:solidFill>
                    <a:srgbClr val="0C3C26"/>
                  </a:solidFill>
                  <a:effectLst/>
                </a:rPr>
                <a:t>when running </a:t>
              </a:r>
              <a:r>
                <a:rPr lang="en-US" sz="1200" dirty="0" err="1"/>
                <a:t>makemigrations</a:t>
              </a:r>
              <a:r>
                <a:rPr lang="en-US" sz="1200" b="0" i="0" u="none" strike="noStrike" dirty="0">
                  <a:solidFill>
                    <a:srgbClr val="0C3C26"/>
                  </a:solidFill>
                  <a:effectLst/>
                </a:rPr>
                <a:t> on models that include a </a:t>
              </a:r>
              <a:r>
                <a:rPr lang="en-US" sz="1200" b="0" i="0" u="none" strike="noStrike" dirty="0" err="1">
                  <a:solidFill>
                    <a:srgbClr val="0C3C26"/>
                  </a:solidFill>
                  <a:effectLst/>
                </a:rPr>
                <a:t>django-enumfields</a:t>
              </a:r>
              <a:r>
                <a:rPr lang="en-US" sz="1200" b="0" i="0" u="none" strike="noStrike" dirty="0">
                  <a:solidFill>
                    <a:srgbClr val="0C3C26"/>
                  </a:solidFill>
                  <a:effectLst/>
                </a:rPr>
                <a:t> </a:t>
              </a:r>
              <a:r>
                <a:rPr lang="en-US" sz="1200" b="0" i="0" u="none" strike="noStrike" dirty="0" err="1">
                  <a:solidFill>
                    <a:srgbClr val="0C3C26"/>
                  </a:solidFill>
                  <a:effectLst/>
                </a:rPr>
                <a:t>EnumField</a:t>
              </a:r>
              <a:r>
                <a:rPr lang="en-US" sz="1200" b="0" i="0" u="none" strike="noStrike" dirty="0">
                  <a:solidFill>
                    <a:srgbClr val="0C3C26"/>
                  </a:solidFill>
                  <a:effectLst/>
                </a:rPr>
                <a:t>…</a:t>
              </a:r>
              <a:endParaRPr lang="en-US" sz="1200" b="1" i="1" u="none" strike="noStrike" dirty="0">
                <a:solidFill>
                  <a:srgbClr val="0C3C26"/>
                </a:solidFill>
                <a:effectLst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2375473-9CB8-D0C0-084B-498422FEF75E}"/>
                </a:ext>
              </a:extLst>
            </p:cNvPr>
            <p:cNvSpPr txBox="1"/>
            <p:nvPr/>
          </p:nvSpPr>
          <p:spPr>
            <a:xfrm>
              <a:off x="6988502" y="2772473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CN" sz="1200" dirty="0"/>
            </a:p>
          </p:txBody>
        </p:sp>
        <p:pic>
          <p:nvPicPr>
            <p:cNvPr id="20" name="Graphic 19" descr="Programmer female with solid fill">
              <a:extLst>
                <a:ext uri="{FF2B5EF4-FFF2-40B4-BE49-F238E27FC236}">
                  <a16:creationId xmlns:a16="http://schemas.microsoft.com/office/drawing/2014/main" id="{12E8AC88-8C65-797C-6A13-E49A7FE8D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77428" y="4019944"/>
              <a:ext cx="725089" cy="725089"/>
            </a:xfrm>
            <a:prstGeom prst="rect">
              <a:avLst/>
            </a:prstGeom>
          </p:spPr>
        </p:pic>
        <p:sp>
          <p:nvSpPr>
            <p:cNvPr id="21" name="Rounded Rectangular Callout 20">
              <a:extLst>
                <a:ext uri="{FF2B5EF4-FFF2-40B4-BE49-F238E27FC236}">
                  <a16:creationId xmlns:a16="http://schemas.microsoft.com/office/drawing/2014/main" id="{88517C14-E4A4-0DA0-E848-9673AF8C7FCB}"/>
                </a:ext>
              </a:extLst>
            </p:cNvPr>
            <p:cNvSpPr/>
            <p:nvPr/>
          </p:nvSpPr>
          <p:spPr>
            <a:xfrm>
              <a:off x="5174942" y="3816893"/>
              <a:ext cx="2513622" cy="627007"/>
            </a:xfrm>
            <a:prstGeom prst="wedgeRoundRectCallout">
              <a:avLst>
                <a:gd name="adj1" fmla="val 45570"/>
                <a:gd name="adj2" fmla="val 68123"/>
                <a:gd name="adj3" fmla="val 16667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2DB1CE2-1345-FF00-957E-091BD75E07A0}"/>
                </a:ext>
              </a:extLst>
            </p:cNvPr>
            <p:cNvSpPr txBox="1"/>
            <p:nvPr/>
          </p:nvSpPr>
          <p:spPr>
            <a:xfrm>
              <a:off x="5262551" y="3816893"/>
              <a:ext cx="23347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b="1" dirty="0">
                  <a:highlight>
                    <a:srgbClr val="FC8365"/>
                  </a:highlight>
                </a:rPr>
                <a:t>PR #12125 </a:t>
              </a:r>
              <a:r>
                <a:rPr lang="en-US" sz="1200" b="1" u="none" strike="noStrike" dirty="0">
                  <a:effectLst/>
                </a:rPr>
                <a:t>Fixed #27914 -- Fixed serialization of nested classes in migrations.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A918FFE-D06B-C89B-BFA3-94E78BF8051E}"/>
                </a:ext>
              </a:extLst>
            </p:cNvPr>
            <p:cNvSpPr txBox="1"/>
            <p:nvPr/>
          </p:nvSpPr>
          <p:spPr>
            <a:xfrm>
              <a:off x="7120855" y="2189087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C067F30-B77C-5D7F-EF5B-EEA557628CE5}"/>
                </a:ext>
              </a:extLst>
            </p:cNvPr>
            <p:cNvSpPr txBox="1"/>
            <p:nvPr/>
          </p:nvSpPr>
          <p:spPr>
            <a:xfrm>
              <a:off x="7120855" y="4671085"/>
              <a:ext cx="15774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Repository Maintainer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2187A0E-5A89-00AA-4A1F-684BC1149245}"/>
                </a:ext>
              </a:extLst>
            </p:cNvPr>
            <p:cNvSpPr txBox="1"/>
            <p:nvPr/>
          </p:nvSpPr>
          <p:spPr>
            <a:xfrm>
              <a:off x="6567333" y="882283"/>
              <a:ext cx="1545488" cy="2769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Partial fix issue 27914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4DE8D1-D4DA-E706-E1D6-BE3998147C3D}"/>
                </a:ext>
              </a:extLst>
            </p:cNvPr>
            <p:cNvSpPr txBox="1"/>
            <p:nvPr/>
          </p:nvSpPr>
          <p:spPr>
            <a:xfrm>
              <a:off x="6512069" y="3484248"/>
              <a:ext cx="2056817" cy="27699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CN" sz="1200" dirty="0"/>
                <a:t>Incremental Fix upon PR 8177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7657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B60DAC-A8A7-5A15-18A8-E0E382A2E629}"/>
              </a:ext>
            </a:extLst>
          </p:cNvPr>
          <p:cNvSpPr/>
          <p:nvPr/>
        </p:nvSpPr>
        <p:spPr>
          <a:xfrm>
            <a:off x="4074672" y="372452"/>
            <a:ext cx="3656491" cy="103444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C1EA86-4033-565B-83F8-4D6094F44EFE}"/>
              </a:ext>
            </a:extLst>
          </p:cNvPr>
          <p:cNvSpPr txBox="1"/>
          <p:nvPr/>
        </p:nvSpPr>
        <p:spPr>
          <a:xfrm>
            <a:off x="4074673" y="398144"/>
            <a:ext cx="3819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CN" sz="1200" b="1" dirty="0"/>
              <a:t>PR Title: </a:t>
            </a:r>
            <a:r>
              <a:rPr lang="en-US" sz="1200" b="1" i="0" u="none" strike="noStrike" dirty="0">
                <a:effectLst/>
                <a:highlight>
                  <a:srgbClr val="00FF00"/>
                </a:highlight>
              </a:rPr>
              <a:t>4504:</a:t>
            </a:r>
            <a:r>
              <a:rPr lang="en-US" sz="1200" b="1" i="0" u="none" strike="noStrike" dirty="0">
                <a:effectLst/>
              </a:rPr>
              <a:t> configuration-based job limit.</a:t>
            </a:r>
          </a:p>
          <a:p>
            <a:pPr algn="l"/>
            <a:r>
              <a:rPr lang="en-US" sz="1200" b="1" dirty="0"/>
              <a:t>PR Description: </a:t>
            </a:r>
          </a:p>
          <a:p>
            <a:pPr algn="l"/>
            <a:r>
              <a:rPr lang="en-US" sz="1200" i="0" u="none" strike="noStrike" dirty="0">
                <a:effectLst/>
              </a:rPr>
              <a:t>Configuration-based workers number limit.</a:t>
            </a:r>
          </a:p>
          <a:p>
            <a:pPr algn="l"/>
            <a:r>
              <a:rPr lang="en-US" sz="1200" b="0" i="0" u="none" strike="noStrike" dirty="0">
                <a:effectLst/>
              </a:rPr>
              <a:t>Introduced a configuration value for the jobs number and </a:t>
            </a:r>
            <a:r>
              <a:rPr lang="en-US" sz="1200" b="0" i="0" u="none" strike="noStrike" dirty="0" err="1">
                <a:effectLst/>
              </a:rPr>
              <a:t>prioritised</a:t>
            </a:r>
            <a:r>
              <a:rPr lang="en-US" sz="1200" b="0" i="0" u="none" strike="noStrike" dirty="0">
                <a:effectLst/>
              </a:rPr>
              <a:t> over the default </a:t>
            </a:r>
            <a:r>
              <a:rPr lang="en-US" sz="1200" b="0" i="0" u="none" strike="noStrike" dirty="0" err="1">
                <a:effectLst/>
              </a:rPr>
              <a:t>tree.BaseTree</a:t>
            </a:r>
            <a:r>
              <a:rPr lang="en-US" sz="1200" b="0" i="0" u="none" strike="noStrike" dirty="0">
                <a:effectLst/>
              </a:rPr>
              <a:t> class attribute.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F1677E-2911-0DE8-AC10-E362F75C3D80}"/>
              </a:ext>
            </a:extLst>
          </p:cNvPr>
          <p:cNvSpPr txBox="1"/>
          <p:nvPr/>
        </p:nvSpPr>
        <p:spPr>
          <a:xfrm>
            <a:off x="5343856" y="142762"/>
            <a:ext cx="1107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 b="1" dirty="0">
                <a:highlight>
                  <a:srgbClr val="C0C0C0"/>
                </a:highlight>
              </a:rPr>
              <a:t>PR #4872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51D6C36-CF6C-DAC8-91BA-2DAAB0D648DC}"/>
              </a:ext>
            </a:extLst>
          </p:cNvPr>
          <p:cNvCxnSpPr>
            <a:cxnSpLocks/>
          </p:cNvCxnSpPr>
          <p:nvPr/>
        </p:nvCxnSpPr>
        <p:spPr>
          <a:xfrm>
            <a:off x="7731163" y="921305"/>
            <a:ext cx="93069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9811C33-8C52-FB36-6EC2-88413CC2A2B8}"/>
              </a:ext>
            </a:extLst>
          </p:cNvPr>
          <p:cNvSpPr txBox="1"/>
          <p:nvPr/>
        </p:nvSpPr>
        <p:spPr>
          <a:xfrm>
            <a:off x="851181" y="162349"/>
            <a:ext cx="221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 b="1" dirty="0">
                <a:highlight>
                  <a:srgbClr val="00FF00"/>
                </a:highlight>
              </a:rPr>
              <a:t>Real resolved issue #4504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A03182-DA3A-E4EE-BCB2-451530C3E942}"/>
              </a:ext>
            </a:extLst>
          </p:cNvPr>
          <p:cNvGrpSpPr/>
          <p:nvPr/>
        </p:nvGrpSpPr>
        <p:grpSpPr>
          <a:xfrm>
            <a:off x="560741" y="392156"/>
            <a:ext cx="2871444" cy="1028302"/>
            <a:chOff x="8661134" y="317299"/>
            <a:chExt cx="2871444" cy="102830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3695DA2-9B2F-0221-0A72-0E49B2F3E8CC}"/>
                </a:ext>
              </a:extLst>
            </p:cNvPr>
            <p:cNvSpPr/>
            <p:nvPr/>
          </p:nvSpPr>
          <p:spPr>
            <a:xfrm>
              <a:off x="8713326" y="317299"/>
              <a:ext cx="2694322" cy="101566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3B8586D-DD8A-2A91-3CE9-EF983C98BC58}"/>
                </a:ext>
              </a:extLst>
            </p:cNvPr>
            <p:cNvSpPr txBox="1"/>
            <p:nvPr/>
          </p:nvSpPr>
          <p:spPr>
            <a:xfrm>
              <a:off x="8661134" y="329938"/>
              <a:ext cx="28714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CN" sz="1200" b="1" dirty="0"/>
                <a:t>Issue Title: </a:t>
              </a:r>
              <a:r>
                <a:rPr lang="en-US" sz="1200" b="1" i="0" u="none" strike="noStrike" dirty="0">
                  <a:effectLst/>
                </a:rPr>
                <a:t>configuration based job limit</a:t>
              </a:r>
            </a:p>
            <a:p>
              <a:pPr algn="l"/>
              <a:r>
                <a:rPr lang="en-US" sz="1200" b="1" dirty="0"/>
                <a:t>Issue Description: </a:t>
              </a:r>
            </a:p>
            <a:p>
              <a:pPr algn="l"/>
              <a:r>
                <a:rPr lang="en-US" sz="1200" b="0" i="0" u="none" strike="noStrike" dirty="0">
                  <a:effectLst/>
                </a:rPr>
                <a:t>Seems that the current DVC push defaults --jobs to 4 * </a:t>
              </a:r>
              <a:r>
                <a:rPr lang="en-US" sz="1200" b="0" i="0" u="none" strike="noStrike" dirty="0" err="1">
                  <a:effectLst/>
                </a:rPr>
                <a:t>cpu_count</a:t>
              </a:r>
              <a:r>
                <a:rPr lang="en-US" sz="1200" b="0" i="0" u="none" strike="noStrike" dirty="0">
                  <a:effectLst/>
                </a:rPr>
                <a:t>()... This is probably too high for larger machines……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0E294F4-A544-0E92-99A0-7EAA4E323B8D}"/>
              </a:ext>
            </a:extLst>
          </p:cNvPr>
          <p:cNvGrpSpPr/>
          <p:nvPr/>
        </p:nvGrpSpPr>
        <p:grpSpPr>
          <a:xfrm>
            <a:off x="2423793" y="1546695"/>
            <a:ext cx="8983856" cy="5018209"/>
            <a:chOff x="2226606" y="1594408"/>
            <a:chExt cx="8983856" cy="501820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815975-5345-ECB9-8FAF-FCF81364D5A1}"/>
                </a:ext>
              </a:extLst>
            </p:cNvPr>
            <p:cNvSpPr txBox="1"/>
            <p:nvPr/>
          </p:nvSpPr>
          <p:spPr>
            <a:xfrm>
              <a:off x="5134746" y="1594408"/>
              <a:ext cx="26602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b="1" dirty="0">
                  <a:highlight>
                    <a:srgbClr val="C0C0C0"/>
                  </a:highlight>
                </a:rPr>
                <a:t>Reasoning Process of  PAIChecker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D6F86C8-7899-B87F-FF24-91E1A0E93365}"/>
                </a:ext>
              </a:extLst>
            </p:cNvPr>
            <p:cNvSpPr/>
            <p:nvPr/>
          </p:nvSpPr>
          <p:spPr>
            <a:xfrm>
              <a:off x="2264473" y="1875659"/>
              <a:ext cx="3422440" cy="47775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5426D58-69AE-9027-38EB-00CD4F03945F}"/>
                </a:ext>
              </a:extLst>
            </p:cNvPr>
            <p:cNvSpPr txBox="1"/>
            <p:nvPr/>
          </p:nvSpPr>
          <p:spPr>
            <a:xfrm>
              <a:off x="2264472" y="1891750"/>
              <a:ext cx="376110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N" sz="1200" b="1" dirty="0"/>
                <a:t>ISSUE ANALYZER	         </a:t>
              </a:r>
            </a:p>
            <a:p>
              <a:r>
                <a:rPr lang="en-US" sz="1200" dirty="0"/>
                <a:t>&lt;judgment&gt;NO_IS&lt;/judgment&gt;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FF66C7B-A6F1-AC19-8996-2A854DCD7792}"/>
                </a:ext>
              </a:extLst>
            </p:cNvPr>
            <p:cNvSpPr/>
            <p:nvPr/>
          </p:nvSpPr>
          <p:spPr>
            <a:xfrm>
              <a:off x="2269275" y="2359481"/>
              <a:ext cx="3422440" cy="263649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A311E39-C657-01B7-5E86-62469A7B3E3F}"/>
                </a:ext>
              </a:extLst>
            </p:cNvPr>
            <p:cNvSpPr txBox="1"/>
            <p:nvPr/>
          </p:nvSpPr>
          <p:spPr>
            <a:xfrm>
              <a:off x="2236209" y="2342431"/>
              <a:ext cx="3501655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N" sz="1200" b="1" dirty="0"/>
                <a:t>PR SCOPE ANALYZER	         </a:t>
              </a:r>
            </a:p>
            <a:p>
              <a:r>
                <a:rPr lang="en-US" sz="1200" b="1" dirty="0">
                  <a:solidFill>
                    <a:srgbClr val="FF0000"/>
                  </a:solidFill>
                </a:rPr>
                <a:t>&lt;</a:t>
              </a:r>
              <a:r>
                <a:rPr lang="en-US" sz="1200" b="1" dirty="0" err="1">
                  <a:solidFill>
                    <a:srgbClr val="FF0000"/>
                  </a:solidFill>
                </a:rPr>
                <a:t>sc_judgment</a:t>
              </a:r>
              <a:r>
                <a:rPr lang="en-US" sz="1200" b="1" dirty="0">
                  <a:solidFill>
                    <a:srgbClr val="FF0000"/>
                  </a:solidFill>
                </a:rPr>
                <a:t>&gt;SC&lt;/</a:t>
              </a:r>
              <a:r>
                <a:rPr lang="en-US" sz="1200" b="1" dirty="0" err="1">
                  <a:solidFill>
                    <a:srgbClr val="FF0000"/>
                  </a:solidFill>
                </a:rPr>
                <a:t>sc_judgment</a:t>
              </a:r>
              <a:r>
                <a:rPr lang="en-US" sz="1200" b="1" dirty="0">
                  <a:solidFill>
                    <a:srgbClr val="FF0000"/>
                  </a:solidFill>
                </a:rPr>
                <a:t>&gt;</a:t>
              </a:r>
            </a:p>
            <a:p>
              <a:r>
                <a:rPr lang="en-US" sz="1200" dirty="0"/>
                <a:t>&lt;</a:t>
              </a:r>
              <a:r>
                <a:rPr lang="en-US" sz="1200" dirty="0" err="1"/>
                <a:t>sc_evidence</a:t>
              </a:r>
              <a:r>
                <a:rPr lang="en-US" sz="1200" dirty="0"/>
                <a:t>&gt;The issue description focuses solely on fixing a "411 Length Required…" when pushing artifacts via WebDAV. However, the PR description explicitly claims to implement a different feature: "4504:....," which is </a:t>
              </a:r>
              <a:r>
                <a:rPr lang="en-US" sz="1200" b="1" dirty="0"/>
                <a:t>unrelated functionality </a:t>
              </a:r>
              <a:r>
                <a:rPr lang="en-US" sz="1200" dirty="0"/>
                <a:t>beyond the requested issue scope.&lt;/</a:t>
              </a:r>
              <a:r>
                <a:rPr lang="en-US" sz="1200" dirty="0" err="1"/>
                <a:t>sc_evidence</a:t>
              </a:r>
              <a:r>
                <a:rPr lang="en-US" sz="1200" dirty="0"/>
                <a:t>&gt;</a:t>
              </a:r>
            </a:p>
            <a:p>
              <a:r>
                <a:rPr lang="en-US" sz="1200" dirty="0"/>
                <a:t>&lt;</a:t>
              </a:r>
              <a:r>
                <a:rPr lang="en-US" sz="1200" dirty="0" err="1"/>
                <a:t>ul_judgment</a:t>
              </a:r>
              <a:r>
                <a:rPr lang="en-US" sz="1200" dirty="0"/>
                <a:t>&gt;NO_UL&lt;/</a:t>
              </a:r>
              <a:r>
                <a:rPr lang="en-US" sz="1200" dirty="0" err="1"/>
                <a:t>ul_judgment</a:t>
              </a:r>
              <a:r>
                <a:rPr lang="en-US" sz="1200" dirty="0"/>
                <a:t>&gt;</a:t>
              </a:r>
            </a:p>
            <a:p>
              <a:r>
                <a:rPr lang="en-US" sz="1200" b="1" dirty="0"/>
                <a:t>&lt;</a:t>
              </a:r>
              <a:r>
                <a:rPr lang="en-US" sz="1200" b="1" dirty="0" err="1"/>
                <a:t>suspicious_clues</a:t>
              </a:r>
              <a:r>
                <a:rPr lang="en-US" sz="1200" b="1" dirty="0"/>
                <a:t>&gt;</a:t>
              </a:r>
              <a:r>
                <a:rPr lang="en-US" sz="1200" dirty="0"/>
                <a:t>The target issue is #4796 (WebDAV chunked upload error), but the PR explicitly targets and implements #4504 (configuration-based job limit). </a:t>
              </a:r>
              <a:r>
                <a:rPr lang="en-US" sz="1200" b="1" dirty="0"/>
                <a:t>This strongly appears to be a mismatched issue-PR pair</a:t>
              </a:r>
              <a:r>
                <a:rPr lang="en-US" sz="1200" dirty="0"/>
                <a:t>.&lt;/</a:t>
              </a:r>
              <a:r>
                <a:rPr lang="en-US" sz="1200" dirty="0" err="1"/>
                <a:t>suspicious_clues</a:t>
              </a:r>
              <a:r>
                <a:rPr lang="en-US" sz="1200" dirty="0"/>
                <a:t>&gt;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AD86996-6EED-BA9B-A95D-AF2CCCE8C6E6}"/>
                </a:ext>
              </a:extLst>
            </p:cNvPr>
            <p:cNvSpPr/>
            <p:nvPr/>
          </p:nvSpPr>
          <p:spPr>
            <a:xfrm>
              <a:off x="2269273" y="4995976"/>
              <a:ext cx="3417445" cy="156617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12779A5-30B8-6C59-D6A5-E5B39CC03BF0}"/>
                </a:ext>
              </a:extLst>
            </p:cNvPr>
            <p:cNvSpPr txBox="1"/>
            <p:nvPr/>
          </p:nvSpPr>
          <p:spPr>
            <a:xfrm>
              <a:off x="2226606" y="5030480"/>
              <a:ext cx="342244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N" sz="1200" b="1" dirty="0"/>
                <a:t>PR CONNECTION ANALYZER	         </a:t>
              </a:r>
            </a:p>
            <a:p>
              <a:r>
                <a:rPr lang="en-US" sz="1200" dirty="0"/>
                <a:t>&lt;</a:t>
              </a:r>
              <a:r>
                <a:rPr lang="en-US" sz="1200" dirty="0" err="1"/>
                <a:t>dp_judgment</a:t>
              </a:r>
              <a:r>
                <a:rPr lang="en-US" sz="1200" dirty="0"/>
                <a:t>&gt;NO_DP&lt;/</a:t>
              </a:r>
              <a:r>
                <a:rPr lang="en-US" sz="1200" dirty="0" err="1"/>
                <a:t>dp_judgment</a:t>
              </a:r>
              <a:r>
                <a:rPr lang="en-US" sz="1200" dirty="0"/>
                <a:t>&gt;</a:t>
              </a:r>
            </a:p>
            <a:p>
              <a:r>
                <a:rPr lang="en-US" sz="1200" dirty="0"/>
                <a:t>&lt;</a:t>
              </a:r>
              <a:r>
                <a:rPr lang="en-US" sz="1200" dirty="0" err="1"/>
                <a:t>fp_judgment</a:t>
              </a:r>
              <a:r>
                <a:rPr lang="en-US" sz="1200" dirty="0"/>
                <a:t>&gt;NO_FP&lt;/</a:t>
              </a:r>
              <a:r>
                <a:rPr lang="en-US" sz="1200" dirty="0" err="1"/>
                <a:t>fp_judgment</a:t>
              </a:r>
              <a:r>
                <a:rPr lang="en-US" sz="1200" dirty="0"/>
                <a:t>&gt;</a:t>
              </a:r>
            </a:p>
            <a:p>
              <a:r>
                <a:rPr lang="en-US" sz="1200" b="1" dirty="0"/>
                <a:t>&lt;</a:t>
              </a:r>
              <a:r>
                <a:rPr lang="en-US" sz="1200" b="1" dirty="0" err="1"/>
                <a:t>suspicious_clues</a:t>
              </a:r>
              <a:r>
                <a:rPr lang="en-US" sz="1200" b="1" dirty="0"/>
                <a:t>&gt;PR #4872 has a merge commit from master that includes PR #4828 which "Fixes #4796". The linkage of issue #4796 and PR #4872 appears accidental due to this merge commit message.&lt;/</a:t>
              </a:r>
              <a:r>
                <a:rPr lang="en-US" sz="1200" b="1" dirty="0" err="1"/>
                <a:t>suspicious_clues</a:t>
              </a:r>
              <a:r>
                <a:rPr lang="en-US" sz="1200" b="1" dirty="0"/>
                <a:t>&gt;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9E88D81-765E-C242-A5B6-71C20452A708}"/>
                </a:ext>
              </a:extLst>
            </p:cNvPr>
            <p:cNvSpPr/>
            <p:nvPr/>
          </p:nvSpPr>
          <p:spPr>
            <a:xfrm>
              <a:off x="5686912" y="1882850"/>
              <a:ext cx="3422440" cy="467930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2DC6F99-D3B7-C326-BFD3-9C7365420939}"/>
                </a:ext>
              </a:extLst>
            </p:cNvPr>
            <p:cNvSpPr txBox="1"/>
            <p:nvPr/>
          </p:nvSpPr>
          <p:spPr>
            <a:xfrm>
              <a:off x="5691713" y="1903636"/>
              <a:ext cx="3422440" cy="47089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N" sz="1200" b="1" dirty="0"/>
                <a:t>COORDINATOR     </a:t>
              </a:r>
              <a:br>
                <a:rPr lang="en-CN" sz="1200" b="1" dirty="0"/>
              </a:br>
              <a:r>
                <a:rPr lang="en-US" sz="1200" dirty="0"/>
                <a:t> **Reject SC and Apply Others**: While the `</a:t>
              </a:r>
              <a:r>
                <a:rPr lang="en-US" sz="1200" dirty="0" err="1"/>
                <a:t>pr_scope_analyzer</a:t>
              </a:r>
              <a:r>
                <a:rPr lang="en-US" sz="1200" dirty="0"/>
                <a:t>` noted a complete mismatch between the issue (WebDAV "411 Length Required") and the PR (configuration-based job limit for #4504) and proposed `SC`, the `</a:t>
              </a:r>
              <a:r>
                <a:rPr lang="en-US" sz="1200" dirty="0" err="1"/>
                <a:t>pr_connection_analyzer</a:t>
              </a:r>
              <a:r>
                <a:rPr lang="en-US" sz="1200" dirty="0"/>
                <a:t>` provides the crucial context: this is an accidental linkage. The PR only references the target issue #4796 through an unrelated merge commit from master. </a:t>
              </a:r>
              <a:r>
                <a:rPr lang="en-US" sz="1200" b="1" dirty="0"/>
                <a:t>Because the PR and Issue are fundamentally mismatched and do not belong together, this is an artifact of accidental tracker linkage rather than an intentional addition of extra scope (`SC`).</a:t>
              </a:r>
              <a:r>
                <a:rPr lang="en-US" sz="1200" dirty="0"/>
                <a:t> This perfectly fits `Others`.</a:t>
              </a:r>
            </a:p>
            <a:p>
              <a:endParaRPr lang="en-US" sz="1200" dirty="0"/>
            </a:p>
            <a:p>
              <a:r>
                <a:rPr lang="en-US" sz="1200" dirty="0"/>
                <a:t>&lt;classification&gt;</a:t>
              </a:r>
            </a:p>
            <a:p>
              <a:r>
                <a:rPr lang="en-US" sz="1200" b="1" dirty="0">
                  <a:solidFill>
                    <a:srgbClr val="00B050"/>
                  </a:solidFill>
                </a:rPr>
                <a:t>&lt;label&gt;Others&lt;/label&gt;</a:t>
              </a:r>
            </a:p>
            <a:p>
              <a:r>
                <a:rPr lang="en-US" sz="1200" dirty="0"/>
                <a:t>&lt;reason&gt;The PR and target issue are a completely mismatched pair due to accidental linkage. Evidence shows the PR is actually implementing a configuration-based job limit for issue #4504, but was accidentally linked to issue #4796 (a WebDAV bug) because of a merge commit message pulled from the master branch.&lt;/reason&gt;</a:t>
              </a:r>
            </a:p>
            <a:p>
              <a:r>
                <a:rPr lang="en-US" sz="1200" dirty="0"/>
                <a:t>&lt;/classification&gt;</a:t>
              </a:r>
              <a:endParaRPr lang="en-US" sz="1200" b="1" dirty="0"/>
            </a:p>
          </p:txBody>
        </p:sp>
        <p:pic>
          <p:nvPicPr>
            <p:cNvPr id="82" name="Graphic 81" descr="Close with solid fill">
              <a:extLst>
                <a:ext uri="{FF2B5EF4-FFF2-40B4-BE49-F238E27FC236}">
                  <a16:creationId xmlns:a16="http://schemas.microsoft.com/office/drawing/2014/main" id="{E40CE8EF-EFC4-9912-6DA0-D96097EE4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69161" y="2423850"/>
              <a:ext cx="466206" cy="466206"/>
            </a:xfrm>
            <a:prstGeom prst="rect">
              <a:avLst/>
            </a:prstGeom>
          </p:spPr>
        </p:pic>
        <p:pic>
          <p:nvPicPr>
            <p:cNvPr id="84" name="Graphic 83" descr="Checkmark with solid fill">
              <a:extLst>
                <a:ext uri="{FF2B5EF4-FFF2-40B4-BE49-F238E27FC236}">
                  <a16:creationId xmlns:a16="http://schemas.microsoft.com/office/drawing/2014/main" id="{D939A2EB-05AE-DB7C-5390-BCE899FC4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99084" y="4632931"/>
              <a:ext cx="454298" cy="454298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FE6CC85-B216-9CFF-60D3-7741FF32E81A}"/>
                </a:ext>
              </a:extLst>
            </p:cNvPr>
            <p:cNvSpPr txBox="1"/>
            <p:nvPr/>
          </p:nvSpPr>
          <p:spPr>
            <a:xfrm>
              <a:off x="9114155" y="1921449"/>
              <a:ext cx="2096307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N" sz="1200" b="1" dirty="0"/>
                <a:t>CODE VALIDATOR   </a:t>
              </a:r>
              <a:br>
                <a:rPr lang="en-CN" sz="1200" b="1" dirty="0"/>
              </a:br>
              <a:r>
                <a:rPr lang="en-US" sz="1200" dirty="0"/>
                <a:t>&lt;classification&gt;</a:t>
              </a:r>
            </a:p>
            <a:p>
              <a:r>
                <a:rPr lang="en-US" sz="1200" b="1" dirty="0">
                  <a:solidFill>
                    <a:srgbClr val="00B050"/>
                  </a:solidFill>
                </a:rPr>
                <a:t>&lt;label&gt;Others&lt;/label&gt;</a:t>
              </a:r>
            </a:p>
            <a:p>
              <a:r>
                <a:rPr lang="en-US" sz="1200" dirty="0"/>
                <a:t>&lt;reason&gt;The code evidence clearly shows the PR introduces a `jobs` configuration option for remotes to limit `</a:t>
              </a:r>
              <a:r>
                <a:rPr lang="en-US" sz="1200" dirty="0" err="1"/>
                <a:t>max_workers</a:t>
              </a:r>
              <a:r>
                <a:rPr lang="en-US" sz="1200" dirty="0"/>
                <a:t>` in `</a:t>
              </a:r>
              <a:r>
                <a:rPr lang="en-US" sz="1200" dirty="0" err="1"/>
                <a:t>ThreadPoolExecutor</a:t>
              </a:r>
              <a:r>
                <a:rPr lang="en-US" sz="1200" dirty="0"/>
                <a:t>` and adds corresponding tests in `</a:t>
              </a:r>
              <a:r>
                <a:rPr lang="en-US" sz="1200" dirty="0" err="1"/>
                <a:t>test_remote.py</a:t>
              </a:r>
              <a:r>
                <a:rPr lang="en-US" sz="1200" dirty="0"/>
                <a:t>`. This completely matches the Coordinator's claim that the PR implements a configuration-based job limit rather than addressing the stated WebDAV "411 Length Required" issue, confirming an accidental linkage.&lt;/reason&gt;</a:t>
              </a:r>
            </a:p>
            <a:p>
              <a:r>
                <a:rPr lang="en-US" sz="1200" dirty="0"/>
                <a:t>&lt;/classification&gt;</a:t>
              </a:r>
              <a:endParaRPr lang="en-US" sz="1200" b="1" dirty="0"/>
            </a:p>
          </p:txBody>
        </p:sp>
        <p:pic>
          <p:nvPicPr>
            <p:cNvPr id="87" name="Graphic 86" descr="Checkmark with solid fill">
              <a:extLst>
                <a:ext uri="{FF2B5EF4-FFF2-40B4-BE49-F238E27FC236}">
                  <a16:creationId xmlns:a16="http://schemas.microsoft.com/office/drawing/2014/main" id="{EAEAF4F9-E5AB-2262-D720-7AC49E94F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633334" y="2126266"/>
              <a:ext cx="454298" cy="454298"/>
            </a:xfrm>
            <a:prstGeom prst="rect">
              <a:avLst/>
            </a:prstGeom>
          </p:spPr>
        </p:pic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AFD67FC-28DD-1BCC-9197-38ED5A26E61D}"/>
                </a:ext>
              </a:extLst>
            </p:cNvPr>
            <p:cNvSpPr/>
            <p:nvPr/>
          </p:nvSpPr>
          <p:spPr>
            <a:xfrm>
              <a:off x="9114154" y="1882850"/>
              <a:ext cx="2096307" cy="467930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C41061A1-67A4-B419-D249-1B7E17758497}"/>
              </a:ext>
            </a:extLst>
          </p:cNvPr>
          <p:cNvGrpSpPr/>
          <p:nvPr/>
        </p:nvGrpSpPr>
        <p:grpSpPr>
          <a:xfrm>
            <a:off x="300658" y="1582728"/>
            <a:ext cx="2596032" cy="2660633"/>
            <a:chOff x="-335590" y="1605902"/>
            <a:chExt cx="3155917" cy="266063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85C688A-7348-22AE-B389-D96A2C3EDA79}"/>
                </a:ext>
              </a:extLst>
            </p:cNvPr>
            <p:cNvSpPr/>
            <p:nvPr/>
          </p:nvSpPr>
          <p:spPr>
            <a:xfrm>
              <a:off x="28921" y="1841069"/>
              <a:ext cx="2154360" cy="235104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3F73C85-1D07-47FB-3127-6E0598737B9B}"/>
                </a:ext>
              </a:extLst>
            </p:cNvPr>
            <p:cNvSpPr txBox="1"/>
            <p:nvPr/>
          </p:nvSpPr>
          <p:spPr>
            <a:xfrm>
              <a:off x="-7795" y="1845697"/>
              <a:ext cx="2296231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0" i="0" u="none" strike="noStrike" dirty="0">
                  <a:effectLst/>
                </a:rPr>
                <a:t>The target issue #4796 requests a fix…. However, PR #4872's title ("4504: configuration-based job limit") and description state that it implements a "configuration-based workers number limit", which is an </a:t>
              </a:r>
              <a:r>
                <a:rPr lang="en-US" sz="1200" b="1" i="0" u="none" strike="noStrike" dirty="0">
                  <a:effectLst/>
                </a:rPr>
                <a:t>entirely unrelated enhancement </a:t>
              </a:r>
              <a:r>
                <a:rPr lang="en-US" sz="1200" b="0" i="0" u="none" strike="noStrike" dirty="0">
                  <a:effectLst/>
                </a:rPr>
                <a:t>not requested by the target issue. </a:t>
              </a:r>
              <a:r>
                <a:rPr lang="en-US" sz="1200" b="1" i="0" u="none" strike="noStrike" dirty="0">
                  <a:solidFill>
                    <a:srgbClr val="FF0000"/>
                  </a:solidFill>
                  <a:effectLst/>
                </a:rPr>
                <a:t>&lt;label&gt;SC&lt;/label&gt;</a:t>
              </a:r>
              <a:endParaRPr lang="en-CN" sz="1200" b="1" dirty="0">
                <a:solidFill>
                  <a:srgbClr val="FF0000"/>
                </a:solidFill>
              </a:endParaRPr>
            </a:p>
          </p:txBody>
        </p:sp>
        <p:pic>
          <p:nvPicPr>
            <p:cNvPr id="85" name="Graphic 84" descr="Close with solid fill">
              <a:extLst>
                <a:ext uri="{FF2B5EF4-FFF2-40B4-BE49-F238E27FC236}">
                  <a16:creationId xmlns:a16="http://schemas.microsoft.com/office/drawing/2014/main" id="{D94F8E9B-7994-BB57-0E79-EED070D62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792062" y="3800329"/>
              <a:ext cx="466206" cy="466206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939D3CF-5C28-044E-267D-73CD39BCCD48}"/>
                </a:ext>
              </a:extLst>
            </p:cNvPr>
            <p:cNvSpPr txBox="1"/>
            <p:nvPr/>
          </p:nvSpPr>
          <p:spPr>
            <a:xfrm>
              <a:off x="-335590" y="1605902"/>
              <a:ext cx="31559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>
                  <a:highlight>
                    <a:srgbClr val="C0C0C0"/>
                  </a:highlight>
                </a:rPr>
                <a:t>Reasoning Process of  Mini-swe-agent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4072679-A160-F72F-3970-ACFB3AB35F44}"/>
              </a:ext>
            </a:extLst>
          </p:cNvPr>
          <p:cNvGrpSpPr/>
          <p:nvPr/>
        </p:nvGrpSpPr>
        <p:grpSpPr>
          <a:xfrm>
            <a:off x="583489" y="4163095"/>
            <a:ext cx="1926624" cy="2394342"/>
            <a:chOff x="195152" y="1607660"/>
            <a:chExt cx="2818993" cy="239434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CFF46746-B80C-33A4-447E-F2F2E74B4658}"/>
                </a:ext>
              </a:extLst>
            </p:cNvPr>
            <p:cNvSpPr/>
            <p:nvPr/>
          </p:nvSpPr>
          <p:spPr>
            <a:xfrm>
              <a:off x="195152" y="1841069"/>
              <a:ext cx="2644313" cy="211793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9A34C64-F0F9-2BD2-A2A8-65BC077EF0FE}"/>
                </a:ext>
              </a:extLst>
            </p:cNvPr>
            <p:cNvSpPr txBox="1"/>
            <p:nvPr/>
          </p:nvSpPr>
          <p:spPr>
            <a:xfrm>
              <a:off x="220045" y="1878344"/>
              <a:ext cx="27941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0" i="0" u="none" strike="noStrike" dirty="0">
                  <a:effectLst/>
                </a:rPr>
                <a:t>The PR implements an entirely different feature from the issue. The issue (#4796) requests a fix for…… However, the PR description and commits explicitly state it implements……which is an </a:t>
              </a:r>
              <a:r>
                <a:rPr lang="en-US" sz="1200" b="1" i="0" u="none" strike="noStrike" dirty="0">
                  <a:effectLst/>
                </a:rPr>
                <a:t>unrelated enhancement </a:t>
              </a:r>
              <a:r>
                <a:rPr lang="en-US" sz="1200" b="0" i="0" u="none" strike="noStrike" dirty="0">
                  <a:effectLst/>
                </a:rPr>
                <a:t>not requested by this issue. </a:t>
              </a:r>
              <a:r>
                <a:rPr lang="en-US" sz="1200" b="1" i="0" u="none" strike="noStrike" dirty="0">
                  <a:solidFill>
                    <a:srgbClr val="FF0000"/>
                  </a:solidFill>
                  <a:effectLst/>
                </a:rPr>
                <a:t>&lt;label&gt;SC&lt;/label&gt;</a:t>
              </a:r>
              <a:endParaRPr lang="en-CN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0CB5FE5-7901-AC35-8DE2-FDE083C4FCBE}"/>
                </a:ext>
              </a:extLst>
            </p:cNvPr>
            <p:cNvSpPr txBox="1"/>
            <p:nvPr/>
          </p:nvSpPr>
          <p:spPr>
            <a:xfrm>
              <a:off x="259297" y="1607660"/>
              <a:ext cx="27155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200" b="1" dirty="0">
                  <a:highlight>
                    <a:srgbClr val="C0C0C0"/>
                  </a:highlight>
                </a:rPr>
                <a:t>Reasoning Process of  COT</a:t>
              </a:r>
            </a:p>
          </p:txBody>
        </p:sp>
      </p:grp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5EE0D016-6AAA-2AFB-FDFA-8F800846262A}"/>
              </a:ext>
            </a:extLst>
          </p:cNvPr>
          <p:cNvSpPr/>
          <p:nvPr/>
        </p:nvSpPr>
        <p:spPr>
          <a:xfrm>
            <a:off x="5497664" y="1883034"/>
            <a:ext cx="391236" cy="276999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3" name="Right Arrow 102">
            <a:extLst>
              <a:ext uri="{FF2B5EF4-FFF2-40B4-BE49-F238E27FC236}">
                <a16:creationId xmlns:a16="http://schemas.microsoft.com/office/drawing/2014/main" id="{86B0DB90-2ECE-152B-0CD1-623C43BDC7D4}"/>
              </a:ext>
            </a:extLst>
          </p:cNvPr>
          <p:cNvSpPr/>
          <p:nvPr/>
        </p:nvSpPr>
        <p:spPr>
          <a:xfrm>
            <a:off x="8910501" y="1854472"/>
            <a:ext cx="391236" cy="276999"/>
          </a:xfrm>
          <a:prstGeom prst="rightArrow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2" name="Graphic 1" descr="Close with solid fill">
            <a:extLst>
              <a:ext uri="{FF2B5EF4-FFF2-40B4-BE49-F238E27FC236}">
                <a16:creationId xmlns:a16="http://schemas.microsoft.com/office/drawing/2014/main" id="{1F4C8BA5-5281-D3AB-C31B-7C1E8B390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3151" y="6202672"/>
            <a:ext cx="466206" cy="46620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C55AFBA-DA8A-9788-15DC-C7BACAB53014}"/>
              </a:ext>
            </a:extLst>
          </p:cNvPr>
          <p:cNvGrpSpPr/>
          <p:nvPr/>
        </p:nvGrpSpPr>
        <p:grpSpPr>
          <a:xfrm>
            <a:off x="8610253" y="178329"/>
            <a:ext cx="2871444" cy="1250807"/>
            <a:chOff x="8477985" y="84624"/>
            <a:chExt cx="2871444" cy="125080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3300973-4884-80F2-1797-9B3C2BECC610}"/>
                </a:ext>
              </a:extLst>
            </p:cNvPr>
            <p:cNvSpPr/>
            <p:nvPr/>
          </p:nvSpPr>
          <p:spPr>
            <a:xfrm>
              <a:off x="8529585" y="317299"/>
              <a:ext cx="2745795" cy="101566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58C5FC-43C3-B43A-DF91-F5D6E8B8AB56}"/>
                </a:ext>
              </a:extLst>
            </p:cNvPr>
            <p:cNvSpPr txBox="1"/>
            <p:nvPr/>
          </p:nvSpPr>
          <p:spPr>
            <a:xfrm>
              <a:off x="8477985" y="319768"/>
              <a:ext cx="28714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CN" sz="1200" b="1" dirty="0"/>
                <a:t>Issue Title: </a:t>
              </a:r>
              <a:r>
                <a:rPr lang="en-US" sz="1200" b="1" i="0" u="none" strike="noStrike" dirty="0">
                  <a:effectLst/>
                </a:rPr>
                <a:t>Pushing artifacts via WebDAV results in a 411 Length Required response</a:t>
              </a:r>
            </a:p>
            <a:p>
              <a:pPr algn="l"/>
              <a:r>
                <a:rPr lang="en-US" sz="1200" b="1" dirty="0"/>
                <a:t>Issue Description: </a:t>
              </a:r>
            </a:p>
            <a:p>
              <a:pPr algn="l"/>
              <a:r>
                <a:rPr lang="en-US" sz="1200" dirty="0"/>
                <a:t>W</a:t>
              </a:r>
              <a:r>
                <a:rPr lang="en-US" sz="1200" b="0" i="0" u="none" strike="noStrike" dirty="0">
                  <a:effectLst/>
                </a:rPr>
                <a:t>hen I try to push the artifacts I get a </a:t>
              </a:r>
              <a:r>
                <a:rPr lang="en-US" sz="1200" dirty="0"/>
                <a:t>411 Length Required</a:t>
              </a:r>
              <a:r>
                <a:rPr lang="en-US" sz="1200" b="0" i="0" u="none" strike="noStrike" dirty="0">
                  <a:effectLst/>
                </a:rPr>
                <a:t> response……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5D6FD7-F2A0-6A43-DEA2-9E99FCC1BB92}"/>
                </a:ext>
              </a:extLst>
            </p:cNvPr>
            <p:cNvSpPr txBox="1"/>
            <p:nvPr/>
          </p:nvSpPr>
          <p:spPr>
            <a:xfrm>
              <a:off x="8843816" y="84624"/>
              <a:ext cx="23661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400" b="1" dirty="0">
                  <a:highlight>
                    <a:srgbClr val="FF0000"/>
                  </a:highlight>
                </a:rPr>
                <a:t>Accidently linked issue #4796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4B12F0C-6D19-53B5-946E-C9DB7B971B6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307255" y="905976"/>
            <a:ext cx="767418" cy="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Checkmark with solid fill">
            <a:extLst>
              <a:ext uri="{FF2B5EF4-FFF2-40B4-BE49-F238E27FC236}">
                <a16:creationId xmlns:a16="http://schemas.microsoft.com/office/drawing/2014/main" id="{84E66035-8EB4-1AF7-ED2C-0D6C3B9B7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5997" y="484634"/>
            <a:ext cx="454298" cy="454298"/>
          </a:xfrm>
          <a:prstGeom prst="rect">
            <a:avLst/>
          </a:prstGeom>
        </p:spPr>
      </p:pic>
      <p:pic>
        <p:nvPicPr>
          <p:cNvPr id="37" name="Graphic 36" descr="Close with solid fill">
            <a:extLst>
              <a:ext uri="{FF2B5EF4-FFF2-40B4-BE49-F238E27FC236}">
                <a16:creationId xmlns:a16="http://schemas.microsoft.com/office/drawing/2014/main" id="{BB322F60-3D4A-8300-F467-C8695BDFE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9439" y="484634"/>
            <a:ext cx="466206" cy="46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75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5229</TotalTime>
  <Words>2499</Words>
  <Application>Microsoft Macintosh PowerPoint</Application>
  <PresentationFormat>Widescreen</PresentationFormat>
  <Paragraphs>339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-apple-system</vt:lpstr>
      <vt:lpstr>quote-cjk-patch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Manyi Wang (SDS,225045034)</dc:creator>
  <cp:lastModifiedBy>Manyi Wang (SDS,225045034)</cp:lastModifiedBy>
  <cp:revision>103</cp:revision>
  <cp:lastPrinted>2026-03-24T06:56:11Z</cp:lastPrinted>
  <dcterms:created xsi:type="dcterms:W3CDTF">2026-03-09T14:40:34Z</dcterms:created>
  <dcterms:modified xsi:type="dcterms:W3CDTF">2026-03-26T06:42:49Z</dcterms:modified>
</cp:coreProperties>
</file>